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097280"/>
            <a:ext cx="10058400" cy="1097280"/>
          </a:xfrm>
          <a:prstGeom prst="rect">
            <a:avLst/>
          </a:prstGeom>
          <a:noFill/>
        </p:spPr>
        <p:txBody>
          <a:bodyPr wrap="square">
            <a:spAutoFit/>
          </a:bodyPr>
          <a:lstStyle/>
          <a:p>
            <a:pPr algn="l">
              <a:defRPr sz="3400" b="1">
                <a:solidFill>
                  <a:srgbClr val="FFFFFF"/>
                </a:solidFill>
                <a:latin typeface="Calibri"/>
              </a:defRPr>
            </a:pPr>
            <a:r>
              <a:t>Combined UI/UX Audit: Precious Metals Trading App</a:t>
            </a:r>
          </a:p>
        </p:txBody>
      </p:sp>
      <p:sp>
        <p:nvSpPr>
          <p:cNvPr id="3" name="TextBox 2"/>
          <p:cNvSpPr txBox="1"/>
          <p:nvPr/>
        </p:nvSpPr>
        <p:spPr>
          <a:xfrm>
            <a:off x="914400" y="2194560"/>
            <a:ext cx="10058400" cy="457200"/>
          </a:xfrm>
          <a:prstGeom prst="rect">
            <a:avLst/>
          </a:prstGeom>
          <a:noFill/>
        </p:spPr>
        <p:txBody>
          <a:bodyPr wrap="square">
            <a:spAutoFit/>
          </a:bodyPr>
          <a:lstStyle/>
          <a:p>
            <a:pPr algn="l">
              <a:defRPr sz="1800" b="0">
                <a:solidFill>
                  <a:srgbClr val="94A3B8"/>
                </a:solidFill>
                <a:latin typeface="Calibri"/>
              </a:defRPr>
            </a:pPr>
            <a:r>
              <a:t>Comparative UI/UX Audit Report</a:t>
            </a:r>
          </a:p>
        </p:txBody>
      </p:sp>
      <p:sp>
        <p:nvSpPr>
          <p:cNvPr id="4" name="TextBox 3"/>
          <p:cNvSpPr txBox="1"/>
          <p:nvPr/>
        </p:nvSpPr>
        <p:spPr>
          <a:xfrm>
            <a:off x="914400" y="3200400"/>
            <a:ext cx="1828800" cy="274320"/>
          </a:xfrm>
          <a:prstGeom prst="rect">
            <a:avLst/>
          </a:prstGeom>
          <a:noFill/>
        </p:spPr>
        <p:txBody>
          <a:bodyPr wrap="square">
            <a:spAutoFit/>
          </a:bodyPr>
          <a:lstStyle/>
          <a:p>
            <a:pPr algn="l">
              <a:defRPr sz="900" b="0">
                <a:solidFill>
                  <a:srgbClr val="64748B"/>
                </a:solidFill>
                <a:latin typeface="Calibri"/>
              </a:defRPr>
            </a:pPr>
            <a:r>
              <a:t>AUDIT DATES</a:t>
            </a:r>
          </a:p>
        </p:txBody>
      </p:sp>
      <p:sp>
        <p:nvSpPr>
          <p:cNvPr id="5" name="TextBox 4"/>
          <p:cNvSpPr txBox="1"/>
          <p:nvPr/>
        </p:nvSpPr>
        <p:spPr>
          <a:xfrm>
            <a:off x="914400" y="3429000"/>
            <a:ext cx="4572000" cy="274320"/>
          </a:xfrm>
          <a:prstGeom prst="rect">
            <a:avLst/>
          </a:prstGeom>
          <a:noFill/>
        </p:spPr>
        <p:txBody>
          <a:bodyPr wrap="square">
            <a:spAutoFit/>
          </a:bodyPr>
          <a:lstStyle/>
          <a:p>
            <a:pPr algn="l">
              <a:defRPr sz="1300" b="0">
                <a:solidFill>
                  <a:srgbClr val="FFFFFF"/>
                </a:solidFill>
                <a:latin typeface="Calibri"/>
              </a:defRPr>
            </a:pPr>
            <a:r>
              <a:t>2026-03-09 vs 2026-03-10</a:t>
            </a:r>
          </a:p>
        </p:txBody>
      </p:sp>
      <p:sp>
        <p:nvSpPr>
          <p:cNvPr id="6" name="TextBox 5"/>
          <p:cNvSpPr txBox="1"/>
          <p:nvPr/>
        </p:nvSpPr>
        <p:spPr>
          <a:xfrm>
            <a:off x="914400" y="3749040"/>
            <a:ext cx="1828800" cy="274320"/>
          </a:xfrm>
          <a:prstGeom prst="rect">
            <a:avLst/>
          </a:prstGeom>
          <a:noFill/>
        </p:spPr>
        <p:txBody>
          <a:bodyPr wrap="square">
            <a:spAutoFit/>
          </a:bodyPr>
          <a:lstStyle/>
          <a:p>
            <a:pPr algn="l">
              <a:defRPr sz="900" b="0">
                <a:solidFill>
                  <a:srgbClr val="64748B"/>
                </a:solidFill>
                <a:latin typeface="Calibri"/>
              </a:defRPr>
            </a:pPr>
            <a:r>
              <a:t>PLATFORM</a:t>
            </a:r>
          </a:p>
        </p:txBody>
      </p:sp>
      <p:sp>
        <p:nvSpPr>
          <p:cNvPr id="7" name="TextBox 6"/>
          <p:cNvSpPr txBox="1"/>
          <p:nvPr/>
        </p:nvSpPr>
        <p:spPr>
          <a:xfrm>
            <a:off x="914400" y="3977640"/>
            <a:ext cx="4572000" cy="274320"/>
          </a:xfrm>
          <a:prstGeom prst="rect">
            <a:avLst/>
          </a:prstGeom>
          <a:noFill/>
        </p:spPr>
        <p:txBody>
          <a:bodyPr wrap="square">
            <a:spAutoFit/>
          </a:bodyPr>
          <a:lstStyle/>
          <a:p>
            <a:pPr algn="l">
              <a:defRPr sz="1300" b="0">
                <a:solidFill>
                  <a:srgbClr val="FFFFFF"/>
                </a:solidFill>
                <a:latin typeface="Calibri"/>
              </a:defRPr>
            </a:pPr>
            <a:r>
              <a:t>Web desktop (1280x1080)</a:t>
            </a:r>
          </a:p>
        </p:txBody>
      </p:sp>
      <p:sp>
        <p:nvSpPr>
          <p:cNvPr id="8" name="TextBox 7"/>
          <p:cNvSpPr txBox="1"/>
          <p:nvPr/>
        </p:nvSpPr>
        <p:spPr>
          <a:xfrm>
            <a:off x="914400" y="4297680"/>
            <a:ext cx="1828800" cy="274320"/>
          </a:xfrm>
          <a:prstGeom prst="rect">
            <a:avLst/>
          </a:prstGeom>
          <a:noFill/>
        </p:spPr>
        <p:txBody>
          <a:bodyPr wrap="square">
            <a:spAutoFit/>
          </a:bodyPr>
          <a:lstStyle/>
          <a:p>
            <a:pPr algn="l">
              <a:defRPr sz="900" b="0">
                <a:solidFill>
                  <a:srgbClr val="64748B"/>
                </a:solidFill>
                <a:latin typeface="Calibri"/>
              </a:defRPr>
            </a:pPr>
            <a:r>
              <a:t>AUDITOR PERSONA</a:t>
            </a:r>
          </a:p>
        </p:txBody>
      </p:sp>
      <p:sp>
        <p:nvSpPr>
          <p:cNvPr id="9" name="TextBox 8"/>
          <p:cNvSpPr txBox="1"/>
          <p:nvPr/>
        </p:nvSpPr>
        <p:spPr>
          <a:xfrm>
            <a:off x="914400" y="4526280"/>
            <a:ext cx="4572000" cy="274320"/>
          </a:xfrm>
          <a:prstGeom prst="rect">
            <a:avLst/>
          </a:prstGeom>
          <a:noFill/>
        </p:spPr>
        <p:txBody>
          <a:bodyPr wrap="square">
            <a:spAutoFit/>
          </a:bodyPr>
          <a:lstStyle/>
          <a:p>
            <a:pPr algn="l">
              <a:defRPr sz="1300" b="0">
                <a:solidFill>
                  <a:srgbClr val="FFFFFF"/>
                </a:solidFill>
                <a:latin typeface="Calibri"/>
              </a:defRPr>
            </a:pPr>
            <a:r>
              <a:t>Novice investor, new to precious metals</a:t>
            </a:r>
          </a:p>
        </p:txBody>
      </p:sp>
      <p:sp>
        <p:nvSpPr>
          <p:cNvPr id="10" name="TextBox 9"/>
          <p:cNvSpPr txBox="1"/>
          <p:nvPr/>
        </p:nvSpPr>
        <p:spPr>
          <a:xfrm>
            <a:off x="914400" y="4846320"/>
            <a:ext cx="1828800" cy="274320"/>
          </a:xfrm>
          <a:prstGeom prst="rect">
            <a:avLst/>
          </a:prstGeom>
          <a:noFill/>
        </p:spPr>
        <p:txBody>
          <a:bodyPr wrap="square">
            <a:spAutoFit/>
          </a:bodyPr>
          <a:lstStyle/>
          <a:p>
            <a:pPr algn="l">
              <a:defRPr sz="900" b="0">
                <a:solidFill>
                  <a:srgbClr val="64748B"/>
                </a:solidFill>
                <a:latin typeface="Calibri"/>
              </a:defRPr>
            </a:pPr>
            <a:r>
              <a:t>AUDITS COMPARED</a:t>
            </a:r>
          </a:p>
        </p:txBody>
      </p:sp>
      <p:sp>
        <p:nvSpPr>
          <p:cNvPr id="11" name="TextBox 10"/>
          <p:cNvSpPr txBox="1"/>
          <p:nvPr/>
        </p:nvSpPr>
        <p:spPr>
          <a:xfrm>
            <a:off x="914400" y="5074920"/>
            <a:ext cx="4572000" cy="274320"/>
          </a:xfrm>
          <a:prstGeom prst="rect">
            <a:avLst/>
          </a:prstGeom>
          <a:noFill/>
        </p:spPr>
        <p:txBody>
          <a:bodyPr wrap="square">
            <a:spAutoFit/>
          </a:bodyPr>
          <a:lstStyle/>
          <a:p>
            <a:pPr algn="l">
              <a:defRPr sz="1300" b="0">
                <a:solidFill>
                  <a:srgbClr val="FFFFFF"/>
                </a:solidFill>
                <a:latin typeface="Calibri"/>
              </a:defRPr>
            </a:pPr>
            <a:r>
              <a:t>2 audits</a:t>
            </a:r>
          </a:p>
        </p:txBody>
      </p:sp>
      <p:sp>
        <p:nvSpPr>
          <p:cNvPr id="12" name="TextBox 11"/>
          <p:cNvSpPr txBox="1"/>
          <p:nvPr/>
        </p:nvSpPr>
        <p:spPr>
          <a:xfrm>
            <a:off x="7772400" y="2560320"/>
            <a:ext cx="1828800" cy="1097280"/>
          </a:xfrm>
          <a:prstGeom prst="rect">
            <a:avLst/>
          </a:prstGeom>
          <a:noFill/>
        </p:spPr>
        <p:txBody>
          <a:bodyPr wrap="square">
            <a:spAutoFit/>
          </a:bodyPr>
          <a:lstStyle/>
          <a:p>
            <a:pPr algn="ctr">
              <a:defRPr sz="5600" b="1">
                <a:solidFill>
                  <a:srgbClr val="EA580C"/>
                </a:solidFill>
                <a:latin typeface="Calibri"/>
              </a:defRPr>
            </a:pPr>
            <a:r>
              <a:t>6.5</a:t>
            </a:r>
          </a:p>
        </p:txBody>
      </p:sp>
      <p:sp>
        <p:nvSpPr>
          <p:cNvPr id="13" name="TextBox 12"/>
          <p:cNvSpPr txBox="1"/>
          <p:nvPr/>
        </p:nvSpPr>
        <p:spPr>
          <a:xfrm>
            <a:off x="7772400" y="3657600"/>
            <a:ext cx="1828800" cy="365760"/>
          </a:xfrm>
          <a:prstGeom prst="rect">
            <a:avLst/>
          </a:prstGeom>
          <a:noFill/>
        </p:spPr>
        <p:txBody>
          <a:bodyPr wrap="square">
            <a:spAutoFit/>
          </a:bodyPr>
          <a:lstStyle/>
          <a:p>
            <a:pPr algn="ctr">
              <a:defRPr sz="1200" b="0">
                <a:solidFill>
                  <a:srgbClr val="94A3B8"/>
                </a:solidFill>
                <a:latin typeface="Calibri"/>
              </a:defRPr>
            </a:pPr>
            <a:r>
              <a:t>Original</a:t>
            </a:r>
          </a:p>
        </p:txBody>
      </p:sp>
      <p:sp>
        <p:nvSpPr>
          <p:cNvPr id="14" name="TextBox 13"/>
          <p:cNvSpPr txBox="1"/>
          <p:nvPr/>
        </p:nvSpPr>
        <p:spPr>
          <a:xfrm>
            <a:off x="10058400" y="2560320"/>
            <a:ext cx="1828800" cy="1097280"/>
          </a:xfrm>
          <a:prstGeom prst="rect">
            <a:avLst/>
          </a:prstGeom>
          <a:noFill/>
        </p:spPr>
        <p:txBody>
          <a:bodyPr wrap="square">
            <a:spAutoFit/>
          </a:bodyPr>
          <a:lstStyle/>
          <a:p>
            <a:pPr algn="ctr">
              <a:defRPr sz="5600" b="1">
                <a:solidFill>
                  <a:srgbClr val="CA8A04"/>
                </a:solidFill>
                <a:latin typeface="Calibri"/>
              </a:defRPr>
            </a:pPr>
            <a:r>
              <a:t>7.8</a:t>
            </a:r>
          </a:p>
        </p:txBody>
      </p:sp>
      <p:sp>
        <p:nvSpPr>
          <p:cNvPr id="15" name="TextBox 14"/>
          <p:cNvSpPr txBox="1"/>
          <p:nvPr/>
        </p:nvSpPr>
        <p:spPr>
          <a:xfrm>
            <a:off x="10058400" y="3657600"/>
            <a:ext cx="1828800" cy="365760"/>
          </a:xfrm>
          <a:prstGeom prst="rect">
            <a:avLst/>
          </a:prstGeom>
          <a:noFill/>
        </p:spPr>
        <p:txBody>
          <a:bodyPr wrap="square">
            <a:spAutoFit/>
          </a:bodyPr>
          <a:lstStyle/>
          <a:p>
            <a:pPr algn="ctr">
              <a:defRPr sz="1200" b="0">
                <a:solidFill>
                  <a:srgbClr val="94A3B8"/>
                </a:solidFill>
                <a:latin typeface="Calibri"/>
              </a:defRPr>
            </a:pPr>
            <a:r>
              <a:t>Re-audit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Score Improvement</a:t>
            </a:r>
          </a:p>
        </p:txBody>
      </p:sp>
      <p:sp>
        <p:nvSpPr>
          <p:cNvPr id="3" name="Rounded Rectangle 2"/>
          <p:cNvSpPr/>
          <p:nvPr/>
        </p:nvSpPr>
        <p:spPr>
          <a:xfrm>
            <a:off x="1371600" y="1280160"/>
            <a:ext cx="3657600" cy="2286000"/>
          </a:xfrm>
          <a:prstGeom prst="roundRect">
            <a:avLst>
              <a:gd name="adj" fmla="val 2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463040"/>
            <a:ext cx="2743200" cy="1097280"/>
          </a:xfrm>
          <a:prstGeom prst="rect">
            <a:avLst/>
          </a:prstGeom>
          <a:noFill/>
        </p:spPr>
        <p:txBody>
          <a:bodyPr wrap="square">
            <a:spAutoFit/>
          </a:bodyPr>
          <a:lstStyle/>
          <a:p>
            <a:pPr algn="ctr">
              <a:defRPr sz="6400" b="1">
                <a:solidFill>
                  <a:srgbClr val="EA580C"/>
                </a:solidFill>
                <a:latin typeface="Calibri"/>
              </a:defRPr>
            </a:pPr>
            <a:r>
              <a:t>6.5</a:t>
            </a:r>
          </a:p>
        </p:txBody>
      </p:sp>
      <p:sp>
        <p:nvSpPr>
          <p:cNvPr id="5" name="TextBox 4"/>
          <p:cNvSpPr txBox="1"/>
          <p:nvPr/>
        </p:nvSpPr>
        <p:spPr>
          <a:xfrm>
            <a:off x="1828800" y="2560320"/>
            <a:ext cx="2743200" cy="365760"/>
          </a:xfrm>
          <a:prstGeom prst="rect">
            <a:avLst/>
          </a:prstGeom>
          <a:noFill/>
        </p:spPr>
        <p:txBody>
          <a:bodyPr wrap="square">
            <a:spAutoFit/>
          </a:bodyPr>
          <a:lstStyle/>
          <a:p>
            <a:pPr algn="ctr">
              <a:defRPr sz="1400" b="0">
                <a:solidFill>
                  <a:srgbClr val="6B7280"/>
                </a:solidFill>
                <a:latin typeface="Calibri"/>
              </a:defRPr>
            </a:pPr>
            <a:r>
              <a:t>2026-03-09 (Original)</a:t>
            </a:r>
          </a:p>
        </p:txBody>
      </p:sp>
      <p:sp>
        <p:nvSpPr>
          <p:cNvPr id="6" name="TextBox 5"/>
          <p:cNvSpPr txBox="1"/>
          <p:nvPr/>
        </p:nvSpPr>
        <p:spPr>
          <a:xfrm>
            <a:off x="1828800" y="2926080"/>
            <a:ext cx="2743200" cy="365760"/>
          </a:xfrm>
          <a:prstGeom prst="rect">
            <a:avLst/>
          </a:prstGeom>
          <a:noFill/>
        </p:spPr>
        <p:txBody>
          <a:bodyPr wrap="square">
            <a:spAutoFit/>
          </a:bodyPr>
          <a:lstStyle/>
          <a:p>
            <a:pPr algn="ctr">
              <a:defRPr sz="1200" b="0">
                <a:solidFill>
                  <a:srgbClr val="6B7280"/>
                </a:solidFill>
                <a:latin typeface="Calibri"/>
              </a:defRPr>
            </a:pPr>
            <a:r>
              <a:t>21 findings</a:t>
            </a:r>
          </a:p>
        </p:txBody>
      </p:sp>
      <p:sp>
        <p:nvSpPr>
          <p:cNvPr id="7" name="Rounded Rectangle 6"/>
          <p:cNvSpPr/>
          <p:nvPr/>
        </p:nvSpPr>
        <p:spPr>
          <a:xfrm>
            <a:off x="6400800" y="1280160"/>
            <a:ext cx="3657600" cy="2286000"/>
          </a:xfrm>
          <a:prstGeom prst="roundRect">
            <a:avLst>
              <a:gd name="adj" fmla="val 2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463040"/>
            <a:ext cx="2743200" cy="1097280"/>
          </a:xfrm>
          <a:prstGeom prst="rect">
            <a:avLst/>
          </a:prstGeom>
          <a:noFill/>
        </p:spPr>
        <p:txBody>
          <a:bodyPr wrap="square">
            <a:spAutoFit/>
          </a:bodyPr>
          <a:lstStyle/>
          <a:p>
            <a:pPr algn="ctr">
              <a:defRPr sz="6400" b="1">
                <a:solidFill>
                  <a:srgbClr val="CA8A04"/>
                </a:solidFill>
                <a:latin typeface="Calibri"/>
              </a:defRPr>
            </a:pPr>
            <a:r>
              <a:t>7.8</a:t>
            </a:r>
          </a:p>
        </p:txBody>
      </p:sp>
      <p:sp>
        <p:nvSpPr>
          <p:cNvPr id="9" name="TextBox 8"/>
          <p:cNvSpPr txBox="1"/>
          <p:nvPr/>
        </p:nvSpPr>
        <p:spPr>
          <a:xfrm>
            <a:off x="6858000" y="2560320"/>
            <a:ext cx="2743200" cy="365760"/>
          </a:xfrm>
          <a:prstGeom prst="rect">
            <a:avLst/>
          </a:prstGeom>
          <a:noFill/>
        </p:spPr>
        <p:txBody>
          <a:bodyPr wrap="square">
            <a:spAutoFit/>
          </a:bodyPr>
          <a:lstStyle/>
          <a:p>
            <a:pPr algn="ctr">
              <a:defRPr sz="1400" b="0">
                <a:solidFill>
                  <a:srgbClr val="6B7280"/>
                </a:solidFill>
                <a:latin typeface="Calibri"/>
              </a:defRPr>
            </a:pPr>
            <a:r>
              <a:t>2026-03-10 (Re-audit)</a:t>
            </a:r>
          </a:p>
        </p:txBody>
      </p:sp>
      <p:sp>
        <p:nvSpPr>
          <p:cNvPr id="10" name="TextBox 9"/>
          <p:cNvSpPr txBox="1"/>
          <p:nvPr/>
        </p:nvSpPr>
        <p:spPr>
          <a:xfrm>
            <a:off x="6858000" y="2926080"/>
            <a:ext cx="2743200" cy="365760"/>
          </a:xfrm>
          <a:prstGeom prst="rect">
            <a:avLst/>
          </a:prstGeom>
          <a:noFill/>
        </p:spPr>
        <p:txBody>
          <a:bodyPr wrap="square">
            <a:spAutoFit/>
          </a:bodyPr>
          <a:lstStyle/>
          <a:p>
            <a:pPr algn="ctr">
              <a:defRPr sz="1200" b="0">
                <a:solidFill>
                  <a:srgbClr val="6B7280"/>
                </a:solidFill>
                <a:latin typeface="Calibri"/>
              </a:defRPr>
            </a:pPr>
            <a:r>
              <a:t>15 findings</a:t>
            </a:r>
          </a:p>
        </p:txBody>
      </p:sp>
      <p:sp>
        <p:nvSpPr>
          <p:cNvPr id="11" name="TextBox 10"/>
          <p:cNvSpPr txBox="1"/>
          <p:nvPr/>
        </p:nvSpPr>
        <p:spPr>
          <a:xfrm>
            <a:off x="5303520" y="1828800"/>
            <a:ext cx="1371600" cy="914400"/>
          </a:xfrm>
          <a:prstGeom prst="rect">
            <a:avLst/>
          </a:prstGeom>
          <a:noFill/>
        </p:spPr>
        <p:txBody>
          <a:bodyPr wrap="square">
            <a:spAutoFit/>
          </a:bodyPr>
          <a:lstStyle/>
          <a:p>
            <a:pPr algn="ctr">
              <a:defRPr sz="4800" b="1">
                <a:solidFill>
                  <a:srgbClr val="15803D"/>
                </a:solidFill>
                <a:latin typeface="Calibri"/>
              </a:defRPr>
            </a:pPr>
            <a:r>
              <a:t>→</a:t>
            </a:r>
          </a:p>
        </p:txBody>
      </p:sp>
      <p:sp>
        <p:nvSpPr>
          <p:cNvPr id="12" name="Rounded Rectangle 11"/>
          <p:cNvSpPr/>
          <p:nvPr/>
        </p:nvSpPr>
        <p:spPr>
          <a:xfrm>
            <a:off x="1371600" y="4114800"/>
            <a:ext cx="9418320" cy="13716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0" y="4297680"/>
            <a:ext cx="1828800" cy="731520"/>
          </a:xfrm>
          <a:prstGeom prst="rect">
            <a:avLst/>
          </a:prstGeom>
          <a:noFill/>
        </p:spPr>
        <p:txBody>
          <a:bodyPr wrap="square">
            <a:spAutoFit/>
          </a:bodyPr>
          <a:lstStyle/>
          <a:p>
            <a:pPr algn="l">
              <a:defRPr sz="4200" b="1">
                <a:solidFill>
                  <a:srgbClr val="15803D"/>
                </a:solidFill>
                <a:latin typeface="Calibri"/>
              </a:defRPr>
            </a:pPr>
            <a:r>
              <a:t>+1.3</a:t>
            </a:r>
          </a:p>
        </p:txBody>
      </p:sp>
      <p:sp>
        <p:nvSpPr>
          <p:cNvPr id="14" name="TextBox 13"/>
          <p:cNvSpPr txBox="1"/>
          <p:nvPr/>
        </p:nvSpPr>
        <p:spPr>
          <a:xfrm>
            <a:off x="3657600" y="4297680"/>
            <a:ext cx="6400800" cy="365760"/>
          </a:xfrm>
          <a:prstGeom prst="rect">
            <a:avLst/>
          </a:prstGeom>
          <a:noFill/>
        </p:spPr>
        <p:txBody>
          <a:bodyPr wrap="square">
            <a:spAutoFit/>
          </a:bodyPr>
          <a:lstStyle/>
          <a:p>
            <a:pPr algn="l">
              <a:defRPr sz="1800" b="1">
                <a:solidFill>
                  <a:srgbClr val="15803D"/>
                </a:solidFill>
                <a:latin typeface="Calibri"/>
              </a:defRPr>
            </a:pPr>
            <a:r>
              <a:t>Score Improvement</a:t>
            </a:r>
          </a:p>
        </p:txBody>
      </p:sp>
      <p:sp>
        <p:nvSpPr>
          <p:cNvPr id="15" name="TextBox 14"/>
          <p:cNvSpPr txBox="1"/>
          <p:nvPr/>
        </p:nvSpPr>
        <p:spPr>
          <a:xfrm>
            <a:off x="3657600" y="4754880"/>
            <a:ext cx="6400800" cy="548640"/>
          </a:xfrm>
          <a:prstGeom prst="rect">
            <a:avLst/>
          </a:prstGeom>
          <a:noFill/>
        </p:spPr>
        <p:txBody>
          <a:bodyPr wrap="square">
            <a:spAutoFit/>
          </a:bodyPr>
          <a:lstStyle/>
          <a:p>
            <a:pPr algn="l">
              <a:defRPr sz="1300" b="0">
                <a:solidFill>
                  <a:srgbClr val="374151"/>
                </a:solidFill>
                <a:latin typeface="Calibri"/>
              </a:defRPr>
            </a:pPr>
            <a:r>
              <a:t>Original: 21 findings (3 critical, 6 high)  →  Re-audit: 15 findings (0 critical, 4 high)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Severity Breakdown Comparison</a:t>
            </a:r>
          </a:p>
        </p:txBody>
      </p:sp>
      <p:sp>
        <p:nvSpPr>
          <p:cNvPr id="3" name="TextBox 2"/>
          <p:cNvSpPr txBox="1"/>
          <p:nvPr/>
        </p:nvSpPr>
        <p:spPr>
          <a:xfrm>
            <a:off x="731520" y="1188720"/>
            <a:ext cx="5303520" cy="365760"/>
          </a:xfrm>
          <a:prstGeom prst="rect">
            <a:avLst/>
          </a:prstGeom>
          <a:noFill/>
        </p:spPr>
        <p:txBody>
          <a:bodyPr wrap="square">
            <a:spAutoFit/>
          </a:bodyPr>
          <a:lstStyle/>
          <a:p>
            <a:pPr algn="l">
              <a:defRPr sz="1400" b="1">
                <a:solidFill>
                  <a:srgbClr val="374151"/>
                </a:solidFill>
                <a:latin typeface="Calibri"/>
              </a:defRPr>
            </a:pPr>
            <a:r>
              <a:t>2026-03-09 (Original) — 21 findings</a:t>
            </a:r>
          </a:p>
        </p:txBody>
      </p:sp>
      <p:sp>
        <p:nvSpPr>
          <p:cNvPr id="4" name="Rounded Rectangle 3"/>
          <p:cNvSpPr/>
          <p:nvPr/>
        </p:nvSpPr>
        <p:spPr>
          <a:xfrm>
            <a:off x="731520" y="1737360"/>
            <a:ext cx="1188720" cy="1371600"/>
          </a:xfrm>
          <a:prstGeom prst="roundRect">
            <a:avLst>
              <a:gd name="adj" fmla="val 2000"/>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74519"/>
            <a:ext cx="1005840" cy="731520"/>
          </a:xfrm>
          <a:prstGeom prst="rect">
            <a:avLst/>
          </a:prstGeom>
          <a:noFill/>
        </p:spPr>
        <p:txBody>
          <a:bodyPr wrap="square">
            <a:spAutoFit/>
          </a:bodyPr>
          <a:lstStyle/>
          <a:p>
            <a:pPr algn="ctr">
              <a:defRPr sz="3600" b="1">
                <a:solidFill>
                  <a:srgbClr val="DC2626"/>
                </a:solidFill>
                <a:latin typeface="Calibri"/>
              </a:defRPr>
            </a:pPr>
            <a:r>
              <a:t>3</a:t>
            </a:r>
          </a:p>
        </p:txBody>
      </p:sp>
      <p:sp>
        <p:nvSpPr>
          <p:cNvPr id="6" name="TextBox 5"/>
          <p:cNvSpPr txBox="1"/>
          <p:nvPr/>
        </p:nvSpPr>
        <p:spPr>
          <a:xfrm>
            <a:off x="822960" y="2560320"/>
            <a:ext cx="1005840" cy="274320"/>
          </a:xfrm>
          <a:prstGeom prst="rect">
            <a:avLst/>
          </a:prstGeom>
          <a:noFill/>
        </p:spPr>
        <p:txBody>
          <a:bodyPr wrap="square">
            <a:spAutoFit/>
          </a:bodyPr>
          <a:lstStyle/>
          <a:p>
            <a:pPr algn="ctr">
              <a:defRPr sz="1000" b="1">
                <a:solidFill>
                  <a:srgbClr val="DC2626"/>
                </a:solidFill>
                <a:latin typeface="Calibri"/>
              </a:defRPr>
            </a:pPr>
            <a:r>
              <a:t>CRITICAL</a:t>
            </a:r>
          </a:p>
        </p:txBody>
      </p:sp>
      <p:sp>
        <p:nvSpPr>
          <p:cNvPr id="7" name="Rounded Rectangle 6"/>
          <p:cNvSpPr/>
          <p:nvPr/>
        </p:nvSpPr>
        <p:spPr>
          <a:xfrm>
            <a:off x="2011680" y="1737360"/>
            <a:ext cx="1188720" cy="1371600"/>
          </a:xfrm>
          <a:prstGeom prst="roundRect">
            <a:avLst>
              <a:gd name="adj" fmla="val 2000"/>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1874519"/>
            <a:ext cx="1005840" cy="731520"/>
          </a:xfrm>
          <a:prstGeom prst="rect">
            <a:avLst/>
          </a:prstGeom>
          <a:noFill/>
        </p:spPr>
        <p:txBody>
          <a:bodyPr wrap="square">
            <a:spAutoFit/>
          </a:bodyPr>
          <a:lstStyle/>
          <a:p>
            <a:pPr algn="ctr">
              <a:defRPr sz="3600" b="1">
                <a:solidFill>
                  <a:srgbClr val="EA580C"/>
                </a:solidFill>
                <a:latin typeface="Calibri"/>
              </a:defRPr>
            </a:pPr>
            <a:r>
              <a:t>6</a:t>
            </a:r>
          </a:p>
        </p:txBody>
      </p:sp>
      <p:sp>
        <p:nvSpPr>
          <p:cNvPr id="9" name="TextBox 8"/>
          <p:cNvSpPr txBox="1"/>
          <p:nvPr/>
        </p:nvSpPr>
        <p:spPr>
          <a:xfrm>
            <a:off x="2103120" y="2560320"/>
            <a:ext cx="1005840" cy="274320"/>
          </a:xfrm>
          <a:prstGeom prst="rect">
            <a:avLst/>
          </a:prstGeom>
          <a:noFill/>
        </p:spPr>
        <p:txBody>
          <a:bodyPr wrap="square">
            <a:spAutoFit/>
          </a:bodyPr>
          <a:lstStyle/>
          <a:p>
            <a:pPr algn="ctr">
              <a:defRPr sz="1000" b="1">
                <a:solidFill>
                  <a:srgbClr val="EA580C"/>
                </a:solidFill>
                <a:latin typeface="Calibri"/>
              </a:defRPr>
            </a:pPr>
            <a:r>
              <a:t>HIGH</a:t>
            </a:r>
          </a:p>
        </p:txBody>
      </p:sp>
      <p:sp>
        <p:nvSpPr>
          <p:cNvPr id="10" name="Rounded Rectangle 9"/>
          <p:cNvSpPr/>
          <p:nvPr/>
        </p:nvSpPr>
        <p:spPr>
          <a:xfrm>
            <a:off x="3291840" y="1737360"/>
            <a:ext cx="1188720" cy="1371600"/>
          </a:xfrm>
          <a:prstGeom prst="roundRect">
            <a:avLst>
              <a:gd name="adj" fmla="val 2000"/>
            </a:avLst>
          </a:prstGeom>
          <a:solidFill>
            <a:srgbClr val="FEFCE8"/>
          </a:solidFill>
          <a:ln w="1270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874519"/>
            <a:ext cx="1005840" cy="731520"/>
          </a:xfrm>
          <a:prstGeom prst="rect">
            <a:avLst/>
          </a:prstGeom>
          <a:noFill/>
        </p:spPr>
        <p:txBody>
          <a:bodyPr wrap="square">
            <a:spAutoFit/>
          </a:bodyPr>
          <a:lstStyle/>
          <a:p>
            <a:pPr algn="ctr">
              <a:defRPr sz="3600" b="1">
                <a:solidFill>
                  <a:srgbClr val="CA8A04"/>
                </a:solidFill>
                <a:latin typeface="Calibri"/>
              </a:defRPr>
            </a:pPr>
            <a:r>
              <a:t>7</a:t>
            </a:r>
          </a:p>
        </p:txBody>
      </p:sp>
      <p:sp>
        <p:nvSpPr>
          <p:cNvPr id="12" name="TextBox 11"/>
          <p:cNvSpPr txBox="1"/>
          <p:nvPr/>
        </p:nvSpPr>
        <p:spPr>
          <a:xfrm>
            <a:off x="3383280" y="2560320"/>
            <a:ext cx="1005840" cy="274320"/>
          </a:xfrm>
          <a:prstGeom prst="rect">
            <a:avLst/>
          </a:prstGeom>
          <a:noFill/>
        </p:spPr>
        <p:txBody>
          <a:bodyPr wrap="square">
            <a:spAutoFit/>
          </a:bodyPr>
          <a:lstStyle/>
          <a:p>
            <a:pPr algn="ctr">
              <a:defRPr sz="1000" b="1">
                <a:solidFill>
                  <a:srgbClr val="CA8A04"/>
                </a:solidFill>
                <a:latin typeface="Calibri"/>
              </a:defRPr>
            </a:pPr>
            <a:r>
              <a:t>MEDIUM</a:t>
            </a:r>
          </a:p>
        </p:txBody>
      </p:sp>
      <p:sp>
        <p:nvSpPr>
          <p:cNvPr id="13" name="Rounded Rectangle 12"/>
          <p:cNvSpPr/>
          <p:nvPr/>
        </p:nvSpPr>
        <p:spPr>
          <a:xfrm>
            <a:off x="4572000" y="1737360"/>
            <a:ext cx="1188720" cy="1371600"/>
          </a:xfrm>
          <a:prstGeom prst="roundRect">
            <a:avLst>
              <a:gd name="adj" fmla="val 2000"/>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874519"/>
            <a:ext cx="1005840" cy="731520"/>
          </a:xfrm>
          <a:prstGeom prst="rect">
            <a:avLst/>
          </a:prstGeom>
          <a:noFill/>
        </p:spPr>
        <p:txBody>
          <a:bodyPr wrap="square">
            <a:spAutoFit/>
          </a:bodyPr>
          <a:lstStyle/>
          <a:p>
            <a:pPr algn="ctr">
              <a:defRPr sz="3600" b="1">
                <a:solidFill>
                  <a:srgbClr val="16A34A"/>
                </a:solidFill>
                <a:latin typeface="Calibri"/>
              </a:defRPr>
            </a:pPr>
            <a:r>
              <a:t>5</a:t>
            </a:r>
          </a:p>
        </p:txBody>
      </p:sp>
      <p:sp>
        <p:nvSpPr>
          <p:cNvPr id="15" name="TextBox 14"/>
          <p:cNvSpPr txBox="1"/>
          <p:nvPr/>
        </p:nvSpPr>
        <p:spPr>
          <a:xfrm>
            <a:off x="4663440" y="2560320"/>
            <a:ext cx="1005840" cy="274320"/>
          </a:xfrm>
          <a:prstGeom prst="rect">
            <a:avLst/>
          </a:prstGeom>
          <a:noFill/>
        </p:spPr>
        <p:txBody>
          <a:bodyPr wrap="square">
            <a:spAutoFit/>
          </a:bodyPr>
          <a:lstStyle/>
          <a:p>
            <a:pPr algn="ctr">
              <a:defRPr sz="1000" b="1">
                <a:solidFill>
                  <a:srgbClr val="16A34A"/>
                </a:solidFill>
                <a:latin typeface="Calibri"/>
              </a:defRPr>
            </a:pPr>
            <a:r>
              <a:t>LOW</a:t>
            </a:r>
          </a:p>
        </p:txBody>
      </p:sp>
      <p:sp>
        <p:nvSpPr>
          <p:cNvPr id="16" name="TextBox 15"/>
          <p:cNvSpPr txBox="1"/>
          <p:nvPr/>
        </p:nvSpPr>
        <p:spPr>
          <a:xfrm>
            <a:off x="6400800" y="1188720"/>
            <a:ext cx="5303520" cy="365760"/>
          </a:xfrm>
          <a:prstGeom prst="rect">
            <a:avLst/>
          </a:prstGeom>
          <a:noFill/>
        </p:spPr>
        <p:txBody>
          <a:bodyPr wrap="square">
            <a:spAutoFit/>
          </a:bodyPr>
          <a:lstStyle/>
          <a:p>
            <a:pPr algn="l">
              <a:defRPr sz="1400" b="1">
                <a:solidFill>
                  <a:srgbClr val="374151"/>
                </a:solidFill>
                <a:latin typeface="Calibri"/>
              </a:defRPr>
            </a:pPr>
            <a:r>
              <a:t>2026-03-10 (Re-audit) — 15 findings</a:t>
            </a:r>
          </a:p>
        </p:txBody>
      </p:sp>
      <p:sp>
        <p:nvSpPr>
          <p:cNvPr id="17" name="Rounded Rectangle 16"/>
          <p:cNvSpPr/>
          <p:nvPr/>
        </p:nvSpPr>
        <p:spPr>
          <a:xfrm>
            <a:off x="6400800" y="1737360"/>
            <a:ext cx="1188720" cy="1371600"/>
          </a:xfrm>
          <a:prstGeom prst="roundRect">
            <a:avLst>
              <a:gd name="adj" fmla="val 2000"/>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874519"/>
            <a:ext cx="1005840" cy="731520"/>
          </a:xfrm>
          <a:prstGeom prst="rect">
            <a:avLst/>
          </a:prstGeom>
          <a:noFill/>
        </p:spPr>
        <p:txBody>
          <a:bodyPr wrap="square">
            <a:spAutoFit/>
          </a:bodyPr>
          <a:lstStyle/>
          <a:p>
            <a:pPr algn="ctr">
              <a:defRPr sz="3600" b="1">
                <a:solidFill>
                  <a:srgbClr val="DC2626"/>
                </a:solidFill>
                <a:latin typeface="Calibri"/>
              </a:defRPr>
            </a:pPr>
            <a:r>
              <a:t>0</a:t>
            </a:r>
          </a:p>
        </p:txBody>
      </p:sp>
      <p:sp>
        <p:nvSpPr>
          <p:cNvPr id="19" name="TextBox 18"/>
          <p:cNvSpPr txBox="1"/>
          <p:nvPr/>
        </p:nvSpPr>
        <p:spPr>
          <a:xfrm>
            <a:off x="6492240" y="2560320"/>
            <a:ext cx="1005840" cy="274320"/>
          </a:xfrm>
          <a:prstGeom prst="rect">
            <a:avLst/>
          </a:prstGeom>
          <a:noFill/>
        </p:spPr>
        <p:txBody>
          <a:bodyPr wrap="square">
            <a:spAutoFit/>
          </a:bodyPr>
          <a:lstStyle/>
          <a:p>
            <a:pPr algn="ctr">
              <a:defRPr sz="1000" b="1">
                <a:solidFill>
                  <a:srgbClr val="DC2626"/>
                </a:solidFill>
                <a:latin typeface="Calibri"/>
              </a:defRPr>
            </a:pPr>
            <a:r>
              <a:t>CRITICAL</a:t>
            </a:r>
          </a:p>
        </p:txBody>
      </p:sp>
      <p:sp>
        <p:nvSpPr>
          <p:cNvPr id="20" name="Rounded Rectangle 19"/>
          <p:cNvSpPr/>
          <p:nvPr/>
        </p:nvSpPr>
        <p:spPr>
          <a:xfrm>
            <a:off x="7680960" y="1737360"/>
            <a:ext cx="1188720" cy="1371600"/>
          </a:xfrm>
          <a:prstGeom prst="roundRect">
            <a:avLst>
              <a:gd name="adj" fmla="val 2000"/>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1874519"/>
            <a:ext cx="1005840" cy="731520"/>
          </a:xfrm>
          <a:prstGeom prst="rect">
            <a:avLst/>
          </a:prstGeom>
          <a:noFill/>
        </p:spPr>
        <p:txBody>
          <a:bodyPr wrap="square">
            <a:spAutoFit/>
          </a:bodyPr>
          <a:lstStyle/>
          <a:p>
            <a:pPr algn="ctr">
              <a:defRPr sz="3600" b="1">
                <a:solidFill>
                  <a:srgbClr val="EA580C"/>
                </a:solidFill>
                <a:latin typeface="Calibri"/>
              </a:defRPr>
            </a:pPr>
            <a:r>
              <a:t>4</a:t>
            </a:r>
          </a:p>
        </p:txBody>
      </p:sp>
      <p:sp>
        <p:nvSpPr>
          <p:cNvPr id="22" name="TextBox 21"/>
          <p:cNvSpPr txBox="1"/>
          <p:nvPr/>
        </p:nvSpPr>
        <p:spPr>
          <a:xfrm>
            <a:off x="7772400" y="2560320"/>
            <a:ext cx="1005840" cy="274320"/>
          </a:xfrm>
          <a:prstGeom prst="rect">
            <a:avLst/>
          </a:prstGeom>
          <a:noFill/>
        </p:spPr>
        <p:txBody>
          <a:bodyPr wrap="square">
            <a:spAutoFit/>
          </a:bodyPr>
          <a:lstStyle/>
          <a:p>
            <a:pPr algn="ctr">
              <a:defRPr sz="1000" b="1">
                <a:solidFill>
                  <a:srgbClr val="EA580C"/>
                </a:solidFill>
                <a:latin typeface="Calibri"/>
              </a:defRPr>
            </a:pPr>
            <a:r>
              <a:t>HIGH</a:t>
            </a:r>
          </a:p>
        </p:txBody>
      </p:sp>
      <p:sp>
        <p:nvSpPr>
          <p:cNvPr id="23" name="Rounded Rectangle 22"/>
          <p:cNvSpPr/>
          <p:nvPr/>
        </p:nvSpPr>
        <p:spPr>
          <a:xfrm>
            <a:off x="8961120" y="1737360"/>
            <a:ext cx="1188720" cy="1371600"/>
          </a:xfrm>
          <a:prstGeom prst="roundRect">
            <a:avLst>
              <a:gd name="adj" fmla="val 2000"/>
            </a:avLst>
          </a:prstGeom>
          <a:solidFill>
            <a:srgbClr val="FEFCE8"/>
          </a:solidFill>
          <a:ln w="1270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0" y="1874519"/>
            <a:ext cx="1005840" cy="731520"/>
          </a:xfrm>
          <a:prstGeom prst="rect">
            <a:avLst/>
          </a:prstGeom>
          <a:noFill/>
        </p:spPr>
        <p:txBody>
          <a:bodyPr wrap="square">
            <a:spAutoFit/>
          </a:bodyPr>
          <a:lstStyle/>
          <a:p>
            <a:pPr algn="ctr">
              <a:defRPr sz="3600" b="1">
                <a:solidFill>
                  <a:srgbClr val="CA8A04"/>
                </a:solidFill>
                <a:latin typeface="Calibri"/>
              </a:defRPr>
            </a:pPr>
            <a:r>
              <a:t>6</a:t>
            </a:r>
          </a:p>
        </p:txBody>
      </p:sp>
      <p:sp>
        <p:nvSpPr>
          <p:cNvPr id="25" name="TextBox 24"/>
          <p:cNvSpPr txBox="1"/>
          <p:nvPr/>
        </p:nvSpPr>
        <p:spPr>
          <a:xfrm>
            <a:off x="9052560" y="2560320"/>
            <a:ext cx="1005840" cy="274320"/>
          </a:xfrm>
          <a:prstGeom prst="rect">
            <a:avLst/>
          </a:prstGeom>
          <a:noFill/>
        </p:spPr>
        <p:txBody>
          <a:bodyPr wrap="square">
            <a:spAutoFit/>
          </a:bodyPr>
          <a:lstStyle/>
          <a:p>
            <a:pPr algn="ctr">
              <a:defRPr sz="1000" b="1">
                <a:solidFill>
                  <a:srgbClr val="CA8A04"/>
                </a:solidFill>
                <a:latin typeface="Calibri"/>
              </a:defRPr>
            </a:pPr>
            <a:r>
              <a:t>MEDIUM</a:t>
            </a:r>
          </a:p>
        </p:txBody>
      </p:sp>
      <p:sp>
        <p:nvSpPr>
          <p:cNvPr id="26" name="Rounded Rectangle 25"/>
          <p:cNvSpPr/>
          <p:nvPr/>
        </p:nvSpPr>
        <p:spPr>
          <a:xfrm>
            <a:off x="10241280" y="1737360"/>
            <a:ext cx="1188720" cy="1371600"/>
          </a:xfrm>
          <a:prstGeom prst="roundRect">
            <a:avLst>
              <a:gd name="adj" fmla="val 2000"/>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0" y="1874519"/>
            <a:ext cx="1005840" cy="731520"/>
          </a:xfrm>
          <a:prstGeom prst="rect">
            <a:avLst/>
          </a:prstGeom>
          <a:noFill/>
        </p:spPr>
        <p:txBody>
          <a:bodyPr wrap="square">
            <a:spAutoFit/>
          </a:bodyPr>
          <a:lstStyle/>
          <a:p>
            <a:pPr algn="ctr">
              <a:defRPr sz="3600" b="1">
                <a:solidFill>
                  <a:srgbClr val="16A34A"/>
                </a:solidFill>
                <a:latin typeface="Calibri"/>
              </a:defRPr>
            </a:pPr>
            <a:r>
              <a:t>5</a:t>
            </a:r>
          </a:p>
        </p:txBody>
      </p:sp>
      <p:sp>
        <p:nvSpPr>
          <p:cNvPr id="28" name="TextBox 27"/>
          <p:cNvSpPr txBox="1"/>
          <p:nvPr/>
        </p:nvSpPr>
        <p:spPr>
          <a:xfrm>
            <a:off x="10332720" y="2560320"/>
            <a:ext cx="1005840" cy="274320"/>
          </a:xfrm>
          <a:prstGeom prst="rect">
            <a:avLst/>
          </a:prstGeom>
          <a:noFill/>
        </p:spPr>
        <p:txBody>
          <a:bodyPr wrap="square">
            <a:spAutoFit/>
          </a:bodyPr>
          <a:lstStyle/>
          <a:p>
            <a:pPr algn="ctr">
              <a:defRPr sz="1000" b="1">
                <a:solidFill>
                  <a:srgbClr val="16A34A"/>
                </a:solidFill>
                <a:latin typeface="Calibri"/>
              </a:defRPr>
            </a:pPr>
            <a:r>
              <a:t>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Finding Resolution Status</a:t>
            </a:r>
          </a:p>
        </p:txBody>
      </p:sp>
      <p:sp>
        <p:nvSpPr>
          <p:cNvPr id="3" name="TextBox 2"/>
          <p:cNvSpPr txBox="1"/>
          <p:nvPr/>
        </p:nvSpPr>
        <p:spPr>
          <a:xfrm>
            <a:off x="731520" y="914400"/>
            <a:ext cx="10058400" cy="365760"/>
          </a:xfrm>
          <a:prstGeom prst="rect">
            <a:avLst/>
          </a:prstGeom>
          <a:noFill/>
        </p:spPr>
        <p:txBody>
          <a:bodyPr wrap="square">
            <a:spAutoFit/>
          </a:bodyPr>
          <a:lstStyle/>
          <a:p>
            <a:pPr algn="l">
              <a:defRPr sz="1300" b="0">
                <a:solidFill>
                  <a:srgbClr val="6B7280"/>
                </a:solidFill>
                <a:latin typeface="Calibri"/>
              </a:defRPr>
            </a:pPr>
            <a:r>
              <a:t>Cross-reference of original findings against the audited version</a:t>
            </a:r>
          </a:p>
        </p:txBody>
      </p:sp>
      <p:sp>
        <p:nvSpPr>
          <p:cNvPr id="4" name="Rounded Rectangle 3"/>
          <p:cNvSpPr/>
          <p:nvPr/>
        </p:nvSpPr>
        <p:spPr>
          <a:xfrm>
            <a:off x="731520" y="1371600"/>
            <a:ext cx="2011680" cy="4572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FIXED: 15</a:t>
            </a:r>
          </a:p>
        </p:txBody>
      </p:sp>
      <p:sp>
        <p:nvSpPr>
          <p:cNvPr id="5" name="Rounded Rectangle 4"/>
          <p:cNvSpPr/>
          <p:nvPr/>
        </p:nvSpPr>
        <p:spPr>
          <a:xfrm>
            <a:off x="2926080" y="1371600"/>
            <a:ext cx="2011680" cy="457200"/>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PARTIALLY FIXED: 3</a:t>
            </a:r>
          </a:p>
        </p:txBody>
      </p:sp>
      <p:sp>
        <p:nvSpPr>
          <p:cNvPr id="6" name="Rounded Rectangle 5"/>
          <p:cNvSpPr/>
          <p:nvPr/>
        </p:nvSpPr>
        <p:spPr>
          <a:xfrm>
            <a:off x="5120640" y="1371600"/>
            <a:ext cx="2011680" cy="457200"/>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NOT FIXED: 2</a:t>
            </a:r>
          </a:p>
        </p:txBody>
      </p:sp>
      <p:sp>
        <p:nvSpPr>
          <p:cNvPr id="7" name="Rounded Rectangle 6"/>
          <p:cNvSpPr/>
          <p:nvPr/>
        </p:nvSpPr>
        <p:spPr>
          <a:xfrm>
            <a:off x="7315200" y="1371600"/>
            <a:ext cx="2011680" cy="457200"/>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WORSE: 1</a:t>
            </a:r>
          </a:p>
        </p:txBody>
      </p:sp>
      <p:sp>
        <p:nvSpPr>
          <p:cNvPr id="8" name="TextBox 7"/>
          <p:cNvSpPr txBox="1"/>
          <p:nvPr/>
        </p:nvSpPr>
        <p:spPr>
          <a:xfrm>
            <a:off x="731520" y="2103120"/>
            <a:ext cx="457200" cy="320040"/>
          </a:xfrm>
          <a:prstGeom prst="rect">
            <a:avLst/>
          </a:prstGeom>
          <a:noFill/>
        </p:spPr>
        <p:txBody>
          <a:bodyPr wrap="square">
            <a:spAutoFit/>
          </a:bodyPr>
          <a:lstStyle/>
          <a:p>
            <a:pPr algn="l">
              <a:defRPr sz="900" b="1">
                <a:solidFill>
                  <a:srgbClr val="6B7280"/>
                </a:solidFill>
                <a:latin typeface="Calibri"/>
              </a:defRPr>
            </a:pPr>
            <a:r>
              <a:t>#</a:t>
            </a:r>
          </a:p>
        </p:txBody>
      </p:sp>
      <p:sp>
        <p:nvSpPr>
          <p:cNvPr id="9" name="TextBox 8"/>
          <p:cNvSpPr txBox="1"/>
          <p:nvPr/>
        </p:nvSpPr>
        <p:spPr>
          <a:xfrm>
            <a:off x="1188720" y="2103120"/>
            <a:ext cx="4572000" cy="320040"/>
          </a:xfrm>
          <a:prstGeom prst="rect">
            <a:avLst/>
          </a:prstGeom>
          <a:noFill/>
        </p:spPr>
        <p:txBody>
          <a:bodyPr wrap="square">
            <a:spAutoFit/>
          </a:bodyPr>
          <a:lstStyle/>
          <a:p>
            <a:pPr algn="l">
              <a:defRPr sz="900" b="1">
                <a:solidFill>
                  <a:srgbClr val="6B7280"/>
                </a:solidFill>
                <a:latin typeface="Calibri"/>
              </a:defRPr>
            </a:pPr>
            <a:r>
              <a:t>Original Finding</a:t>
            </a:r>
          </a:p>
        </p:txBody>
      </p:sp>
      <p:sp>
        <p:nvSpPr>
          <p:cNvPr id="10" name="TextBox 9"/>
          <p:cNvSpPr txBox="1"/>
          <p:nvPr/>
        </p:nvSpPr>
        <p:spPr>
          <a:xfrm>
            <a:off x="5760720" y="2103120"/>
            <a:ext cx="1371600" cy="320040"/>
          </a:xfrm>
          <a:prstGeom prst="rect">
            <a:avLst/>
          </a:prstGeom>
          <a:noFill/>
        </p:spPr>
        <p:txBody>
          <a:bodyPr wrap="square">
            <a:spAutoFit/>
          </a:bodyPr>
          <a:lstStyle/>
          <a:p>
            <a:pPr algn="l">
              <a:defRPr sz="900" b="1">
                <a:solidFill>
                  <a:srgbClr val="6B7280"/>
                </a:solidFill>
                <a:latin typeface="Calibri"/>
              </a:defRPr>
            </a:pPr>
            <a:r>
              <a:t>Status</a:t>
            </a:r>
          </a:p>
        </p:txBody>
      </p:sp>
      <p:sp>
        <p:nvSpPr>
          <p:cNvPr id="11" name="TextBox 10"/>
          <p:cNvSpPr txBox="1"/>
          <p:nvPr/>
        </p:nvSpPr>
        <p:spPr>
          <a:xfrm>
            <a:off x="7132320" y="2103120"/>
            <a:ext cx="4572000" cy="320040"/>
          </a:xfrm>
          <a:prstGeom prst="rect">
            <a:avLst/>
          </a:prstGeom>
          <a:noFill/>
        </p:spPr>
        <p:txBody>
          <a:bodyPr wrap="square">
            <a:spAutoFit/>
          </a:bodyPr>
          <a:lstStyle/>
          <a:p>
            <a:pPr algn="l">
              <a:defRPr sz="900" b="1">
                <a:solidFill>
                  <a:srgbClr val="6B7280"/>
                </a:solidFill>
                <a:latin typeface="Calibri"/>
              </a:defRPr>
            </a:pPr>
            <a:r>
              <a:t>Notes</a:t>
            </a:r>
          </a:p>
        </p:txBody>
      </p:sp>
      <p:sp>
        <p:nvSpPr>
          <p:cNvPr id="12" name="Rounded Rectangle 11"/>
          <p:cNvSpPr/>
          <p:nvPr/>
        </p:nvSpPr>
        <p:spPr>
          <a:xfrm>
            <a:off x="731520" y="251460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560320"/>
            <a:ext cx="365760" cy="274320"/>
          </a:xfrm>
          <a:prstGeom prst="rect">
            <a:avLst/>
          </a:prstGeom>
          <a:noFill/>
        </p:spPr>
        <p:txBody>
          <a:bodyPr wrap="square">
            <a:spAutoFit/>
          </a:bodyPr>
          <a:lstStyle/>
          <a:p>
            <a:pPr algn="l">
              <a:defRPr sz="1100" b="1">
                <a:solidFill>
                  <a:srgbClr val="1A1A2E"/>
                </a:solidFill>
                <a:latin typeface="Calibri"/>
              </a:defRPr>
            </a:pPr>
            <a:r>
              <a:t>#1</a:t>
            </a:r>
          </a:p>
        </p:txBody>
      </p:sp>
      <p:sp>
        <p:nvSpPr>
          <p:cNvPr id="14" name="TextBox 13"/>
          <p:cNvSpPr txBox="1"/>
          <p:nvPr/>
        </p:nvSpPr>
        <p:spPr>
          <a:xfrm>
            <a:off x="1280160" y="2560320"/>
            <a:ext cx="4389120" cy="411480"/>
          </a:xfrm>
          <a:prstGeom prst="rect">
            <a:avLst/>
          </a:prstGeom>
          <a:noFill/>
        </p:spPr>
        <p:txBody>
          <a:bodyPr wrap="square">
            <a:spAutoFit/>
          </a:bodyPr>
          <a:lstStyle/>
          <a:p>
            <a:pPr algn="l">
              <a:defRPr sz="1000" b="0">
                <a:solidFill>
                  <a:srgbClr val="374151"/>
                </a:solidFill>
                <a:latin typeface="Calibri"/>
              </a:defRPr>
            </a:pPr>
            <a:r>
              <a:t>No onboarding or guided first-trade experience</a:t>
            </a:r>
          </a:p>
        </p:txBody>
      </p:sp>
      <p:sp>
        <p:nvSpPr>
          <p:cNvPr id="15" name="Rounded Rectangle 14"/>
          <p:cNvSpPr/>
          <p:nvPr/>
        </p:nvSpPr>
        <p:spPr>
          <a:xfrm>
            <a:off x="5852160" y="2606040"/>
            <a:ext cx="118872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PARTIALLY FIXED</a:t>
            </a:r>
          </a:p>
        </p:txBody>
      </p:sp>
      <p:sp>
        <p:nvSpPr>
          <p:cNvPr id="16" name="TextBox 15"/>
          <p:cNvSpPr txBox="1"/>
          <p:nvPr/>
        </p:nvSpPr>
        <p:spPr>
          <a:xfrm>
            <a:off x="7223760" y="2560320"/>
            <a:ext cx="4389120" cy="411480"/>
          </a:xfrm>
          <a:prstGeom prst="rect">
            <a:avLst/>
          </a:prstGeom>
          <a:noFill/>
        </p:spPr>
        <p:txBody>
          <a:bodyPr wrap="square">
            <a:spAutoFit/>
          </a:bodyPr>
          <a:lstStyle/>
          <a:p>
            <a:pPr algn="l">
              <a:defRPr sz="900" b="0">
                <a:solidFill>
                  <a:srgbClr val="6B7280"/>
                </a:solidFill>
                <a:latin typeface="Calibri"/>
              </a:defRPr>
            </a:pPr>
            <a:r>
              <a:t>Tooltips added, but no walkthrough banner. See new #5.</a:t>
            </a:r>
          </a:p>
        </p:txBody>
      </p:sp>
      <p:sp>
        <p:nvSpPr>
          <p:cNvPr id="17" name="Rounded Rectangle 16"/>
          <p:cNvSpPr/>
          <p:nvPr/>
        </p:nvSpPr>
        <p:spPr>
          <a:xfrm>
            <a:off x="731520" y="306324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08960"/>
            <a:ext cx="365760" cy="274320"/>
          </a:xfrm>
          <a:prstGeom prst="rect">
            <a:avLst/>
          </a:prstGeom>
          <a:noFill/>
        </p:spPr>
        <p:txBody>
          <a:bodyPr wrap="square">
            <a:spAutoFit/>
          </a:bodyPr>
          <a:lstStyle/>
          <a:p>
            <a:pPr algn="l">
              <a:defRPr sz="1100" b="1">
                <a:solidFill>
                  <a:srgbClr val="1A1A2E"/>
                </a:solidFill>
                <a:latin typeface="Calibri"/>
              </a:defRPr>
            </a:pPr>
            <a:r>
              <a:t>#2</a:t>
            </a:r>
          </a:p>
        </p:txBody>
      </p:sp>
      <p:sp>
        <p:nvSpPr>
          <p:cNvPr id="19" name="TextBox 18"/>
          <p:cNvSpPr txBox="1"/>
          <p:nvPr/>
        </p:nvSpPr>
        <p:spPr>
          <a:xfrm>
            <a:off x="1280160" y="3108960"/>
            <a:ext cx="4389120" cy="411480"/>
          </a:xfrm>
          <a:prstGeom prst="rect">
            <a:avLst/>
          </a:prstGeom>
          <a:noFill/>
        </p:spPr>
        <p:txBody>
          <a:bodyPr wrap="square">
            <a:spAutoFit/>
          </a:bodyPr>
          <a:lstStyle/>
          <a:p>
            <a:pPr algn="l">
              <a:defRPr sz="1000" b="0">
                <a:solidFill>
                  <a:srgbClr val="374151"/>
                </a:solidFill>
                <a:latin typeface="Calibri"/>
              </a:defRPr>
            </a:pPr>
            <a:r>
              <a:t>Sell toggle accessible with 0 oz holdings</a:t>
            </a:r>
          </a:p>
        </p:txBody>
      </p:sp>
      <p:sp>
        <p:nvSpPr>
          <p:cNvPr id="20" name="Rounded Rectangle 19"/>
          <p:cNvSpPr/>
          <p:nvPr/>
        </p:nvSpPr>
        <p:spPr>
          <a:xfrm>
            <a:off x="5852160" y="315468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21" name="TextBox 20"/>
          <p:cNvSpPr txBox="1"/>
          <p:nvPr/>
        </p:nvSpPr>
        <p:spPr>
          <a:xfrm>
            <a:off x="7223760" y="3108960"/>
            <a:ext cx="4389120" cy="411480"/>
          </a:xfrm>
          <a:prstGeom prst="rect">
            <a:avLst/>
          </a:prstGeom>
          <a:noFill/>
        </p:spPr>
        <p:txBody>
          <a:bodyPr wrap="square">
            <a:spAutoFit/>
          </a:bodyPr>
          <a:lstStyle/>
          <a:p>
            <a:pPr algn="l">
              <a:defRPr sz="900" b="0">
                <a:solidFill>
                  <a:srgbClr val="6B7280"/>
                </a:solidFill>
                <a:latin typeface="Calibri"/>
              </a:defRPr>
            </a:pPr>
            <a:r>
              <a:t>Inline message + "Buy [Metal]" CTA.</a:t>
            </a:r>
          </a:p>
        </p:txBody>
      </p:sp>
      <p:sp>
        <p:nvSpPr>
          <p:cNvPr id="22" name="Rounded Rectangle 21"/>
          <p:cNvSpPr/>
          <p:nvPr/>
        </p:nvSpPr>
        <p:spPr>
          <a:xfrm>
            <a:off x="731520" y="361188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657600"/>
            <a:ext cx="365760" cy="274320"/>
          </a:xfrm>
          <a:prstGeom prst="rect">
            <a:avLst/>
          </a:prstGeom>
          <a:noFill/>
        </p:spPr>
        <p:txBody>
          <a:bodyPr wrap="square">
            <a:spAutoFit/>
          </a:bodyPr>
          <a:lstStyle/>
          <a:p>
            <a:pPr algn="l">
              <a:defRPr sz="1100" b="1">
                <a:solidFill>
                  <a:srgbClr val="1A1A2E"/>
                </a:solidFill>
                <a:latin typeface="Calibri"/>
              </a:defRPr>
            </a:pPr>
            <a:r>
              <a:t>#3</a:t>
            </a:r>
          </a:p>
        </p:txBody>
      </p:sp>
      <p:sp>
        <p:nvSpPr>
          <p:cNvPr id="24" name="TextBox 23"/>
          <p:cNvSpPr txBox="1"/>
          <p:nvPr/>
        </p:nvSpPr>
        <p:spPr>
          <a:xfrm>
            <a:off x="1280160" y="3657600"/>
            <a:ext cx="4389120" cy="411480"/>
          </a:xfrm>
          <a:prstGeom prst="rect">
            <a:avLst/>
          </a:prstGeom>
          <a:noFill/>
        </p:spPr>
        <p:txBody>
          <a:bodyPr wrap="square">
            <a:spAutoFit/>
          </a:bodyPr>
          <a:lstStyle/>
          <a:p>
            <a:pPr algn="l">
              <a:defRPr sz="1000" b="0">
                <a:solidFill>
                  <a:srgbClr val="374151"/>
                </a:solidFill>
                <a:latin typeface="Calibri"/>
              </a:defRPr>
            </a:pPr>
            <a:r>
              <a:t>Currency selector cognitive load</a:t>
            </a:r>
          </a:p>
        </p:txBody>
      </p:sp>
      <p:sp>
        <p:nvSpPr>
          <p:cNvPr id="25" name="Rounded Rectangle 24"/>
          <p:cNvSpPr/>
          <p:nvPr/>
        </p:nvSpPr>
        <p:spPr>
          <a:xfrm>
            <a:off x="5852160" y="3703320"/>
            <a:ext cx="118872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PARTIALLY FIXED</a:t>
            </a:r>
          </a:p>
        </p:txBody>
      </p:sp>
      <p:sp>
        <p:nvSpPr>
          <p:cNvPr id="26" name="TextBox 25"/>
          <p:cNvSpPr txBox="1"/>
          <p:nvPr/>
        </p:nvSpPr>
        <p:spPr>
          <a:xfrm>
            <a:off x="7223760" y="3657600"/>
            <a:ext cx="4389120" cy="411480"/>
          </a:xfrm>
          <a:prstGeom prst="rect">
            <a:avLst/>
          </a:prstGeom>
          <a:noFill/>
        </p:spPr>
        <p:txBody>
          <a:bodyPr wrap="square">
            <a:spAutoFit/>
          </a:bodyPr>
          <a:lstStyle/>
          <a:p>
            <a:pPr algn="l">
              <a:defRPr sz="900" b="0">
                <a:solidFill>
                  <a:srgbClr val="6B7280"/>
                </a:solidFill>
                <a:latin typeface="Calibri"/>
              </a:defRPr>
            </a:pPr>
            <a:r>
              <a:t>Conversion info added, but still upfront. See new #4.</a:t>
            </a:r>
          </a:p>
        </p:txBody>
      </p:sp>
      <p:sp>
        <p:nvSpPr>
          <p:cNvPr id="27" name="Rounded Rectangle 26"/>
          <p:cNvSpPr/>
          <p:nvPr/>
        </p:nvSpPr>
        <p:spPr>
          <a:xfrm>
            <a:off x="731520" y="416052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206240"/>
            <a:ext cx="365760" cy="274320"/>
          </a:xfrm>
          <a:prstGeom prst="rect">
            <a:avLst/>
          </a:prstGeom>
          <a:noFill/>
        </p:spPr>
        <p:txBody>
          <a:bodyPr wrap="square">
            <a:spAutoFit/>
          </a:bodyPr>
          <a:lstStyle/>
          <a:p>
            <a:pPr algn="l">
              <a:defRPr sz="1100" b="1">
                <a:solidFill>
                  <a:srgbClr val="1A1A2E"/>
                </a:solidFill>
                <a:latin typeface="Calibri"/>
              </a:defRPr>
            </a:pPr>
            <a:r>
              <a:t>#4</a:t>
            </a:r>
          </a:p>
        </p:txBody>
      </p:sp>
      <p:sp>
        <p:nvSpPr>
          <p:cNvPr id="29" name="TextBox 28"/>
          <p:cNvSpPr txBox="1"/>
          <p:nvPr/>
        </p:nvSpPr>
        <p:spPr>
          <a:xfrm>
            <a:off x="1280160" y="4206240"/>
            <a:ext cx="4389120" cy="411480"/>
          </a:xfrm>
          <a:prstGeom prst="rect">
            <a:avLst/>
          </a:prstGeom>
          <a:noFill/>
        </p:spPr>
        <p:txBody>
          <a:bodyPr wrap="square">
            <a:spAutoFit/>
          </a:bodyPr>
          <a:lstStyle/>
          <a:p>
            <a:pPr algn="l">
              <a:defRPr sz="1000" b="0">
                <a:solidFill>
                  <a:srgbClr val="374151"/>
                </a:solidFill>
                <a:latin typeface="Calibri"/>
              </a:defRPr>
            </a:pPr>
            <a:r>
              <a:t>No prefers-reduced-motion</a:t>
            </a:r>
          </a:p>
        </p:txBody>
      </p:sp>
      <p:sp>
        <p:nvSpPr>
          <p:cNvPr id="30" name="Rounded Rectangle 29"/>
          <p:cNvSpPr/>
          <p:nvPr/>
        </p:nvSpPr>
        <p:spPr>
          <a:xfrm>
            <a:off x="5852160" y="425196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31" name="TextBox 30"/>
          <p:cNvSpPr txBox="1"/>
          <p:nvPr/>
        </p:nvSpPr>
        <p:spPr>
          <a:xfrm>
            <a:off x="7223760" y="4206240"/>
            <a:ext cx="4389120" cy="411480"/>
          </a:xfrm>
          <a:prstGeom prst="rect">
            <a:avLst/>
          </a:prstGeom>
          <a:noFill/>
        </p:spPr>
        <p:txBody>
          <a:bodyPr wrap="square">
            <a:spAutoFit/>
          </a:bodyPr>
          <a:lstStyle/>
          <a:p>
            <a:pPr algn="l">
              <a:defRPr sz="900" b="0">
                <a:solidFill>
                  <a:srgbClr val="6B7280"/>
                </a:solidFill>
                <a:latin typeface="Calibri"/>
              </a:defRPr>
            </a:pPr>
            <a:r>
              <a:t>Global media query added.</a:t>
            </a:r>
          </a:p>
        </p:txBody>
      </p:sp>
      <p:sp>
        <p:nvSpPr>
          <p:cNvPr id="32" name="Rounded Rectangle 31"/>
          <p:cNvSpPr/>
          <p:nvPr/>
        </p:nvSpPr>
        <p:spPr>
          <a:xfrm>
            <a:off x="731520" y="470916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754880"/>
            <a:ext cx="365760" cy="274320"/>
          </a:xfrm>
          <a:prstGeom prst="rect">
            <a:avLst/>
          </a:prstGeom>
          <a:noFill/>
        </p:spPr>
        <p:txBody>
          <a:bodyPr wrap="square">
            <a:spAutoFit/>
          </a:bodyPr>
          <a:lstStyle/>
          <a:p>
            <a:pPr algn="l">
              <a:defRPr sz="1100" b="1">
                <a:solidFill>
                  <a:srgbClr val="1A1A2E"/>
                </a:solidFill>
                <a:latin typeface="Calibri"/>
              </a:defRPr>
            </a:pPr>
            <a:r>
              <a:t>#5</a:t>
            </a:r>
          </a:p>
        </p:txBody>
      </p:sp>
      <p:sp>
        <p:nvSpPr>
          <p:cNvPr id="34" name="TextBox 33"/>
          <p:cNvSpPr txBox="1"/>
          <p:nvPr/>
        </p:nvSpPr>
        <p:spPr>
          <a:xfrm>
            <a:off x="1280160" y="4754880"/>
            <a:ext cx="4389120" cy="411480"/>
          </a:xfrm>
          <a:prstGeom prst="rect">
            <a:avLst/>
          </a:prstGeom>
          <a:noFill/>
        </p:spPr>
        <p:txBody>
          <a:bodyPr wrap="square">
            <a:spAutoFit/>
          </a:bodyPr>
          <a:lstStyle/>
          <a:p>
            <a:pPr algn="l">
              <a:defRPr sz="1000" b="0">
                <a:solidFill>
                  <a:srgbClr val="374151"/>
                </a:solidFill>
                <a:latin typeface="Calibri"/>
              </a:defRPr>
            </a:pPr>
            <a:r>
              <a:t>Muted text contrast ~3.5:1</a:t>
            </a:r>
          </a:p>
        </p:txBody>
      </p:sp>
      <p:sp>
        <p:nvSpPr>
          <p:cNvPr id="35" name="Rounded Rectangle 34"/>
          <p:cNvSpPr/>
          <p:nvPr/>
        </p:nvSpPr>
        <p:spPr>
          <a:xfrm>
            <a:off x="5852160" y="480060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36" name="TextBox 35"/>
          <p:cNvSpPr txBox="1"/>
          <p:nvPr/>
        </p:nvSpPr>
        <p:spPr>
          <a:xfrm>
            <a:off x="7223760" y="4754880"/>
            <a:ext cx="4389120" cy="411480"/>
          </a:xfrm>
          <a:prstGeom prst="rect">
            <a:avLst/>
          </a:prstGeom>
          <a:noFill/>
        </p:spPr>
        <p:txBody>
          <a:bodyPr wrap="square">
            <a:spAutoFit/>
          </a:bodyPr>
          <a:lstStyle/>
          <a:p>
            <a:pPr algn="l">
              <a:defRPr sz="900" b="0">
                <a:solidFill>
                  <a:srgbClr val="6B7280"/>
                </a:solidFill>
                <a:latin typeface="Calibri"/>
              </a:defRPr>
            </a:pPr>
            <a:r>
              <a:t>Now 6.76:1 on white, 5.74:1 on muted.</a:t>
            </a:r>
          </a:p>
        </p:txBody>
      </p:sp>
      <p:sp>
        <p:nvSpPr>
          <p:cNvPr id="37" name="Rounded Rectangle 36"/>
          <p:cNvSpPr/>
          <p:nvPr/>
        </p:nvSpPr>
        <p:spPr>
          <a:xfrm>
            <a:off x="731520" y="525780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03520"/>
            <a:ext cx="365760" cy="274320"/>
          </a:xfrm>
          <a:prstGeom prst="rect">
            <a:avLst/>
          </a:prstGeom>
          <a:noFill/>
        </p:spPr>
        <p:txBody>
          <a:bodyPr wrap="square">
            <a:spAutoFit/>
          </a:bodyPr>
          <a:lstStyle/>
          <a:p>
            <a:pPr algn="l">
              <a:defRPr sz="1100" b="1">
                <a:solidFill>
                  <a:srgbClr val="1A1A2E"/>
                </a:solidFill>
                <a:latin typeface="Calibri"/>
              </a:defRPr>
            </a:pPr>
            <a:r>
              <a:t>#6</a:t>
            </a:r>
          </a:p>
        </p:txBody>
      </p:sp>
      <p:sp>
        <p:nvSpPr>
          <p:cNvPr id="39" name="TextBox 38"/>
          <p:cNvSpPr txBox="1"/>
          <p:nvPr/>
        </p:nvSpPr>
        <p:spPr>
          <a:xfrm>
            <a:off x="1280160" y="5303520"/>
            <a:ext cx="4389120" cy="411480"/>
          </a:xfrm>
          <a:prstGeom prst="rect">
            <a:avLst/>
          </a:prstGeom>
          <a:noFill/>
        </p:spPr>
        <p:txBody>
          <a:bodyPr wrap="square">
            <a:spAutoFit/>
          </a:bodyPr>
          <a:lstStyle/>
          <a:p>
            <a:pPr algn="l">
              <a:defRPr sz="1000" b="0">
                <a:solidFill>
                  <a:srgbClr val="374151"/>
                </a:solidFill>
                <a:latin typeface="Calibri"/>
              </a:defRPr>
            </a:pPr>
            <a:r>
              <a:t>Button/input height 36px</a:t>
            </a:r>
          </a:p>
        </p:txBody>
      </p:sp>
      <p:sp>
        <p:nvSpPr>
          <p:cNvPr id="40" name="Rounded Rectangle 39"/>
          <p:cNvSpPr/>
          <p:nvPr/>
        </p:nvSpPr>
        <p:spPr>
          <a:xfrm>
            <a:off x="5852160" y="5349240"/>
            <a:ext cx="118872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NOT FIXED</a:t>
            </a:r>
          </a:p>
        </p:txBody>
      </p:sp>
      <p:sp>
        <p:nvSpPr>
          <p:cNvPr id="41" name="TextBox 40"/>
          <p:cNvSpPr txBox="1"/>
          <p:nvPr/>
        </p:nvSpPr>
        <p:spPr>
          <a:xfrm>
            <a:off x="7223760" y="5303520"/>
            <a:ext cx="4389120" cy="411480"/>
          </a:xfrm>
          <a:prstGeom prst="rect">
            <a:avLst/>
          </a:prstGeom>
          <a:noFill/>
        </p:spPr>
        <p:txBody>
          <a:bodyPr wrap="square">
            <a:spAutoFit/>
          </a:bodyPr>
          <a:lstStyle/>
          <a:p>
            <a:pPr algn="l">
              <a:defRPr sz="900" b="0">
                <a:solidFill>
                  <a:srgbClr val="6B7280"/>
                </a:solidFill>
                <a:latin typeface="Calibri"/>
              </a:defRPr>
            </a:pPr>
            <a:r>
              <a:t>Still h-9 (36px). See new #1.</a:t>
            </a:r>
          </a:p>
        </p:txBody>
      </p:sp>
      <p:sp>
        <p:nvSpPr>
          <p:cNvPr id="42" name="Rounded Rectangle 41"/>
          <p:cNvSpPr/>
          <p:nvPr/>
        </p:nvSpPr>
        <p:spPr>
          <a:xfrm>
            <a:off x="731520" y="580644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 y="5852160"/>
            <a:ext cx="365760" cy="274320"/>
          </a:xfrm>
          <a:prstGeom prst="rect">
            <a:avLst/>
          </a:prstGeom>
          <a:noFill/>
        </p:spPr>
        <p:txBody>
          <a:bodyPr wrap="square">
            <a:spAutoFit/>
          </a:bodyPr>
          <a:lstStyle/>
          <a:p>
            <a:pPr algn="l">
              <a:defRPr sz="1100" b="1">
                <a:solidFill>
                  <a:srgbClr val="1A1A2E"/>
                </a:solidFill>
                <a:latin typeface="Calibri"/>
              </a:defRPr>
            </a:pPr>
            <a:r>
              <a:t>#7</a:t>
            </a:r>
          </a:p>
        </p:txBody>
      </p:sp>
      <p:sp>
        <p:nvSpPr>
          <p:cNvPr id="44" name="TextBox 43"/>
          <p:cNvSpPr txBox="1"/>
          <p:nvPr/>
        </p:nvSpPr>
        <p:spPr>
          <a:xfrm>
            <a:off x="1280160" y="5852160"/>
            <a:ext cx="4389120" cy="411480"/>
          </a:xfrm>
          <a:prstGeom prst="rect">
            <a:avLst/>
          </a:prstGeom>
          <a:noFill/>
        </p:spPr>
        <p:txBody>
          <a:bodyPr wrap="square">
            <a:spAutoFit/>
          </a:bodyPr>
          <a:lstStyle/>
          <a:p>
            <a:pPr algn="l">
              <a:defRPr sz="1000" b="0">
                <a:solidFill>
                  <a:srgbClr val="374151"/>
                </a:solidFill>
                <a:latin typeface="Calibri"/>
              </a:defRPr>
            </a:pPr>
            <a:r>
              <a:t>All metal cards equal weight</a:t>
            </a:r>
          </a:p>
        </p:txBody>
      </p:sp>
      <p:sp>
        <p:nvSpPr>
          <p:cNvPr id="45" name="Rounded Rectangle 44"/>
          <p:cNvSpPr/>
          <p:nvPr/>
        </p:nvSpPr>
        <p:spPr>
          <a:xfrm>
            <a:off x="5852160" y="589788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46" name="TextBox 45"/>
          <p:cNvSpPr txBox="1"/>
          <p:nvPr/>
        </p:nvSpPr>
        <p:spPr>
          <a:xfrm>
            <a:off x="7223760" y="5852160"/>
            <a:ext cx="4389120" cy="411480"/>
          </a:xfrm>
          <a:prstGeom prst="rect">
            <a:avLst/>
          </a:prstGeom>
          <a:noFill/>
        </p:spPr>
        <p:txBody>
          <a:bodyPr wrap="square">
            <a:spAutoFit/>
          </a:bodyPr>
          <a:lstStyle/>
          <a:p>
            <a:pPr algn="l">
              <a:defRPr sz="900" b="0">
                <a:solidFill>
                  <a:srgbClr val="6B7280"/>
                </a:solidFill>
                <a:latin typeface="Calibri"/>
              </a:defRPr>
            </a:pPr>
            <a:r>
              <a:t>"Most Popular" badge on Gold.</a:t>
            </a:r>
          </a:p>
        </p:txBody>
      </p:sp>
      <p:sp>
        <p:nvSpPr>
          <p:cNvPr id="47" name="Rounded Rectangle 46"/>
          <p:cNvSpPr/>
          <p:nvPr/>
        </p:nvSpPr>
        <p:spPr>
          <a:xfrm>
            <a:off x="731520" y="635508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6400800"/>
            <a:ext cx="365760" cy="274320"/>
          </a:xfrm>
          <a:prstGeom prst="rect">
            <a:avLst/>
          </a:prstGeom>
          <a:noFill/>
        </p:spPr>
        <p:txBody>
          <a:bodyPr wrap="square">
            <a:spAutoFit/>
          </a:bodyPr>
          <a:lstStyle/>
          <a:p>
            <a:pPr algn="l">
              <a:defRPr sz="1100" b="1">
                <a:solidFill>
                  <a:srgbClr val="1A1A2E"/>
                </a:solidFill>
                <a:latin typeface="Calibri"/>
              </a:defRPr>
            </a:pPr>
            <a:r>
              <a:t>#8</a:t>
            </a:r>
          </a:p>
        </p:txBody>
      </p:sp>
      <p:sp>
        <p:nvSpPr>
          <p:cNvPr id="49" name="TextBox 48"/>
          <p:cNvSpPr txBox="1"/>
          <p:nvPr/>
        </p:nvSpPr>
        <p:spPr>
          <a:xfrm>
            <a:off x="1280160" y="6400800"/>
            <a:ext cx="4389120" cy="411480"/>
          </a:xfrm>
          <a:prstGeom prst="rect">
            <a:avLst/>
          </a:prstGeom>
          <a:noFill/>
        </p:spPr>
        <p:txBody>
          <a:bodyPr wrap="square">
            <a:spAutoFit/>
          </a:bodyPr>
          <a:lstStyle/>
          <a:p>
            <a:pPr algn="l">
              <a:defRPr sz="1000" b="0">
                <a:solidFill>
                  <a:srgbClr val="374151"/>
                </a:solidFill>
                <a:latin typeface="Calibri"/>
              </a:defRPr>
            </a:pPr>
            <a:r>
              <a:t>Amount field label ambiguous</a:t>
            </a:r>
          </a:p>
        </p:txBody>
      </p:sp>
      <p:sp>
        <p:nvSpPr>
          <p:cNvPr id="50" name="Rounded Rectangle 49"/>
          <p:cNvSpPr/>
          <p:nvPr/>
        </p:nvSpPr>
        <p:spPr>
          <a:xfrm>
            <a:off x="5852160" y="644652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51" name="TextBox 50"/>
          <p:cNvSpPr txBox="1"/>
          <p:nvPr/>
        </p:nvSpPr>
        <p:spPr>
          <a:xfrm>
            <a:off x="7223760" y="6400800"/>
            <a:ext cx="4389120" cy="411480"/>
          </a:xfrm>
          <a:prstGeom prst="rect">
            <a:avLst/>
          </a:prstGeom>
          <a:noFill/>
        </p:spPr>
        <p:txBody>
          <a:bodyPr wrap="square">
            <a:spAutoFit/>
          </a:bodyPr>
          <a:lstStyle/>
          <a:p>
            <a:pPr algn="l">
              <a:defRPr sz="900" b="0">
                <a:solidFill>
                  <a:srgbClr val="6B7280"/>
                </a:solidFill>
                <a:latin typeface="Calibri"/>
              </a:defRPr>
            </a:pPr>
            <a:r>
              <a:t>"Amount to Invest" + "You'll receive ~X.XX ounce".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Finding Resolution Status (cont.)</a:t>
            </a:r>
          </a:p>
        </p:txBody>
      </p:sp>
      <p:sp>
        <p:nvSpPr>
          <p:cNvPr id="3" name="TextBox 2"/>
          <p:cNvSpPr txBox="1"/>
          <p:nvPr/>
        </p:nvSpPr>
        <p:spPr>
          <a:xfrm>
            <a:off x="731520" y="1188720"/>
            <a:ext cx="457200" cy="32004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188720"/>
            <a:ext cx="4572000" cy="320040"/>
          </a:xfrm>
          <a:prstGeom prst="rect">
            <a:avLst/>
          </a:prstGeom>
          <a:noFill/>
        </p:spPr>
        <p:txBody>
          <a:bodyPr wrap="square">
            <a:spAutoFit/>
          </a:bodyPr>
          <a:lstStyle/>
          <a:p>
            <a:pPr algn="l">
              <a:defRPr sz="900" b="1">
                <a:solidFill>
                  <a:srgbClr val="6B7280"/>
                </a:solidFill>
                <a:latin typeface="Calibri"/>
              </a:defRPr>
            </a:pPr>
            <a:r>
              <a:t>Original Finding</a:t>
            </a:r>
          </a:p>
        </p:txBody>
      </p:sp>
      <p:sp>
        <p:nvSpPr>
          <p:cNvPr id="5" name="TextBox 4"/>
          <p:cNvSpPr txBox="1"/>
          <p:nvPr/>
        </p:nvSpPr>
        <p:spPr>
          <a:xfrm>
            <a:off x="5760720" y="1188720"/>
            <a:ext cx="1371600" cy="320040"/>
          </a:xfrm>
          <a:prstGeom prst="rect">
            <a:avLst/>
          </a:prstGeom>
          <a:noFill/>
        </p:spPr>
        <p:txBody>
          <a:bodyPr wrap="square">
            <a:spAutoFit/>
          </a:bodyPr>
          <a:lstStyle/>
          <a:p>
            <a:pPr algn="l">
              <a:defRPr sz="900" b="1">
                <a:solidFill>
                  <a:srgbClr val="6B7280"/>
                </a:solidFill>
                <a:latin typeface="Calibri"/>
              </a:defRPr>
            </a:pPr>
            <a:r>
              <a:t>Status</a:t>
            </a:r>
          </a:p>
        </p:txBody>
      </p:sp>
      <p:sp>
        <p:nvSpPr>
          <p:cNvPr id="6" name="TextBox 5"/>
          <p:cNvSpPr txBox="1"/>
          <p:nvPr/>
        </p:nvSpPr>
        <p:spPr>
          <a:xfrm>
            <a:off x="7132320" y="1188720"/>
            <a:ext cx="4572000" cy="320040"/>
          </a:xfrm>
          <a:prstGeom prst="rect">
            <a:avLst/>
          </a:prstGeom>
          <a:noFill/>
        </p:spPr>
        <p:txBody>
          <a:bodyPr wrap="square">
            <a:spAutoFit/>
          </a:bodyPr>
          <a:lstStyle/>
          <a:p>
            <a:pPr algn="l">
              <a:defRPr sz="900" b="1">
                <a:solidFill>
                  <a:srgbClr val="6B7280"/>
                </a:solidFill>
                <a:latin typeface="Calibri"/>
              </a:defRPr>
            </a:pPr>
            <a:r>
              <a:t>Notes</a:t>
            </a:r>
          </a:p>
        </p:txBody>
      </p:sp>
      <p:sp>
        <p:nvSpPr>
          <p:cNvPr id="7" name="Rounded Rectangle 6"/>
          <p:cNvSpPr/>
          <p:nvPr/>
        </p:nvSpPr>
        <p:spPr>
          <a:xfrm>
            <a:off x="731520" y="160020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45920"/>
            <a:ext cx="365760" cy="274320"/>
          </a:xfrm>
          <a:prstGeom prst="rect">
            <a:avLst/>
          </a:prstGeom>
          <a:noFill/>
        </p:spPr>
        <p:txBody>
          <a:bodyPr wrap="square">
            <a:spAutoFit/>
          </a:bodyPr>
          <a:lstStyle/>
          <a:p>
            <a:pPr algn="l">
              <a:defRPr sz="1100" b="1">
                <a:solidFill>
                  <a:srgbClr val="1A1A2E"/>
                </a:solidFill>
                <a:latin typeface="Calibri"/>
              </a:defRPr>
            </a:pPr>
            <a:r>
              <a:t>#9</a:t>
            </a:r>
          </a:p>
        </p:txBody>
      </p:sp>
      <p:sp>
        <p:nvSpPr>
          <p:cNvPr id="9" name="TextBox 8"/>
          <p:cNvSpPr txBox="1"/>
          <p:nvPr/>
        </p:nvSpPr>
        <p:spPr>
          <a:xfrm>
            <a:off x="1280160" y="1645920"/>
            <a:ext cx="4389120" cy="411480"/>
          </a:xfrm>
          <a:prstGeom prst="rect">
            <a:avLst/>
          </a:prstGeom>
          <a:noFill/>
        </p:spPr>
        <p:txBody>
          <a:bodyPr wrap="square">
            <a:spAutoFit/>
          </a:bodyPr>
          <a:lstStyle/>
          <a:p>
            <a:pPr algn="l">
              <a:defRPr sz="1000" b="0">
                <a:solidFill>
                  <a:srgbClr val="374151"/>
                </a:solidFill>
                <a:latin typeface="Calibri"/>
              </a:defRPr>
            </a:pPr>
            <a:r>
              <a:t>No fee disclosure on review</a:t>
            </a:r>
          </a:p>
        </p:txBody>
      </p:sp>
      <p:sp>
        <p:nvSpPr>
          <p:cNvPr id="10" name="Rounded Rectangle 9"/>
          <p:cNvSpPr/>
          <p:nvPr/>
        </p:nvSpPr>
        <p:spPr>
          <a:xfrm>
            <a:off x="5852160" y="169164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11" name="TextBox 10"/>
          <p:cNvSpPr txBox="1"/>
          <p:nvPr/>
        </p:nvSpPr>
        <p:spPr>
          <a:xfrm>
            <a:off x="7223760" y="1645920"/>
            <a:ext cx="4389120" cy="411480"/>
          </a:xfrm>
          <a:prstGeom prst="rect">
            <a:avLst/>
          </a:prstGeom>
          <a:noFill/>
        </p:spPr>
        <p:txBody>
          <a:bodyPr wrap="square">
            <a:spAutoFit/>
          </a:bodyPr>
          <a:lstStyle/>
          <a:p>
            <a:pPr algn="l">
              <a:defRPr sz="900" b="0">
                <a:solidFill>
                  <a:srgbClr val="6B7280"/>
                </a:solidFill>
                <a:latin typeface="Calibri"/>
              </a:defRPr>
            </a:pPr>
            <a:r>
              <a:t>Full cost breakdown with explicit "No additional fees".</a:t>
            </a:r>
          </a:p>
        </p:txBody>
      </p:sp>
      <p:sp>
        <p:nvSpPr>
          <p:cNvPr id="12" name="Rounded Rectangle 11"/>
          <p:cNvSpPr/>
          <p:nvPr/>
        </p:nvSpPr>
        <p:spPr>
          <a:xfrm>
            <a:off x="731520" y="214884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194560"/>
            <a:ext cx="365760" cy="274320"/>
          </a:xfrm>
          <a:prstGeom prst="rect">
            <a:avLst/>
          </a:prstGeom>
          <a:noFill/>
        </p:spPr>
        <p:txBody>
          <a:bodyPr wrap="square">
            <a:spAutoFit/>
          </a:bodyPr>
          <a:lstStyle/>
          <a:p>
            <a:pPr algn="l">
              <a:defRPr sz="1100" b="1">
                <a:solidFill>
                  <a:srgbClr val="1A1A2E"/>
                </a:solidFill>
                <a:latin typeface="Calibri"/>
              </a:defRPr>
            </a:pPr>
            <a:r>
              <a:t>#10</a:t>
            </a:r>
          </a:p>
        </p:txBody>
      </p:sp>
      <p:sp>
        <p:nvSpPr>
          <p:cNvPr id="14" name="TextBox 13"/>
          <p:cNvSpPr txBox="1"/>
          <p:nvPr/>
        </p:nvSpPr>
        <p:spPr>
          <a:xfrm>
            <a:off x="1280160" y="2194560"/>
            <a:ext cx="4389120" cy="411480"/>
          </a:xfrm>
          <a:prstGeom prst="rect">
            <a:avLst/>
          </a:prstGeom>
          <a:noFill/>
        </p:spPr>
        <p:txBody>
          <a:bodyPr wrap="square">
            <a:spAutoFit/>
          </a:bodyPr>
          <a:lstStyle/>
          <a:p>
            <a:pPr algn="l">
              <a:defRPr sz="1000" b="0">
                <a:solidFill>
                  <a:srgbClr val="374151"/>
                </a:solidFill>
                <a:latin typeface="Calibri"/>
              </a:defRPr>
            </a:pPr>
            <a:r>
              <a:t>Confirm button no loading state</a:t>
            </a:r>
          </a:p>
        </p:txBody>
      </p:sp>
      <p:sp>
        <p:nvSpPr>
          <p:cNvPr id="15" name="Rounded Rectangle 14"/>
          <p:cNvSpPr/>
          <p:nvPr/>
        </p:nvSpPr>
        <p:spPr>
          <a:xfrm>
            <a:off x="5852160" y="224028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16" name="TextBox 15"/>
          <p:cNvSpPr txBox="1"/>
          <p:nvPr/>
        </p:nvSpPr>
        <p:spPr>
          <a:xfrm>
            <a:off x="7223760" y="2194560"/>
            <a:ext cx="4389120" cy="411480"/>
          </a:xfrm>
          <a:prstGeom prst="rect">
            <a:avLst/>
          </a:prstGeom>
          <a:noFill/>
        </p:spPr>
        <p:txBody>
          <a:bodyPr wrap="square">
            <a:spAutoFit/>
          </a:bodyPr>
          <a:lstStyle/>
          <a:p>
            <a:pPr algn="l">
              <a:defRPr sz="900" b="0">
                <a:solidFill>
                  <a:srgbClr val="6B7280"/>
                </a:solidFill>
                <a:latin typeface="Calibri"/>
              </a:defRPr>
            </a:pPr>
            <a:r>
              <a:t>"Processing..." spinner added, button disabled.</a:t>
            </a:r>
          </a:p>
        </p:txBody>
      </p:sp>
      <p:sp>
        <p:nvSpPr>
          <p:cNvPr id="17" name="Rounded Rectangle 16"/>
          <p:cNvSpPr/>
          <p:nvPr/>
        </p:nvSpPr>
        <p:spPr>
          <a:xfrm>
            <a:off x="731520" y="269748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743200"/>
            <a:ext cx="365760" cy="274320"/>
          </a:xfrm>
          <a:prstGeom prst="rect">
            <a:avLst/>
          </a:prstGeom>
          <a:noFill/>
        </p:spPr>
        <p:txBody>
          <a:bodyPr wrap="square">
            <a:spAutoFit/>
          </a:bodyPr>
          <a:lstStyle/>
          <a:p>
            <a:pPr algn="l">
              <a:defRPr sz="1100" b="1">
                <a:solidFill>
                  <a:srgbClr val="1A1A2E"/>
                </a:solidFill>
                <a:latin typeface="Calibri"/>
              </a:defRPr>
            </a:pPr>
            <a:r>
              <a:t>#11</a:t>
            </a:r>
          </a:p>
        </p:txBody>
      </p:sp>
      <p:sp>
        <p:nvSpPr>
          <p:cNvPr id="19" name="TextBox 18"/>
          <p:cNvSpPr txBox="1"/>
          <p:nvPr/>
        </p:nvSpPr>
        <p:spPr>
          <a:xfrm>
            <a:off x="1280160" y="2743200"/>
            <a:ext cx="4389120" cy="411480"/>
          </a:xfrm>
          <a:prstGeom prst="rect">
            <a:avLst/>
          </a:prstGeom>
          <a:noFill/>
        </p:spPr>
        <p:txBody>
          <a:bodyPr wrap="square">
            <a:spAutoFit/>
          </a:bodyPr>
          <a:lstStyle/>
          <a:p>
            <a:pPr algn="l">
              <a:defRPr sz="1000" b="0">
                <a:solidFill>
                  <a:srgbClr val="374151"/>
                </a:solidFill>
                <a:latin typeface="Calibri"/>
              </a:defRPr>
            </a:pPr>
            <a:r>
              <a:t>Empty state CTA vague</a:t>
            </a:r>
          </a:p>
        </p:txBody>
      </p:sp>
      <p:sp>
        <p:nvSpPr>
          <p:cNvPr id="20" name="Rounded Rectangle 19"/>
          <p:cNvSpPr/>
          <p:nvPr/>
        </p:nvSpPr>
        <p:spPr>
          <a:xfrm>
            <a:off x="5852160" y="278892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21" name="TextBox 20"/>
          <p:cNvSpPr txBox="1"/>
          <p:nvPr/>
        </p:nvSpPr>
        <p:spPr>
          <a:xfrm>
            <a:off x="7223760" y="2743200"/>
            <a:ext cx="4389120" cy="411480"/>
          </a:xfrm>
          <a:prstGeom prst="rect">
            <a:avLst/>
          </a:prstGeom>
          <a:noFill/>
        </p:spPr>
        <p:txBody>
          <a:bodyPr wrap="square">
            <a:spAutoFit/>
          </a:bodyPr>
          <a:lstStyle/>
          <a:p>
            <a:pPr algn="l">
              <a:defRPr sz="900" b="0">
                <a:solidFill>
                  <a:srgbClr val="6B7280"/>
                </a:solidFill>
                <a:latin typeface="Calibri"/>
              </a:defRPr>
            </a:pPr>
            <a:r>
              <a:t>"Buy Your First Precious Metal" with direct link.</a:t>
            </a:r>
          </a:p>
        </p:txBody>
      </p:sp>
      <p:sp>
        <p:nvSpPr>
          <p:cNvPr id="22" name="Rounded Rectangle 21"/>
          <p:cNvSpPr/>
          <p:nvPr/>
        </p:nvSpPr>
        <p:spPr>
          <a:xfrm>
            <a:off x="731520" y="324612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291840"/>
            <a:ext cx="365760" cy="274320"/>
          </a:xfrm>
          <a:prstGeom prst="rect">
            <a:avLst/>
          </a:prstGeom>
          <a:noFill/>
        </p:spPr>
        <p:txBody>
          <a:bodyPr wrap="square">
            <a:spAutoFit/>
          </a:bodyPr>
          <a:lstStyle/>
          <a:p>
            <a:pPr algn="l">
              <a:defRPr sz="1100" b="1">
                <a:solidFill>
                  <a:srgbClr val="1A1A2E"/>
                </a:solidFill>
                <a:latin typeface="Calibri"/>
              </a:defRPr>
            </a:pPr>
            <a:r>
              <a:t>#12</a:t>
            </a:r>
          </a:p>
        </p:txBody>
      </p:sp>
      <p:sp>
        <p:nvSpPr>
          <p:cNvPr id="24" name="TextBox 23"/>
          <p:cNvSpPr txBox="1"/>
          <p:nvPr/>
        </p:nvSpPr>
        <p:spPr>
          <a:xfrm>
            <a:off x="1280160" y="3291840"/>
            <a:ext cx="4389120" cy="411480"/>
          </a:xfrm>
          <a:prstGeom prst="rect">
            <a:avLst/>
          </a:prstGeom>
          <a:noFill/>
        </p:spPr>
        <p:txBody>
          <a:bodyPr wrap="square">
            <a:spAutoFit/>
          </a:bodyPr>
          <a:lstStyle/>
          <a:p>
            <a:pPr algn="l">
              <a:defRPr sz="1000" b="0">
                <a:solidFill>
                  <a:srgbClr val="374151"/>
                </a:solidFill>
                <a:latin typeface="Calibri"/>
              </a:defRPr>
            </a:pPr>
            <a:r>
              <a:t>Chart no Y-axis labels</a:t>
            </a:r>
          </a:p>
        </p:txBody>
      </p:sp>
      <p:sp>
        <p:nvSpPr>
          <p:cNvPr id="25" name="Rounded Rectangle 24"/>
          <p:cNvSpPr/>
          <p:nvPr/>
        </p:nvSpPr>
        <p:spPr>
          <a:xfrm>
            <a:off x="5852160" y="333756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26" name="TextBox 25"/>
          <p:cNvSpPr txBox="1"/>
          <p:nvPr/>
        </p:nvSpPr>
        <p:spPr>
          <a:xfrm>
            <a:off x="7223760" y="3291840"/>
            <a:ext cx="4389120" cy="411480"/>
          </a:xfrm>
          <a:prstGeom prst="rect">
            <a:avLst/>
          </a:prstGeom>
          <a:noFill/>
        </p:spPr>
        <p:txBody>
          <a:bodyPr wrap="square">
            <a:spAutoFit/>
          </a:bodyPr>
          <a:lstStyle/>
          <a:p>
            <a:pPr algn="l">
              <a:defRPr sz="900" b="0">
                <a:solidFill>
                  <a:srgbClr val="6B7280"/>
                </a:solidFill>
                <a:latin typeface="Calibri"/>
              </a:defRPr>
            </a:pPr>
            <a:r>
              <a:t>Y-axis price labels and gridlines added.</a:t>
            </a:r>
          </a:p>
        </p:txBody>
      </p:sp>
      <p:sp>
        <p:nvSpPr>
          <p:cNvPr id="27" name="Rounded Rectangle 26"/>
          <p:cNvSpPr/>
          <p:nvPr/>
        </p:nvSpPr>
        <p:spPr>
          <a:xfrm>
            <a:off x="731520" y="379476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840480"/>
            <a:ext cx="365760" cy="274320"/>
          </a:xfrm>
          <a:prstGeom prst="rect">
            <a:avLst/>
          </a:prstGeom>
          <a:noFill/>
        </p:spPr>
        <p:txBody>
          <a:bodyPr wrap="square">
            <a:spAutoFit/>
          </a:bodyPr>
          <a:lstStyle/>
          <a:p>
            <a:pPr algn="l">
              <a:defRPr sz="1100" b="1">
                <a:solidFill>
                  <a:srgbClr val="1A1A2E"/>
                </a:solidFill>
                <a:latin typeface="Calibri"/>
              </a:defRPr>
            </a:pPr>
            <a:r>
              <a:t>#13</a:t>
            </a:r>
          </a:p>
        </p:txBody>
      </p:sp>
      <p:sp>
        <p:nvSpPr>
          <p:cNvPr id="29" name="TextBox 28"/>
          <p:cNvSpPr txBox="1"/>
          <p:nvPr/>
        </p:nvSpPr>
        <p:spPr>
          <a:xfrm>
            <a:off x="1280160" y="3840480"/>
            <a:ext cx="4389120" cy="411480"/>
          </a:xfrm>
          <a:prstGeom prst="rect">
            <a:avLst/>
          </a:prstGeom>
          <a:noFill/>
        </p:spPr>
        <p:txBody>
          <a:bodyPr wrap="square">
            <a:spAutoFit/>
          </a:bodyPr>
          <a:lstStyle/>
          <a:p>
            <a:pPr algn="l">
              <a:defRPr sz="1000" b="0">
                <a:solidFill>
                  <a:srgbClr val="374151"/>
                </a:solidFill>
                <a:latin typeface="Calibri"/>
              </a:defRPr>
            </a:pPr>
            <a:r>
              <a:t>Metal tabs use expert codes</a:t>
            </a:r>
          </a:p>
        </p:txBody>
      </p:sp>
      <p:sp>
        <p:nvSpPr>
          <p:cNvPr id="30" name="Rounded Rectangle 29"/>
          <p:cNvSpPr/>
          <p:nvPr/>
        </p:nvSpPr>
        <p:spPr>
          <a:xfrm>
            <a:off x="5852160" y="388620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31" name="TextBox 30"/>
          <p:cNvSpPr txBox="1"/>
          <p:nvPr/>
        </p:nvSpPr>
        <p:spPr>
          <a:xfrm>
            <a:off x="7223760" y="3840480"/>
            <a:ext cx="4389120" cy="411480"/>
          </a:xfrm>
          <a:prstGeom prst="rect">
            <a:avLst/>
          </a:prstGeom>
          <a:noFill/>
        </p:spPr>
        <p:txBody>
          <a:bodyPr wrap="square">
            <a:spAutoFit/>
          </a:bodyPr>
          <a:lstStyle/>
          <a:p>
            <a:pPr algn="l">
              <a:defRPr sz="900" b="0">
                <a:solidFill>
                  <a:srgbClr val="6B7280"/>
                </a:solidFill>
                <a:latin typeface="Calibri"/>
              </a:defRPr>
            </a:pPr>
            <a:r>
              <a:t>"Gold (XAU)" format, name-first.</a:t>
            </a:r>
          </a:p>
        </p:txBody>
      </p:sp>
      <p:sp>
        <p:nvSpPr>
          <p:cNvPr id="32" name="Rounded Rectangle 31"/>
          <p:cNvSpPr/>
          <p:nvPr/>
        </p:nvSpPr>
        <p:spPr>
          <a:xfrm>
            <a:off x="731520" y="434340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389120"/>
            <a:ext cx="365760" cy="274320"/>
          </a:xfrm>
          <a:prstGeom prst="rect">
            <a:avLst/>
          </a:prstGeom>
          <a:noFill/>
        </p:spPr>
        <p:txBody>
          <a:bodyPr wrap="square">
            <a:spAutoFit/>
          </a:bodyPr>
          <a:lstStyle/>
          <a:p>
            <a:pPr algn="l">
              <a:defRPr sz="1100" b="1">
                <a:solidFill>
                  <a:srgbClr val="1A1A2E"/>
                </a:solidFill>
                <a:latin typeface="Calibri"/>
              </a:defRPr>
            </a:pPr>
            <a:r>
              <a:t>#14</a:t>
            </a:r>
          </a:p>
        </p:txBody>
      </p:sp>
      <p:sp>
        <p:nvSpPr>
          <p:cNvPr id="34" name="TextBox 33"/>
          <p:cNvSpPr txBox="1"/>
          <p:nvPr/>
        </p:nvSpPr>
        <p:spPr>
          <a:xfrm>
            <a:off x="1280160" y="4389120"/>
            <a:ext cx="4389120" cy="411480"/>
          </a:xfrm>
          <a:prstGeom prst="rect">
            <a:avLst/>
          </a:prstGeom>
          <a:noFill/>
        </p:spPr>
        <p:txBody>
          <a:bodyPr wrap="square">
            <a:spAutoFit/>
          </a:bodyPr>
          <a:lstStyle/>
          <a:p>
            <a:pPr algn="l">
              <a:defRPr sz="1000" b="0">
                <a:solidFill>
                  <a:srgbClr val="374151"/>
                </a:solidFill>
                <a:latin typeface="Calibri"/>
              </a:defRPr>
            </a:pPr>
            <a:r>
              <a:t>Order ID truncated UUID</a:t>
            </a:r>
          </a:p>
        </p:txBody>
      </p:sp>
      <p:sp>
        <p:nvSpPr>
          <p:cNvPr id="35" name="Rounded Rectangle 34"/>
          <p:cNvSpPr/>
          <p:nvPr/>
        </p:nvSpPr>
        <p:spPr>
          <a:xfrm>
            <a:off x="5852160" y="4434840"/>
            <a:ext cx="118872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PARTIALLY FIXED</a:t>
            </a:r>
          </a:p>
        </p:txBody>
      </p:sp>
      <p:sp>
        <p:nvSpPr>
          <p:cNvPr id="36" name="TextBox 35"/>
          <p:cNvSpPr txBox="1"/>
          <p:nvPr/>
        </p:nvSpPr>
        <p:spPr>
          <a:xfrm>
            <a:off x="7223760" y="4389120"/>
            <a:ext cx="4389120" cy="411480"/>
          </a:xfrm>
          <a:prstGeom prst="rect">
            <a:avLst/>
          </a:prstGeom>
          <a:noFill/>
        </p:spPr>
        <p:txBody>
          <a:bodyPr wrap="square">
            <a:spAutoFit/>
          </a:bodyPr>
          <a:lstStyle/>
          <a:p>
            <a:pPr algn="l">
              <a:defRPr sz="900" b="0">
                <a:solidFill>
                  <a:srgbClr val="6B7280"/>
                </a:solidFill>
                <a:latin typeface="Calibri"/>
              </a:defRPr>
            </a:pPr>
            <a:r>
              <a:t>Human-readable PM-2026-XXXX, but no download receipt. See new #7.</a:t>
            </a:r>
          </a:p>
        </p:txBody>
      </p:sp>
      <p:sp>
        <p:nvSpPr>
          <p:cNvPr id="37" name="Rounded Rectangle 36"/>
          <p:cNvSpPr/>
          <p:nvPr/>
        </p:nvSpPr>
        <p:spPr>
          <a:xfrm>
            <a:off x="731520" y="489204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937760"/>
            <a:ext cx="365760" cy="274320"/>
          </a:xfrm>
          <a:prstGeom prst="rect">
            <a:avLst/>
          </a:prstGeom>
          <a:noFill/>
        </p:spPr>
        <p:txBody>
          <a:bodyPr wrap="square">
            <a:spAutoFit/>
          </a:bodyPr>
          <a:lstStyle/>
          <a:p>
            <a:pPr algn="l">
              <a:defRPr sz="1100" b="1">
                <a:solidFill>
                  <a:srgbClr val="1A1A2E"/>
                </a:solidFill>
                <a:latin typeface="Calibri"/>
              </a:defRPr>
            </a:pPr>
            <a:r>
              <a:t>#15</a:t>
            </a:r>
          </a:p>
        </p:txBody>
      </p:sp>
      <p:sp>
        <p:nvSpPr>
          <p:cNvPr id="39" name="TextBox 38"/>
          <p:cNvSpPr txBox="1"/>
          <p:nvPr/>
        </p:nvSpPr>
        <p:spPr>
          <a:xfrm>
            <a:off x="1280160" y="4937760"/>
            <a:ext cx="4389120" cy="411480"/>
          </a:xfrm>
          <a:prstGeom prst="rect">
            <a:avLst/>
          </a:prstGeom>
          <a:noFill/>
        </p:spPr>
        <p:txBody>
          <a:bodyPr wrap="square">
            <a:spAutoFit/>
          </a:bodyPr>
          <a:lstStyle/>
          <a:p>
            <a:pPr algn="l">
              <a:defRPr sz="1000" b="0">
                <a:solidFill>
                  <a:srgbClr val="374151"/>
                </a:solidFill>
                <a:latin typeface="Calibri"/>
              </a:defRPr>
            </a:pPr>
            <a:r>
              <a:t>Trade nav goes to Gold directly</a:t>
            </a:r>
          </a:p>
        </p:txBody>
      </p:sp>
      <p:sp>
        <p:nvSpPr>
          <p:cNvPr id="40" name="Rounded Rectangle 39"/>
          <p:cNvSpPr/>
          <p:nvPr/>
        </p:nvSpPr>
        <p:spPr>
          <a:xfrm>
            <a:off x="5852160" y="498348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41" name="TextBox 40"/>
          <p:cNvSpPr txBox="1"/>
          <p:nvPr/>
        </p:nvSpPr>
        <p:spPr>
          <a:xfrm>
            <a:off x="7223760" y="4937760"/>
            <a:ext cx="4389120" cy="411480"/>
          </a:xfrm>
          <a:prstGeom prst="rect">
            <a:avLst/>
          </a:prstGeom>
          <a:noFill/>
        </p:spPr>
        <p:txBody>
          <a:bodyPr wrap="square">
            <a:spAutoFit/>
          </a:bodyPr>
          <a:lstStyle/>
          <a:p>
            <a:pPr algn="l">
              <a:defRPr sz="900" b="0">
                <a:solidFill>
                  <a:srgbClr val="6B7280"/>
                </a:solidFill>
                <a:latin typeface="Calibri"/>
              </a:defRPr>
            </a:pPr>
            <a:r>
              <a:t>Dropdown with all 4 metals.</a:t>
            </a:r>
          </a:p>
        </p:txBody>
      </p:sp>
      <p:sp>
        <p:nvSpPr>
          <p:cNvPr id="42" name="Rounded Rectangle 41"/>
          <p:cNvSpPr/>
          <p:nvPr/>
        </p:nvSpPr>
        <p:spPr>
          <a:xfrm>
            <a:off x="731520" y="544068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 y="5486400"/>
            <a:ext cx="365760" cy="274320"/>
          </a:xfrm>
          <a:prstGeom prst="rect">
            <a:avLst/>
          </a:prstGeom>
          <a:noFill/>
        </p:spPr>
        <p:txBody>
          <a:bodyPr wrap="square">
            <a:spAutoFit/>
          </a:bodyPr>
          <a:lstStyle/>
          <a:p>
            <a:pPr algn="l">
              <a:defRPr sz="1100" b="1">
                <a:solidFill>
                  <a:srgbClr val="1A1A2E"/>
                </a:solidFill>
                <a:latin typeface="Calibri"/>
              </a:defRPr>
            </a:pPr>
            <a:r>
              <a:t>#16</a:t>
            </a:r>
          </a:p>
        </p:txBody>
      </p:sp>
      <p:sp>
        <p:nvSpPr>
          <p:cNvPr id="44" name="TextBox 43"/>
          <p:cNvSpPr txBox="1"/>
          <p:nvPr/>
        </p:nvSpPr>
        <p:spPr>
          <a:xfrm>
            <a:off x="1280160" y="5486400"/>
            <a:ext cx="4389120" cy="411480"/>
          </a:xfrm>
          <a:prstGeom prst="rect">
            <a:avLst/>
          </a:prstGeom>
          <a:noFill/>
        </p:spPr>
        <p:txBody>
          <a:bodyPr wrap="square">
            <a:spAutoFit/>
          </a:bodyPr>
          <a:lstStyle/>
          <a:p>
            <a:pPr algn="l">
              <a:defRPr sz="1000" b="0">
                <a:solidFill>
                  <a:srgbClr val="374151"/>
                </a:solidFill>
                <a:latin typeface="Calibri"/>
              </a:defRPr>
            </a:pPr>
            <a:r>
              <a:t>No cross-metal comparison</a:t>
            </a:r>
          </a:p>
        </p:txBody>
      </p:sp>
      <p:sp>
        <p:nvSpPr>
          <p:cNvPr id="45" name="Rounded Rectangle 44"/>
          <p:cNvSpPr/>
          <p:nvPr/>
        </p:nvSpPr>
        <p:spPr>
          <a:xfrm>
            <a:off x="5852160" y="553212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46" name="TextBox 45"/>
          <p:cNvSpPr txBox="1"/>
          <p:nvPr/>
        </p:nvSpPr>
        <p:spPr>
          <a:xfrm>
            <a:off x="7223760" y="5486400"/>
            <a:ext cx="4389120" cy="411480"/>
          </a:xfrm>
          <a:prstGeom prst="rect">
            <a:avLst/>
          </a:prstGeom>
          <a:noFill/>
        </p:spPr>
        <p:txBody>
          <a:bodyPr wrap="square">
            <a:spAutoFit/>
          </a:bodyPr>
          <a:lstStyle/>
          <a:p>
            <a:pPr algn="l">
              <a:defRPr sz="900" b="0">
                <a:solidFill>
                  <a:srgbClr val="6B7280"/>
                </a:solidFill>
                <a:latin typeface="Calibri"/>
              </a:defRPr>
            </a:pPr>
            <a:r>
              <a:t>"Compare All Metals" table added.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Finding Resolution Status (cont.)</a:t>
            </a:r>
          </a:p>
        </p:txBody>
      </p:sp>
      <p:sp>
        <p:nvSpPr>
          <p:cNvPr id="3" name="TextBox 2"/>
          <p:cNvSpPr txBox="1"/>
          <p:nvPr/>
        </p:nvSpPr>
        <p:spPr>
          <a:xfrm>
            <a:off x="731520" y="1188720"/>
            <a:ext cx="457200" cy="32004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188720"/>
            <a:ext cx="4572000" cy="320040"/>
          </a:xfrm>
          <a:prstGeom prst="rect">
            <a:avLst/>
          </a:prstGeom>
          <a:noFill/>
        </p:spPr>
        <p:txBody>
          <a:bodyPr wrap="square">
            <a:spAutoFit/>
          </a:bodyPr>
          <a:lstStyle/>
          <a:p>
            <a:pPr algn="l">
              <a:defRPr sz="900" b="1">
                <a:solidFill>
                  <a:srgbClr val="6B7280"/>
                </a:solidFill>
                <a:latin typeface="Calibri"/>
              </a:defRPr>
            </a:pPr>
            <a:r>
              <a:t>Original Finding</a:t>
            </a:r>
          </a:p>
        </p:txBody>
      </p:sp>
      <p:sp>
        <p:nvSpPr>
          <p:cNvPr id="5" name="TextBox 4"/>
          <p:cNvSpPr txBox="1"/>
          <p:nvPr/>
        </p:nvSpPr>
        <p:spPr>
          <a:xfrm>
            <a:off x="5760720" y="1188720"/>
            <a:ext cx="1371600" cy="320040"/>
          </a:xfrm>
          <a:prstGeom prst="rect">
            <a:avLst/>
          </a:prstGeom>
          <a:noFill/>
        </p:spPr>
        <p:txBody>
          <a:bodyPr wrap="square">
            <a:spAutoFit/>
          </a:bodyPr>
          <a:lstStyle/>
          <a:p>
            <a:pPr algn="l">
              <a:defRPr sz="900" b="1">
                <a:solidFill>
                  <a:srgbClr val="6B7280"/>
                </a:solidFill>
                <a:latin typeface="Calibri"/>
              </a:defRPr>
            </a:pPr>
            <a:r>
              <a:t>Status</a:t>
            </a:r>
          </a:p>
        </p:txBody>
      </p:sp>
      <p:sp>
        <p:nvSpPr>
          <p:cNvPr id="6" name="TextBox 5"/>
          <p:cNvSpPr txBox="1"/>
          <p:nvPr/>
        </p:nvSpPr>
        <p:spPr>
          <a:xfrm>
            <a:off x="7132320" y="1188720"/>
            <a:ext cx="4572000" cy="320040"/>
          </a:xfrm>
          <a:prstGeom prst="rect">
            <a:avLst/>
          </a:prstGeom>
          <a:noFill/>
        </p:spPr>
        <p:txBody>
          <a:bodyPr wrap="square">
            <a:spAutoFit/>
          </a:bodyPr>
          <a:lstStyle/>
          <a:p>
            <a:pPr algn="l">
              <a:defRPr sz="900" b="1">
                <a:solidFill>
                  <a:srgbClr val="6B7280"/>
                </a:solidFill>
                <a:latin typeface="Calibri"/>
              </a:defRPr>
            </a:pPr>
            <a:r>
              <a:t>Notes</a:t>
            </a:r>
          </a:p>
        </p:txBody>
      </p:sp>
      <p:sp>
        <p:nvSpPr>
          <p:cNvPr id="7" name="Rounded Rectangle 6"/>
          <p:cNvSpPr/>
          <p:nvPr/>
        </p:nvSpPr>
        <p:spPr>
          <a:xfrm>
            <a:off x="731520" y="160020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45920"/>
            <a:ext cx="365760" cy="274320"/>
          </a:xfrm>
          <a:prstGeom prst="rect">
            <a:avLst/>
          </a:prstGeom>
          <a:noFill/>
        </p:spPr>
        <p:txBody>
          <a:bodyPr wrap="square">
            <a:spAutoFit/>
          </a:bodyPr>
          <a:lstStyle/>
          <a:p>
            <a:pPr algn="l">
              <a:defRPr sz="1100" b="1">
                <a:solidFill>
                  <a:srgbClr val="1A1A2E"/>
                </a:solidFill>
                <a:latin typeface="Calibri"/>
              </a:defRPr>
            </a:pPr>
            <a:r>
              <a:t>#17</a:t>
            </a:r>
          </a:p>
        </p:txBody>
      </p:sp>
      <p:sp>
        <p:nvSpPr>
          <p:cNvPr id="9" name="TextBox 8"/>
          <p:cNvSpPr txBox="1"/>
          <p:nvPr/>
        </p:nvSpPr>
        <p:spPr>
          <a:xfrm>
            <a:off x="1280160" y="1645920"/>
            <a:ext cx="4389120" cy="411480"/>
          </a:xfrm>
          <a:prstGeom prst="rect">
            <a:avLst/>
          </a:prstGeom>
          <a:noFill/>
        </p:spPr>
        <p:txBody>
          <a:bodyPr wrap="square">
            <a:spAutoFit/>
          </a:bodyPr>
          <a:lstStyle/>
          <a:p>
            <a:pPr algn="l">
              <a:defRPr sz="1000" b="0">
                <a:solidFill>
                  <a:srgbClr val="374151"/>
                </a:solidFill>
                <a:latin typeface="Calibri"/>
              </a:defRPr>
            </a:pPr>
            <a:r>
              <a:t>Footer only copyright</a:t>
            </a:r>
          </a:p>
        </p:txBody>
      </p:sp>
      <p:sp>
        <p:nvSpPr>
          <p:cNvPr id="10" name="Rounded Rectangle 9"/>
          <p:cNvSpPr/>
          <p:nvPr/>
        </p:nvSpPr>
        <p:spPr>
          <a:xfrm>
            <a:off x="5852160" y="1691640"/>
            <a:ext cx="118872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WORSE</a:t>
            </a:r>
          </a:p>
        </p:txBody>
      </p:sp>
      <p:sp>
        <p:nvSpPr>
          <p:cNvPr id="11" name="TextBox 10"/>
          <p:cNvSpPr txBox="1"/>
          <p:nvPr/>
        </p:nvSpPr>
        <p:spPr>
          <a:xfrm>
            <a:off x="7223760" y="1645920"/>
            <a:ext cx="4389120" cy="411480"/>
          </a:xfrm>
          <a:prstGeom prst="rect">
            <a:avLst/>
          </a:prstGeom>
          <a:noFill/>
        </p:spPr>
        <p:txBody>
          <a:bodyPr wrap="square">
            <a:spAutoFit/>
          </a:bodyPr>
          <a:lstStyle/>
          <a:p>
            <a:pPr algn="l">
              <a:defRPr sz="900" b="0">
                <a:solidFill>
                  <a:srgbClr val="6B7280"/>
                </a:solidFill>
                <a:latin typeface="Calibri"/>
              </a:defRPr>
            </a:pPr>
            <a:r>
              <a:t>No footer at all now. See new #6.</a:t>
            </a:r>
          </a:p>
        </p:txBody>
      </p:sp>
      <p:sp>
        <p:nvSpPr>
          <p:cNvPr id="12" name="Rounded Rectangle 11"/>
          <p:cNvSpPr/>
          <p:nvPr/>
        </p:nvSpPr>
        <p:spPr>
          <a:xfrm>
            <a:off x="731520" y="214884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194560"/>
            <a:ext cx="365760" cy="274320"/>
          </a:xfrm>
          <a:prstGeom prst="rect">
            <a:avLst/>
          </a:prstGeom>
          <a:noFill/>
        </p:spPr>
        <p:txBody>
          <a:bodyPr wrap="square">
            <a:spAutoFit/>
          </a:bodyPr>
          <a:lstStyle/>
          <a:p>
            <a:pPr algn="l">
              <a:defRPr sz="1100" b="1">
                <a:solidFill>
                  <a:srgbClr val="1A1A2E"/>
                </a:solidFill>
                <a:latin typeface="Calibri"/>
              </a:defRPr>
            </a:pPr>
            <a:r>
              <a:t>#18</a:t>
            </a:r>
          </a:p>
        </p:txBody>
      </p:sp>
      <p:sp>
        <p:nvSpPr>
          <p:cNvPr id="14" name="TextBox 13"/>
          <p:cNvSpPr txBox="1"/>
          <p:nvPr/>
        </p:nvSpPr>
        <p:spPr>
          <a:xfrm>
            <a:off x="1280160" y="2194560"/>
            <a:ext cx="4389120" cy="411480"/>
          </a:xfrm>
          <a:prstGeom prst="rect">
            <a:avLst/>
          </a:prstGeom>
          <a:noFill/>
        </p:spPr>
        <p:txBody>
          <a:bodyPr wrap="square">
            <a:spAutoFit/>
          </a:bodyPr>
          <a:lstStyle/>
          <a:p>
            <a:pPr algn="l">
              <a:defRPr sz="1000" b="0">
                <a:solidFill>
                  <a:srgbClr val="374151"/>
                </a:solidFill>
                <a:latin typeface="Calibri"/>
              </a:defRPr>
            </a:pPr>
            <a:r>
              <a:t>8-row dense dashboard table</a:t>
            </a:r>
          </a:p>
        </p:txBody>
      </p:sp>
      <p:sp>
        <p:nvSpPr>
          <p:cNvPr id="15" name="Rounded Rectangle 14"/>
          <p:cNvSpPr/>
          <p:nvPr/>
        </p:nvSpPr>
        <p:spPr>
          <a:xfrm>
            <a:off x="5852160" y="224028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16" name="TextBox 15"/>
          <p:cNvSpPr txBox="1"/>
          <p:nvPr/>
        </p:nvSpPr>
        <p:spPr>
          <a:xfrm>
            <a:off x="7223760" y="2194560"/>
            <a:ext cx="4389120" cy="411480"/>
          </a:xfrm>
          <a:prstGeom prst="rect">
            <a:avLst/>
          </a:prstGeom>
          <a:noFill/>
        </p:spPr>
        <p:txBody>
          <a:bodyPr wrap="square">
            <a:spAutoFit/>
          </a:bodyPr>
          <a:lstStyle/>
          <a:p>
            <a:pPr algn="l">
              <a:defRPr sz="900" b="0">
                <a:solidFill>
                  <a:srgbClr val="6B7280"/>
                </a:solidFill>
                <a:latin typeface="Calibri"/>
              </a:defRPr>
            </a:pPr>
            <a:r>
              <a:t>Shows 3 most recent orders.</a:t>
            </a:r>
          </a:p>
        </p:txBody>
      </p:sp>
      <p:sp>
        <p:nvSpPr>
          <p:cNvPr id="17" name="Rounded Rectangle 16"/>
          <p:cNvSpPr/>
          <p:nvPr/>
        </p:nvSpPr>
        <p:spPr>
          <a:xfrm>
            <a:off x="731520" y="269748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743200"/>
            <a:ext cx="365760" cy="274320"/>
          </a:xfrm>
          <a:prstGeom prst="rect">
            <a:avLst/>
          </a:prstGeom>
          <a:noFill/>
        </p:spPr>
        <p:txBody>
          <a:bodyPr wrap="square">
            <a:spAutoFit/>
          </a:bodyPr>
          <a:lstStyle/>
          <a:p>
            <a:pPr algn="l">
              <a:defRPr sz="1100" b="1">
                <a:solidFill>
                  <a:srgbClr val="1A1A2E"/>
                </a:solidFill>
                <a:latin typeface="Calibri"/>
              </a:defRPr>
            </a:pPr>
            <a:r>
              <a:t>#19</a:t>
            </a:r>
          </a:p>
        </p:txBody>
      </p:sp>
      <p:sp>
        <p:nvSpPr>
          <p:cNvPr id="19" name="TextBox 18"/>
          <p:cNvSpPr txBox="1"/>
          <p:nvPr/>
        </p:nvSpPr>
        <p:spPr>
          <a:xfrm>
            <a:off x="1280160" y="2743200"/>
            <a:ext cx="4389120" cy="411480"/>
          </a:xfrm>
          <a:prstGeom prst="rect">
            <a:avLst/>
          </a:prstGeom>
          <a:noFill/>
        </p:spPr>
        <p:txBody>
          <a:bodyPr wrap="square">
            <a:spAutoFit/>
          </a:bodyPr>
          <a:lstStyle/>
          <a:p>
            <a:pPr algn="l">
              <a:defRPr sz="1000" b="0">
                <a:solidFill>
                  <a:srgbClr val="374151"/>
                </a:solidFill>
                <a:latin typeface="Calibri"/>
              </a:defRPr>
            </a:pPr>
            <a:r>
              <a:t>Account dropdown full numbers</a:t>
            </a:r>
          </a:p>
        </p:txBody>
      </p:sp>
      <p:sp>
        <p:nvSpPr>
          <p:cNvPr id="20" name="Rounded Rectangle 19"/>
          <p:cNvSpPr/>
          <p:nvPr/>
        </p:nvSpPr>
        <p:spPr>
          <a:xfrm>
            <a:off x="5852160" y="2788920"/>
            <a:ext cx="118872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NOT FIXED</a:t>
            </a:r>
          </a:p>
        </p:txBody>
      </p:sp>
      <p:sp>
        <p:nvSpPr>
          <p:cNvPr id="21" name="TextBox 20"/>
          <p:cNvSpPr txBox="1"/>
          <p:nvPr/>
        </p:nvSpPr>
        <p:spPr>
          <a:xfrm>
            <a:off x="7223760" y="2743200"/>
            <a:ext cx="4389120" cy="411480"/>
          </a:xfrm>
          <a:prstGeom prst="rect">
            <a:avLst/>
          </a:prstGeom>
          <a:noFill/>
        </p:spPr>
        <p:txBody>
          <a:bodyPr wrap="square">
            <a:spAutoFit/>
          </a:bodyPr>
          <a:lstStyle/>
          <a:p>
            <a:pPr algn="l">
              <a:defRPr sz="900" b="0">
                <a:solidFill>
                  <a:srgbClr val="6B7280"/>
                </a:solidFill>
                <a:latin typeface="Calibri"/>
              </a:defRPr>
            </a:pPr>
            <a:r>
              <a:t>Still shows 501-100234-001. See new #11.</a:t>
            </a:r>
          </a:p>
        </p:txBody>
      </p:sp>
      <p:sp>
        <p:nvSpPr>
          <p:cNvPr id="22" name="Rounded Rectangle 21"/>
          <p:cNvSpPr/>
          <p:nvPr/>
        </p:nvSpPr>
        <p:spPr>
          <a:xfrm>
            <a:off x="731520" y="324612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291840"/>
            <a:ext cx="365760" cy="274320"/>
          </a:xfrm>
          <a:prstGeom prst="rect">
            <a:avLst/>
          </a:prstGeom>
          <a:noFill/>
        </p:spPr>
        <p:txBody>
          <a:bodyPr wrap="square">
            <a:spAutoFit/>
          </a:bodyPr>
          <a:lstStyle/>
          <a:p>
            <a:pPr algn="l">
              <a:defRPr sz="1100" b="1">
                <a:solidFill>
                  <a:srgbClr val="1A1A2E"/>
                </a:solidFill>
                <a:latin typeface="Calibri"/>
              </a:defRPr>
            </a:pPr>
            <a:r>
              <a:t>#20</a:t>
            </a:r>
          </a:p>
        </p:txBody>
      </p:sp>
      <p:sp>
        <p:nvSpPr>
          <p:cNvPr id="24" name="TextBox 23"/>
          <p:cNvSpPr txBox="1"/>
          <p:nvPr/>
        </p:nvSpPr>
        <p:spPr>
          <a:xfrm>
            <a:off x="1280160" y="3291840"/>
            <a:ext cx="4389120" cy="411480"/>
          </a:xfrm>
          <a:prstGeom prst="rect">
            <a:avLst/>
          </a:prstGeom>
          <a:noFill/>
        </p:spPr>
        <p:txBody>
          <a:bodyPr wrap="square">
            <a:spAutoFit/>
          </a:bodyPr>
          <a:lstStyle/>
          <a:p>
            <a:pPr algn="l">
              <a:defRPr sz="1000" b="0">
                <a:solidFill>
                  <a:srgbClr val="374151"/>
                </a:solidFill>
                <a:latin typeface="Calibri"/>
              </a:defRPr>
            </a:pPr>
            <a:r>
              <a:t>No skip-navigation link</a:t>
            </a:r>
          </a:p>
        </p:txBody>
      </p:sp>
      <p:sp>
        <p:nvSpPr>
          <p:cNvPr id="25" name="Rounded Rectangle 24"/>
          <p:cNvSpPr/>
          <p:nvPr/>
        </p:nvSpPr>
        <p:spPr>
          <a:xfrm>
            <a:off x="5852160" y="333756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26" name="TextBox 25"/>
          <p:cNvSpPr txBox="1"/>
          <p:nvPr/>
        </p:nvSpPr>
        <p:spPr>
          <a:xfrm>
            <a:off x="7223760" y="3291840"/>
            <a:ext cx="4389120" cy="411480"/>
          </a:xfrm>
          <a:prstGeom prst="rect">
            <a:avLst/>
          </a:prstGeom>
          <a:noFill/>
        </p:spPr>
        <p:txBody>
          <a:bodyPr wrap="square">
            <a:spAutoFit/>
          </a:bodyPr>
          <a:lstStyle/>
          <a:p>
            <a:pPr algn="l">
              <a:defRPr sz="900" b="0">
                <a:solidFill>
                  <a:srgbClr val="6B7280"/>
                </a:solidFill>
                <a:latin typeface="Calibri"/>
              </a:defRPr>
            </a:pPr>
            <a:r>
              <a:t>Skip link "Skip to main content" added.</a:t>
            </a:r>
          </a:p>
        </p:txBody>
      </p:sp>
      <p:sp>
        <p:nvSpPr>
          <p:cNvPr id="27" name="Rounded Rectangle 26"/>
          <p:cNvSpPr/>
          <p:nvPr/>
        </p:nvSpPr>
        <p:spPr>
          <a:xfrm>
            <a:off x="731520" y="3794760"/>
            <a:ext cx="10789920" cy="50292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840480"/>
            <a:ext cx="365760" cy="274320"/>
          </a:xfrm>
          <a:prstGeom prst="rect">
            <a:avLst/>
          </a:prstGeom>
          <a:noFill/>
        </p:spPr>
        <p:txBody>
          <a:bodyPr wrap="square">
            <a:spAutoFit/>
          </a:bodyPr>
          <a:lstStyle/>
          <a:p>
            <a:pPr algn="l">
              <a:defRPr sz="1100" b="1">
                <a:solidFill>
                  <a:srgbClr val="1A1A2E"/>
                </a:solidFill>
                <a:latin typeface="Calibri"/>
              </a:defRPr>
            </a:pPr>
            <a:r>
              <a:t>#21</a:t>
            </a:r>
          </a:p>
        </p:txBody>
      </p:sp>
      <p:sp>
        <p:nvSpPr>
          <p:cNvPr id="29" name="TextBox 28"/>
          <p:cNvSpPr txBox="1"/>
          <p:nvPr/>
        </p:nvSpPr>
        <p:spPr>
          <a:xfrm>
            <a:off x="1280160" y="3840480"/>
            <a:ext cx="4389120" cy="411480"/>
          </a:xfrm>
          <a:prstGeom prst="rect">
            <a:avLst/>
          </a:prstGeom>
          <a:noFill/>
        </p:spPr>
        <p:txBody>
          <a:bodyPr wrap="square">
            <a:spAutoFit/>
          </a:bodyPr>
          <a:lstStyle/>
          <a:p>
            <a:pPr algn="l">
              <a:defRPr sz="1000" b="0">
                <a:solidFill>
                  <a:srgbClr val="374151"/>
                </a:solidFill>
                <a:latin typeface="Calibri"/>
              </a:defRPr>
            </a:pPr>
            <a:r>
              <a:t>404 page no suggestions</a:t>
            </a:r>
          </a:p>
        </p:txBody>
      </p:sp>
      <p:sp>
        <p:nvSpPr>
          <p:cNvPr id="30" name="Rounded Rectangle 29"/>
          <p:cNvSpPr/>
          <p:nvPr/>
        </p:nvSpPr>
        <p:spPr>
          <a:xfrm>
            <a:off x="5852160" y="3886200"/>
            <a:ext cx="118872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FIXED</a:t>
            </a:r>
          </a:p>
        </p:txBody>
      </p:sp>
      <p:sp>
        <p:nvSpPr>
          <p:cNvPr id="31" name="TextBox 30"/>
          <p:cNvSpPr txBox="1"/>
          <p:nvPr/>
        </p:nvSpPr>
        <p:spPr>
          <a:xfrm>
            <a:off x="7223760" y="3840480"/>
            <a:ext cx="4389120" cy="411480"/>
          </a:xfrm>
          <a:prstGeom prst="rect">
            <a:avLst/>
          </a:prstGeom>
          <a:noFill/>
        </p:spPr>
        <p:txBody>
          <a:bodyPr wrap="square">
            <a:spAutoFit/>
          </a:bodyPr>
          <a:lstStyle/>
          <a:p>
            <a:pPr algn="l">
              <a:defRPr sz="900" b="0">
                <a:solidFill>
                  <a:srgbClr val="6B7280"/>
                </a:solidFill>
                <a:latin typeface="Calibri"/>
              </a:defRPr>
            </a:pPr>
            <a:r>
              <a:t>Dashboard, Trade Gold, Products links added.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400" b="1">
                <a:solidFill>
                  <a:srgbClr val="1A1A2E"/>
                </a:solidFill>
                <a:latin typeface="Calibri"/>
              </a:defRPr>
            </a:pPr>
            <a:r>
              <a:t>2026-03-09 (Original) — Executive Summary</a:t>
            </a:r>
          </a:p>
        </p:txBody>
      </p:sp>
      <p:sp>
        <p:nvSpPr>
          <p:cNvPr id="3" name="TextBox 2"/>
          <p:cNvSpPr txBox="1"/>
          <p:nvPr/>
        </p:nvSpPr>
        <p:spPr>
          <a:xfrm>
            <a:off x="731520" y="1188720"/>
            <a:ext cx="10058400" cy="3200400"/>
          </a:xfrm>
          <a:prstGeom prst="rect">
            <a:avLst/>
          </a:prstGeom>
          <a:noFill/>
        </p:spPr>
        <p:txBody>
          <a:bodyPr wrap="square">
            <a:spAutoFit/>
          </a:bodyPr>
          <a:lstStyle/>
          <a:p>
            <a:pPr algn="l">
              <a:defRPr sz="1300" b="0">
                <a:solidFill>
                  <a:srgbClr val="374151"/>
                </a:solidFill>
                <a:latin typeface="Calibri"/>
              </a:defRPr>
            </a:pPr>
            <a:r>
              <a:t>This is a well-structured precious metals trading prototype with a clean visual identity, logical information architecture, and a complete buy/sell flow covering all 4 metals. The app follows modern SaaS conventions (Tailwind + shadcn/ui) and provides a credible trading experience. However, for a financial trading product used by novice investors, there are significant gaps in trust signalling, error prevention, educational scaffolding, and accessibility compliance that would erode confidence and cause drop-off. The biggest risks are: (1) a novice user has no onboarding or guided first-trade experience, (2) critical accessibility failures in contrast, touch targets, and motion, (3) the sell flow allows zero-balance sells to reach the review screen before failing, and (4) currency conversion introduces confusion without adequate explanation.  -- Solid foundation, but unshipped for production without fixing trust, accessibility, and novice-friendliness gaps.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200" b="1">
                <a:solidFill>
                  <a:srgbClr val="1A1A2E"/>
                </a:solidFill>
                <a:latin typeface="Calibri"/>
              </a:defRPr>
            </a:pPr>
            <a:r>
              <a:t>2026-03-09 (Original) — Findings (1/5)</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Trade -- Order Form</a:t>
            </a:r>
          </a:p>
        </p:txBody>
      </p:sp>
      <p:sp>
        <p:nvSpPr>
          <p:cNvPr id="12" name="Rounded Rectangle 11"/>
          <p:cNvSpPr/>
          <p:nvPr/>
        </p:nvSpPr>
        <p:spPr>
          <a:xfrm>
            <a:off x="3383280" y="1645920"/>
            <a:ext cx="77724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CRITICAL</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No onboarding or guided first-trade experience for novice investors</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contextual tooltips, first-visit banner, default to Market + SGD</a:t>
            </a:r>
          </a:p>
        </p:txBody>
      </p:sp>
      <p:sp>
        <p:nvSpPr>
          <p:cNvPr id="15" name="Rectangle 14"/>
          <p:cNvSpPr/>
          <p:nvPr/>
        </p:nvSpPr>
        <p:spPr>
          <a:xfrm>
            <a:off x="731520" y="2587752"/>
            <a:ext cx="73152"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Trade -- Sell Flow</a:t>
            </a:r>
          </a:p>
        </p:txBody>
      </p:sp>
      <p:sp>
        <p:nvSpPr>
          <p:cNvPr id="19" name="Rounded Rectangle 18"/>
          <p:cNvSpPr/>
          <p:nvPr/>
        </p:nvSpPr>
        <p:spPr>
          <a:xfrm>
            <a:off x="3383280" y="2724912"/>
            <a:ext cx="77724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CRITICAL</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Sell toggle accessible with 0 oz holdings -- error only at validation</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Disable Sell or show inline message when holdings = 0</a:t>
            </a:r>
          </a:p>
        </p:txBody>
      </p:sp>
      <p:sp>
        <p:nvSpPr>
          <p:cNvPr id="22" name="Rectangle 21"/>
          <p:cNvSpPr/>
          <p:nvPr/>
        </p:nvSpPr>
        <p:spPr>
          <a:xfrm>
            <a:off x="731520" y="3666744"/>
            <a:ext cx="73152"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Trade -- Order Form</a:t>
            </a:r>
          </a:p>
        </p:txBody>
      </p:sp>
      <p:sp>
        <p:nvSpPr>
          <p:cNvPr id="26" name="Rounded Rectangle 25"/>
          <p:cNvSpPr/>
          <p:nvPr/>
        </p:nvSpPr>
        <p:spPr>
          <a:xfrm>
            <a:off x="3383280" y="3803904"/>
            <a:ext cx="77724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CRITICAL</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Currency selector introduces massive cognitive load with no explanation</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Default SGD, collapse behind 'Change currency' link</a:t>
            </a:r>
          </a:p>
        </p:txBody>
      </p:sp>
      <p:sp>
        <p:nvSpPr>
          <p:cNvPr id="29" name="Rectangle 28"/>
          <p:cNvSpPr/>
          <p:nvPr/>
        </p:nvSpPr>
        <p:spPr>
          <a:xfrm>
            <a:off x="731520" y="4745736"/>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Global</a:t>
            </a:r>
          </a:p>
        </p:txBody>
      </p:sp>
      <p:sp>
        <p:nvSpPr>
          <p:cNvPr id="33" name="Rounded Rectangle 32"/>
          <p:cNvSpPr/>
          <p:nvPr/>
        </p:nvSpPr>
        <p:spPr>
          <a:xfrm>
            <a:off x="3383280" y="4882896"/>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No prefers-reduced-motion support despite extensive animations</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Add global @media (prefers-reduced-motion: reduce) rule</a:t>
            </a:r>
          </a:p>
        </p:txBody>
      </p:sp>
      <p:sp>
        <p:nvSpPr>
          <p:cNvPr id="36" name="Rectangle 35"/>
          <p:cNvSpPr/>
          <p:nvPr/>
        </p:nvSpPr>
        <p:spPr>
          <a:xfrm>
            <a:off x="731520" y="5824728"/>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Global</a:t>
            </a:r>
          </a:p>
        </p:txBody>
      </p:sp>
      <p:sp>
        <p:nvSpPr>
          <p:cNvPr id="40" name="Rounded Rectangle 39"/>
          <p:cNvSpPr/>
          <p:nvPr/>
        </p:nvSpPr>
        <p:spPr>
          <a:xfrm>
            <a:off x="3383280" y="5961888"/>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Muted text contrast #717182 on #ececf0 fails WCAG AA at ~3.5:1</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Darken muted foreground to at least #5e5e6e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200" b="1">
                <a:solidFill>
                  <a:srgbClr val="1A1A2E"/>
                </a:solidFill>
                <a:latin typeface="Calibri"/>
              </a:defRPr>
            </a:pPr>
            <a:r>
              <a:t>2026-03-09 (Original) — Findings (2/5)</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Global -- Interactive Elements</a:t>
            </a:r>
          </a:p>
        </p:txBody>
      </p:sp>
      <p:sp>
        <p:nvSpPr>
          <p:cNvPr id="12" name="Rounded Rectangle 11"/>
          <p:cNvSpPr/>
          <p:nvPr/>
        </p:nvSpPr>
        <p:spPr>
          <a:xfrm>
            <a:off x="3383280" y="1645920"/>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Button/input height 36px below WCAG 2.2 SC 2.5.8 minimum of 44px</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Increase min-heights to 44px for coarse pointers</a:t>
            </a:r>
          </a:p>
        </p:txBody>
      </p:sp>
      <p:sp>
        <p:nvSpPr>
          <p:cNvPr id="15" name="Rectangle 14"/>
          <p:cNvSpPr/>
          <p:nvPr/>
        </p:nvSpPr>
        <p:spPr>
          <a:xfrm>
            <a:off x="731520" y="2587752"/>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#7</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Dashboard -- Market Overview</a:t>
            </a:r>
          </a:p>
        </p:txBody>
      </p:sp>
      <p:sp>
        <p:nvSpPr>
          <p:cNvPr id="19" name="Rounded Rectangle 18"/>
          <p:cNvSpPr/>
          <p:nvPr/>
        </p:nvSpPr>
        <p:spPr>
          <a:xfrm>
            <a:off x="3383280" y="2724912"/>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All 4 metal cards have equal visual weight -- no beginner guidance</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Add 'Most Popular' badge to Gold or 'New? Start with Gold' CTA</a:t>
            </a:r>
          </a:p>
        </p:txBody>
      </p:sp>
      <p:sp>
        <p:nvSpPr>
          <p:cNvPr id="22" name="Rectangle 21"/>
          <p:cNvSpPr/>
          <p:nvPr/>
        </p:nvSpPr>
        <p:spPr>
          <a:xfrm>
            <a:off x="731520" y="3666744"/>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#8</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Trade -- Order Form</a:t>
            </a:r>
          </a:p>
        </p:txBody>
      </p:sp>
      <p:sp>
        <p:nvSpPr>
          <p:cNvPr id="26" name="Rounded Rectangle 25"/>
          <p:cNvSpPr/>
          <p:nvPr/>
        </p:nvSpPr>
        <p:spPr>
          <a:xfrm>
            <a:off x="3383280" y="3803904"/>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Amount field label ambiguous -- spend amount vs metal quantity unclear</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Rename to 'I want to spend (SGD)' and show computed oz prominently</a:t>
            </a:r>
          </a:p>
        </p:txBody>
      </p:sp>
      <p:sp>
        <p:nvSpPr>
          <p:cNvPr id="29" name="Rectangle 28"/>
          <p:cNvSpPr/>
          <p:nvPr/>
        </p:nvSpPr>
        <p:spPr>
          <a:xfrm>
            <a:off x="731520" y="4745736"/>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#9</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Order Review</a:t>
            </a:r>
          </a:p>
        </p:txBody>
      </p:sp>
      <p:sp>
        <p:nvSpPr>
          <p:cNvPr id="33" name="Rounded Rectangle 32"/>
          <p:cNvSpPr/>
          <p:nvPr/>
        </p:nvSpPr>
        <p:spPr>
          <a:xfrm>
            <a:off x="3383280" y="4882896"/>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No fee disclosure, no spread cost breakdown before confirmation</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Add cost breakdown: Metal price, Spread (0.5%), Total, Fees (S$0.00)</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#10</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Order Review</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Confirm button has no loading state -- direct navigation on click</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loading spinner with 'Processing...' and disable after first click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200" b="1">
                <a:solidFill>
                  <a:srgbClr val="1A1A2E"/>
                </a:solidFill>
                <a:latin typeface="Calibri"/>
              </a:defRPr>
            </a:pPr>
            <a:r>
              <a:t>2026-03-09 (Original) — Findings (3/5)</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Dashboard -- Portfolio Holdings</a:t>
            </a:r>
          </a:p>
        </p:txBody>
      </p:sp>
      <p:sp>
        <p:nvSpPr>
          <p:cNvPr id="12" name="Rounded Rectangle 11"/>
          <p:cNvSpPr/>
          <p:nvPr/>
        </p:nvSpPr>
        <p:spPr>
          <a:xfrm>
            <a:off x="3383280" y="1645920"/>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Empty state CTA 'Start trading to build your portfolio' is vague</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Change to 'Buy your first precious metal' button linking to /trade/XAU</a:t>
            </a:r>
          </a:p>
        </p:txBody>
      </p:sp>
      <p:sp>
        <p:nvSpPr>
          <p:cNvPr id="15" name="Rectangle 14"/>
          <p:cNvSpPr/>
          <p:nvPr/>
        </p:nvSpPr>
        <p:spPr>
          <a:xfrm>
            <a:off x="731520" y="2587752"/>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#12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Trade -- Price Chart</a:t>
            </a:r>
          </a:p>
        </p:txBody>
      </p:sp>
      <p:sp>
        <p:nvSpPr>
          <p:cNvPr id="19" name="Rounded Rectangle 18"/>
          <p:cNvSpPr/>
          <p:nvPr/>
        </p:nvSpPr>
        <p:spPr>
          <a:xfrm>
            <a:off x="3383280" y="2724912"/>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Chart has no Y-axis labels, gridlines, or volume data</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Add Y-axis price labels, gridlines, label time buttons descriptively</a:t>
            </a:r>
          </a:p>
        </p:txBody>
      </p:sp>
      <p:sp>
        <p:nvSpPr>
          <p:cNvPr id="22" name="Rectangle 21"/>
          <p:cNvSpPr/>
          <p:nvPr/>
        </p:nvSpPr>
        <p:spPr>
          <a:xfrm>
            <a:off x="731520" y="3666744"/>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#13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Trade -- Metal Tabs</a:t>
            </a:r>
          </a:p>
        </p:txBody>
      </p:sp>
      <p:sp>
        <p:nvSpPr>
          <p:cNvPr id="26" name="Rounded Rectangle 25"/>
          <p:cNvSpPr/>
          <p:nvPr/>
        </p:nvSpPr>
        <p:spPr>
          <a:xfrm>
            <a:off x="3383280" y="3803904"/>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Metal tabs use expert codes (XAU, XPT) more prominently than names</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Show metal name first, code smaller: 'Gold (XAU)'</a:t>
            </a:r>
          </a:p>
        </p:txBody>
      </p:sp>
      <p:sp>
        <p:nvSpPr>
          <p:cNvPr id="29" name="Rectangle 28"/>
          <p:cNvSpPr/>
          <p:nvPr/>
        </p:nvSpPr>
        <p:spPr>
          <a:xfrm>
            <a:off x="731520" y="4745736"/>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#14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Order Confirmation</a:t>
            </a:r>
          </a:p>
        </p:txBody>
      </p:sp>
      <p:sp>
        <p:nvSpPr>
          <p:cNvPr id="33" name="Rounded Rectangle 32"/>
          <p:cNvSpPr/>
          <p:nvPr/>
        </p:nvSpPr>
        <p:spPr>
          <a:xfrm>
            <a:off x="3383280" y="4882896"/>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Order ID is truncated UUID -- no receipt download option</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Display human-readable reference, add Download Receipt button</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Navigation</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Trade nav link goes directly to Gold with no intermediate page</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Make Trade a dropdown or remember last-traded metal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200" b="1">
                <a:solidFill>
                  <a:srgbClr val="1A1A2E"/>
                </a:solidFill>
                <a:latin typeface="Calibri"/>
              </a:defRPr>
            </a:pPr>
            <a:r>
              <a:t>2026-03-09 (Original) — Findings (4/5)</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Products Page</a:t>
            </a:r>
          </a:p>
        </p:txBody>
      </p:sp>
      <p:sp>
        <p:nvSpPr>
          <p:cNvPr id="12" name="Rounded Rectangle 11"/>
          <p:cNvSpPr/>
          <p:nvPr/>
        </p:nvSpPr>
        <p:spPr>
          <a:xfrm>
            <a:off x="3383280" y="1645920"/>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No cross-metal comparison view -- must tab between 4 metals</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Compare Metals table: Price, Min Qty, Volatility, Best For</a:t>
            </a:r>
          </a:p>
        </p:txBody>
      </p:sp>
      <p:sp>
        <p:nvSpPr>
          <p:cNvPr id="15" name="Rectangle 14"/>
          <p:cNvSpPr/>
          <p:nvPr/>
        </p:nvSpPr>
        <p:spPr>
          <a:xfrm>
            <a:off x="731520" y="2587752"/>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#17</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Global -- Footer</a:t>
            </a:r>
          </a:p>
        </p:txBody>
      </p:sp>
      <p:sp>
        <p:nvSpPr>
          <p:cNvPr id="19" name="Rounded Rectangle 18"/>
          <p:cNvSpPr/>
          <p:nvPr/>
        </p:nvSpPr>
        <p:spPr>
          <a:xfrm>
            <a:off x="3383280" y="2724912"/>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Footer only has copyright -- no Help, Terms, Privacy, regulatory links</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Add standard footer links including regulatory information</a:t>
            </a:r>
          </a:p>
        </p:txBody>
      </p:sp>
      <p:sp>
        <p:nvSpPr>
          <p:cNvPr id="22" name="Rectangle 21"/>
          <p:cNvSpPr/>
          <p:nvPr/>
        </p:nvSpPr>
        <p:spPr>
          <a:xfrm>
            <a:off x="731520" y="3666744"/>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#18</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Dashboard -- Recent Orders</a:t>
            </a:r>
          </a:p>
        </p:txBody>
      </p:sp>
      <p:sp>
        <p:nvSpPr>
          <p:cNvPr id="26" name="Rounded Rectangle 25"/>
          <p:cNvSpPr/>
          <p:nvPr/>
        </p:nvSpPr>
        <p:spPr>
          <a:xfrm>
            <a:off x="3383280" y="3803904"/>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8-row table on dashboard is too dense for novice users</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Show 3 simplified cards, reserve full table for Orders page</a:t>
            </a:r>
          </a:p>
        </p:txBody>
      </p:sp>
      <p:sp>
        <p:nvSpPr>
          <p:cNvPr id="29" name="Rectangle 28"/>
          <p:cNvSpPr/>
          <p:nvPr/>
        </p:nvSpPr>
        <p:spPr>
          <a:xfrm>
            <a:off x="731520" y="4745736"/>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#19</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Trade -- Debit/Credit</a:t>
            </a:r>
          </a:p>
        </p:txBody>
      </p:sp>
      <p:sp>
        <p:nvSpPr>
          <p:cNvPr id="33" name="Rounded Rectangle 32"/>
          <p:cNvSpPr/>
          <p:nvPr/>
        </p:nvSpPr>
        <p:spPr>
          <a:xfrm>
            <a:off x="3383280" y="4882896"/>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Account dropdown shows full account numbers adding noise</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Simplify to 'Current Account -- S$50,000.00'</a:t>
            </a:r>
          </a:p>
        </p:txBody>
      </p:sp>
      <p:sp>
        <p:nvSpPr>
          <p:cNvPr id="36" name="Rectangle 35"/>
          <p:cNvSpPr/>
          <p:nvPr/>
        </p:nvSpPr>
        <p:spPr>
          <a:xfrm>
            <a:off x="731520" y="5824728"/>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#20</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Global</a:t>
            </a:r>
          </a:p>
        </p:txBody>
      </p:sp>
      <p:sp>
        <p:nvSpPr>
          <p:cNvPr id="40" name="Rounded Rectangle 39"/>
          <p:cNvSpPr/>
          <p:nvPr/>
        </p:nvSpPr>
        <p:spPr>
          <a:xfrm>
            <a:off x="3383280" y="5961888"/>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No skip-navigation link for keyboard users</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visually hidden skip link: 'Skip to main content'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200" b="1">
                <a:solidFill>
                  <a:srgbClr val="1A1A2E"/>
                </a:solidFill>
                <a:latin typeface="Calibri"/>
              </a:defRPr>
            </a:pPr>
            <a:r>
              <a:t>2026-03-09 (Original) — Findings (5/5)</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#21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404 Page</a:t>
            </a:r>
          </a:p>
        </p:txBody>
      </p:sp>
      <p:sp>
        <p:nvSpPr>
          <p:cNvPr id="12" name="Rounded Rectangle 11"/>
          <p:cNvSpPr/>
          <p:nvPr/>
        </p:nvSpPr>
        <p:spPr>
          <a:xfrm>
            <a:off x="3383280" y="1645920"/>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404 page has no search or suggested links</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suggested links (Dashboard, Trade, Products)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200" b="1">
                <a:solidFill>
                  <a:srgbClr val="1A1A2E"/>
                </a:solidFill>
                <a:latin typeface="Calibri"/>
              </a:defRPr>
            </a:pPr>
            <a:r>
              <a:t>2026-03-09 (Original) — Homepage</a:t>
            </a:r>
          </a:p>
        </p:txBody>
      </p:sp>
      <p:pic>
        <p:nvPicPr>
          <p:cNvPr id="3" name="Picture 2" descr="homepage-annotated.png"/>
          <p:cNvPicPr>
            <a:picLocks noChangeAspect="1"/>
          </p:cNvPicPr>
          <p:nvPr/>
        </p:nvPicPr>
        <p:blipFill>
          <a:blip r:embed="rId2"/>
          <a:stretch>
            <a:fillRect/>
          </a:stretch>
        </p:blipFill>
        <p:spPr>
          <a:xfrm>
            <a:off x="274320" y="914400"/>
            <a:ext cx="5224390"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7</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All 4 metal cards have equal visual weight -- no beginner guidance</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'Most Popular' badge to Gold or 'New? Start with Gold' CTA</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11</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Empty state CTA 'Start trading to build your portfolio' is vague</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Change to 'Buy your first precious metal' button linking to /trade/XAU</a:t>
            </a:r>
          </a:p>
        </p:txBody>
      </p:sp>
      <p:sp>
        <p:nvSpPr>
          <p:cNvPr id="11" name="Oval 10"/>
          <p:cNvSpPr/>
          <p:nvPr/>
        </p:nvSpPr>
        <p:spPr>
          <a:xfrm>
            <a:off x="7498079" y="269748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17</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16A34A"/>
                </a:solidFill>
                <a:latin typeface="Calibri"/>
              </a:defRPr>
            </a:pPr>
            <a:r>
              <a:t>[LOW] Footer only has copyright -- no Help, Terms, Privacy, regulatory links</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Add standard footer links including regulatory information</a:t>
            </a:r>
          </a:p>
        </p:txBody>
      </p:sp>
      <p:sp>
        <p:nvSpPr>
          <p:cNvPr id="14" name="Oval 13"/>
          <p:cNvSpPr/>
          <p:nvPr/>
        </p:nvSpPr>
        <p:spPr>
          <a:xfrm>
            <a:off x="7498079" y="333756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18</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16A34A"/>
                </a:solidFill>
                <a:latin typeface="Calibri"/>
              </a:defRPr>
            </a:pPr>
            <a:r>
              <a:t>[LOW] 8-row table on dashboard is too dense for novice users</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Show 3 simplified cards, reserve full table for Orders page</a:t>
            </a:r>
          </a:p>
        </p:txBody>
      </p:sp>
      <p:sp>
        <p:nvSpPr>
          <p:cNvPr id="17" name="Oval 16"/>
          <p:cNvSpPr/>
          <p:nvPr/>
        </p:nvSpPr>
        <p:spPr>
          <a:xfrm>
            <a:off x="7498079" y="397764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20</a:t>
            </a:r>
          </a:p>
        </p:txBody>
      </p:sp>
      <p:sp>
        <p:nvSpPr>
          <p:cNvPr id="18" name="TextBox 17"/>
          <p:cNvSpPr txBox="1"/>
          <p:nvPr/>
        </p:nvSpPr>
        <p:spPr>
          <a:xfrm>
            <a:off x="7772399" y="3931920"/>
            <a:ext cx="4114800" cy="201168"/>
          </a:xfrm>
          <a:prstGeom prst="rect">
            <a:avLst/>
          </a:prstGeom>
          <a:noFill/>
        </p:spPr>
        <p:txBody>
          <a:bodyPr wrap="square">
            <a:spAutoFit/>
          </a:bodyPr>
          <a:lstStyle/>
          <a:p>
            <a:pPr algn="l">
              <a:defRPr sz="900" b="0">
                <a:solidFill>
                  <a:srgbClr val="16A34A"/>
                </a:solidFill>
                <a:latin typeface="Calibri"/>
              </a:defRPr>
            </a:pPr>
            <a:r>
              <a:t>[LOW] No skip-navigation link for keyboard users</a:t>
            </a:r>
          </a:p>
        </p:txBody>
      </p:sp>
      <p:sp>
        <p:nvSpPr>
          <p:cNvPr id="19" name="TextBox 18"/>
          <p:cNvSpPr txBox="1"/>
          <p:nvPr/>
        </p:nvSpPr>
        <p:spPr>
          <a:xfrm>
            <a:off x="7772399" y="4133088"/>
            <a:ext cx="4114800" cy="365760"/>
          </a:xfrm>
          <a:prstGeom prst="rect">
            <a:avLst/>
          </a:prstGeom>
          <a:noFill/>
        </p:spPr>
        <p:txBody>
          <a:bodyPr wrap="square">
            <a:spAutoFit/>
          </a:bodyPr>
          <a:lstStyle/>
          <a:p>
            <a:pPr algn="l">
              <a:defRPr sz="800" b="0">
                <a:solidFill>
                  <a:srgbClr val="6B7280"/>
                </a:solidFill>
                <a:latin typeface="Calibri"/>
              </a:defRPr>
            </a:pPr>
            <a:r>
              <a:t>→ Add visually hidden skip link: 'Skip to main content'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200" b="1">
                <a:solidFill>
                  <a:srgbClr val="1A1A2E"/>
                </a:solidFill>
                <a:latin typeface="Calibri"/>
              </a:defRPr>
            </a:pPr>
            <a:r>
              <a:t>2026-03-09 (Original) — Orders</a:t>
            </a:r>
          </a:p>
        </p:txBody>
      </p:sp>
      <p:pic>
        <p:nvPicPr>
          <p:cNvPr id="3" name="Picture 2" descr="orders-annotated.png"/>
          <p:cNvPicPr>
            <a:picLocks noChangeAspect="1"/>
          </p:cNvPicPr>
          <p:nvPr/>
        </p:nvPicPr>
        <p:blipFill>
          <a:blip r:embed="rId2"/>
          <a:stretch>
            <a:fillRect/>
          </a:stretch>
        </p:blipFill>
        <p:spPr>
          <a:xfrm>
            <a:off x="274320" y="914400"/>
            <a:ext cx="6479177"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5</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Muted text contrast #717182 on #ececf0 fails WCAG AA at ~3.5:1</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Darken muted foreground to at least #5e5e6e</a:t>
            </a:r>
          </a:p>
        </p:txBody>
      </p:sp>
      <p:sp>
        <p:nvSpPr>
          <p:cNvPr id="8" name="Oval 7"/>
          <p:cNvSpPr/>
          <p:nvPr/>
        </p:nvSpPr>
        <p:spPr>
          <a:xfrm>
            <a:off x="7498079" y="205740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21</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16A34A"/>
                </a:solidFill>
                <a:latin typeface="Calibri"/>
              </a:defRPr>
            </a:pPr>
            <a:r>
              <a:t>[LOW] 404 page has no search or suggested links</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suggested links (Dashboard, Trade, Products)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200" b="1">
                <a:solidFill>
                  <a:srgbClr val="1A1A2E"/>
                </a:solidFill>
                <a:latin typeface="Calibri"/>
              </a:defRPr>
            </a:pPr>
            <a:r>
              <a:t>2026-03-09 (Original) — Products</a:t>
            </a:r>
          </a:p>
        </p:txBody>
      </p:sp>
      <p:pic>
        <p:nvPicPr>
          <p:cNvPr id="3" name="Picture 2" descr="products-annotated.png"/>
          <p:cNvPicPr>
            <a:picLocks noChangeAspect="1"/>
          </p:cNvPicPr>
          <p:nvPr/>
        </p:nvPicPr>
        <p:blipFill>
          <a:blip r:embed="rId2"/>
          <a:stretch>
            <a:fillRect/>
          </a:stretch>
        </p:blipFill>
        <p:spPr>
          <a:xfrm>
            <a:off x="274320" y="914400"/>
            <a:ext cx="4733645"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9</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No fee disclosure, no spread cost breakdown before confirmation</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cost breakdown: Metal price, Spread (0.5%), Total, Fees (S$0.00)</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16</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No cross-metal comparison view -- must tab between 4 metals</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Compare Metals table: Price, Min Qty, Volatility, Best For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200" b="1">
                <a:solidFill>
                  <a:srgbClr val="1A1A2E"/>
                </a:solidFill>
                <a:latin typeface="Calibri"/>
              </a:defRPr>
            </a:pPr>
            <a:r>
              <a:t>2026-03-09 (Original) — Trade Xau</a:t>
            </a:r>
          </a:p>
        </p:txBody>
      </p:sp>
      <p:pic>
        <p:nvPicPr>
          <p:cNvPr id="3" name="Picture 2" descr="trade-xau-annotated.png"/>
          <p:cNvPicPr>
            <a:picLocks noChangeAspect="1"/>
          </p:cNvPicPr>
          <p:nvPr/>
        </p:nvPicPr>
        <p:blipFill>
          <a:blip r:embed="rId2"/>
          <a:stretch>
            <a:fillRect/>
          </a:stretch>
        </p:blipFill>
        <p:spPr>
          <a:xfrm>
            <a:off x="274320" y="914400"/>
            <a:ext cx="6382302"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DC2626"/>
                </a:solidFill>
                <a:latin typeface="Calibri"/>
              </a:defRPr>
            </a:pPr>
            <a:r>
              <a:t>[CRITICAL] No onboarding or guided first-trade experience for novice investors</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contextual tooltips, first-visit banner, default to Market + SGD</a:t>
            </a:r>
          </a:p>
        </p:txBody>
      </p:sp>
      <p:sp>
        <p:nvSpPr>
          <p:cNvPr id="8" name="Oval 7"/>
          <p:cNvSpPr/>
          <p:nvPr/>
        </p:nvSpPr>
        <p:spPr>
          <a:xfrm>
            <a:off x="7498079" y="205740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DC2626"/>
                </a:solidFill>
                <a:latin typeface="Calibri"/>
              </a:defRPr>
            </a:pPr>
            <a:r>
              <a:t>[CRITICAL] Sell toggle accessible with 0 oz holdings -- error only at validation</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Disable Sell or show inline message when holdings = 0</a:t>
            </a:r>
          </a:p>
        </p:txBody>
      </p:sp>
      <p:sp>
        <p:nvSpPr>
          <p:cNvPr id="11" name="Oval 10"/>
          <p:cNvSpPr/>
          <p:nvPr/>
        </p:nvSpPr>
        <p:spPr>
          <a:xfrm>
            <a:off x="7498079" y="269748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3</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DC2626"/>
                </a:solidFill>
                <a:latin typeface="Calibri"/>
              </a:defRPr>
            </a:pPr>
            <a:r>
              <a:t>[CRITICAL] Currency selector introduces massive cognitive load with no explanation</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Default SGD, collapse behind 'Change currency' link</a:t>
            </a:r>
          </a:p>
        </p:txBody>
      </p:sp>
      <p:sp>
        <p:nvSpPr>
          <p:cNvPr id="14" name="Oval 13"/>
          <p:cNvSpPr/>
          <p:nvPr/>
        </p:nvSpPr>
        <p:spPr>
          <a:xfrm>
            <a:off x="7498079" y="333756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8</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EA580C"/>
                </a:solidFill>
                <a:latin typeface="Calibri"/>
              </a:defRPr>
            </a:pPr>
            <a:r>
              <a:t>[HIGH] Amount field label ambiguous -- spend amount vs metal quantity unclear</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Rename to 'I want to spend (SGD)' and show computed oz prominently</a:t>
            </a:r>
          </a:p>
        </p:txBody>
      </p:sp>
      <p:sp>
        <p:nvSpPr>
          <p:cNvPr id="17" name="Oval 16"/>
          <p:cNvSpPr/>
          <p:nvPr/>
        </p:nvSpPr>
        <p:spPr>
          <a:xfrm>
            <a:off x="7498079" y="397764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4</a:t>
            </a:r>
          </a:p>
        </p:txBody>
      </p:sp>
      <p:sp>
        <p:nvSpPr>
          <p:cNvPr id="18" name="TextBox 17"/>
          <p:cNvSpPr txBox="1"/>
          <p:nvPr/>
        </p:nvSpPr>
        <p:spPr>
          <a:xfrm>
            <a:off x="7772399" y="3931920"/>
            <a:ext cx="4114800" cy="201168"/>
          </a:xfrm>
          <a:prstGeom prst="rect">
            <a:avLst/>
          </a:prstGeom>
          <a:noFill/>
        </p:spPr>
        <p:txBody>
          <a:bodyPr wrap="square">
            <a:spAutoFit/>
          </a:bodyPr>
          <a:lstStyle/>
          <a:p>
            <a:pPr algn="l">
              <a:defRPr sz="900" b="0">
                <a:solidFill>
                  <a:srgbClr val="EA580C"/>
                </a:solidFill>
                <a:latin typeface="Calibri"/>
              </a:defRPr>
            </a:pPr>
            <a:r>
              <a:t>[HIGH] No prefers-reduced-motion support despite extensive animations</a:t>
            </a:r>
          </a:p>
        </p:txBody>
      </p:sp>
      <p:sp>
        <p:nvSpPr>
          <p:cNvPr id="19" name="TextBox 18"/>
          <p:cNvSpPr txBox="1"/>
          <p:nvPr/>
        </p:nvSpPr>
        <p:spPr>
          <a:xfrm>
            <a:off x="7772399" y="4133088"/>
            <a:ext cx="4114800" cy="365760"/>
          </a:xfrm>
          <a:prstGeom prst="rect">
            <a:avLst/>
          </a:prstGeom>
          <a:noFill/>
        </p:spPr>
        <p:txBody>
          <a:bodyPr wrap="square">
            <a:spAutoFit/>
          </a:bodyPr>
          <a:lstStyle/>
          <a:p>
            <a:pPr algn="l">
              <a:defRPr sz="800" b="0">
                <a:solidFill>
                  <a:srgbClr val="6B7280"/>
                </a:solidFill>
                <a:latin typeface="Calibri"/>
              </a:defRPr>
            </a:pPr>
            <a:r>
              <a:t>→ Add global @media (prefers-reduced-motion: reduce) rule</a:t>
            </a:r>
          </a:p>
        </p:txBody>
      </p:sp>
      <p:sp>
        <p:nvSpPr>
          <p:cNvPr id="20" name="Oval 19"/>
          <p:cNvSpPr/>
          <p:nvPr/>
        </p:nvSpPr>
        <p:spPr>
          <a:xfrm>
            <a:off x="7498079" y="46177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21" name="TextBox 20"/>
          <p:cNvSpPr txBox="1"/>
          <p:nvPr/>
        </p:nvSpPr>
        <p:spPr>
          <a:xfrm>
            <a:off x="7772399" y="4572000"/>
            <a:ext cx="4114800" cy="201168"/>
          </a:xfrm>
          <a:prstGeom prst="rect">
            <a:avLst/>
          </a:prstGeom>
          <a:noFill/>
        </p:spPr>
        <p:txBody>
          <a:bodyPr wrap="square">
            <a:spAutoFit/>
          </a:bodyPr>
          <a:lstStyle/>
          <a:p>
            <a:pPr algn="l">
              <a:defRPr sz="900" b="0">
                <a:solidFill>
                  <a:srgbClr val="EA580C"/>
                </a:solidFill>
                <a:latin typeface="Calibri"/>
              </a:defRPr>
            </a:pPr>
            <a:r>
              <a:t>[HIGH] Button/input height 36px below WCAG 2.2 SC 2.5.8 minimum of 44px</a:t>
            </a:r>
          </a:p>
        </p:txBody>
      </p:sp>
      <p:sp>
        <p:nvSpPr>
          <p:cNvPr id="22" name="TextBox 21"/>
          <p:cNvSpPr txBox="1"/>
          <p:nvPr/>
        </p:nvSpPr>
        <p:spPr>
          <a:xfrm>
            <a:off x="7772399" y="4773168"/>
            <a:ext cx="4114800" cy="365760"/>
          </a:xfrm>
          <a:prstGeom prst="rect">
            <a:avLst/>
          </a:prstGeom>
          <a:noFill/>
        </p:spPr>
        <p:txBody>
          <a:bodyPr wrap="square">
            <a:spAutoFit/>
          </a:bodyPr>
          <a:lstStyle/>
          <a:p>
            <a:pPr algn="l">
              <a:defRPr sz="800" b="0">
                <a:solidFill>
                  <a:srgbClr val="6B7280"/>
                </a:solidFill>
                <a:latin typeface="Calibri"/>
              </a:defRPr>
            </a:pPr>
            <a:r>
              <a:t>→ Increase min-heights to 44px for coarse pointers</a:t>
            </a:r>
          </a:p>
        </p:txBody>
      </p:sp>
      <p:sp>
        <p:nvSpPr>
          <p:cNvPr id="23" name="Oval 22"/>
          <p:cNvSpPr/>
          <p:nvPr/>
        </p:nvSpPr>
        <p:spPr>
          <a:xfrm>
            <a:off x="7498079" y="52578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12</a:t>
            </a:r>
          </a:p>
        </p:txBody>
      </p:sp>
      <p:sp>
        <p:nvSpPr>
          <p:cNvPr id="24" name="TextBox 23"/>
          <p:cNvSpPr txBox="1"/>
          <p:nvPr/>
        </p:nvSpPr>
        <p:spPr>
          <a:xfrm>
            <a:off x="7772399" y="5212080"/>
            <a:ext cx="4114800" cy="201168"/>
          </a:xfrm>
          <a:prstGeom prst="rect">
            <a:avLst/>
          </a:prstGeom>
          <a:noFill/>
        </p:spPr>
        <p:txBody>
          <a:bodyPr wrap="square">
            <a:spAutoFit/>
          </a:bodyPr>
          <a:lstStyle/>
          <a:p>
            <a:pPr algn="l">
              <a:defRPr sz="900" b="0">
                <a:solidFill>
                  <a:srgbClr val="CA8A04"/>
                </a:solidFill>
                <a:latin typeface="Calibri"/>
              </a:defRPr>
            </a:pPr>
            <a:r>
              <a:t>[MEDIUM] Chart has no Y-axis labels, gridlines, or volume data</a:t>
            </a:r>
          </a:p>
        </p:txBody>
      </p:sp>
      <p:sp>
        <p:nvSpPr>
          <p:cNvPr id="25" name="TextBox 24"/>
          <p:cNvSpPr txBox="1"/>
          <p:nvPr/>
        </p:nvSpPr>
        <p:spPr>
          <a:xfrm>
            <a:off x="7772399" y="5413248"/>
            <a:ext cx="4114800" cy="365760"/>
          </a:xfrm>
          <a:prstGeom prst="rect">
            <a:avLst/>
          </a:prstGeom>
          <a:noFill/>
        </p:spPr>
        <p:txBody>
          <a:bodyPr wrap="square">
            <a:spAutoFit/>
          </a:bodyPr>
          <a:lstStyle/>
          <a:p>
            <a:pPr algn="l">
              <a:defRPr sz="800" b="0">
                <a:solidFill>
                  <a:srgbClr val="6B7280"/>
                </a:solidFill>
                <a:latin typeface="Calibri"/>
              </a:defRPr>
            </a:pPr>
            <a:r>
              <a:t>→ Add Y-axis price labels, gridlines, label time buttons descriptively</a:t>
            </a:r>
          </a:p>
        </p:txBody>
      </p:sp>
      <p:sp>
        <p:nvSpPr>
          <p:cNvPr id="26" name="Oval 25"/>
          <p:cNvSpPr/>
          <p:nvPr/>
        </p:nvSpPr>
        <p:spPr>
          <a:xfrm>
            <a:off x="7498079" y="589788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13</a:t>
            </a:r>
          </a:p>
        </p:txBody>
      </p:sp>
      <p:sp>
        <p:nvSpPr>
          <p:cNvPr id="27" name="TextBox 26"/>
          <p:cNvSpPr txBox="1"/>
          <p:nvPr/>
        </p:nvSpPr>
        <p:spPr>
          <a:xfrm>
            <a:off x="7772399" y="5852160"/>
            <a:ext cx="4114800" cy="201168"/>
          </a:xfrm>
          <a:prstGeom prst="rect">
            <a:avLst/>
          </a:prstGeom>
          <a:noFill/>
        </p:spPr>
        <p:txBody>
          <a:bodyPr wrap="square">
            <a:spAutoFit/>
          </a:bodyPr>
          <a:lstStyle/>
          <a:p>
            <a:pPr algn="l">
              <a:defRPr sz="900" b="0">
                <a:solidFill>
                  <a:srgbClr val="CA8A04"/>
                </a:solidFill>
                <a:latin typeface="Calibri"/>
              </a:defRPr>
            </a:pPr>
            <a:r>
              <a:t>[MEDIUM] Metal tabs use expert codes (XAU, XPT) more prominently than names</a:t>
            </a:r>
          </a:p>
        </p:txBody>
      </p:sp>
      <p:sp>
        <p:nvSpPr>
          <p:cNvPr id="28" name="TextBox 27"/>
          <p:cNvSpPr txBox="1"/>
          <p:nvPr/>
        </p:nvSpPr>
        <p:spPr>
          <a:xfrm>
            <a:off x="7772399" y="6053328"/>
            <a:ext cx="4114800" cy="365760"/>
          </a:xfrm>
          <a:prstGeom prst="rect">
            <a:avLst/>
          </a:prstGeom>
          <a:noFill/>
        </p:spPr>
        <p:txBody>
          <a:bodyPr wrap="square">
            <a:spAutoFit/>
          </a:bodyPr>
          <a:lstStyle/>
          <a:p>
            <a:pPr algn="l">
              <a:defRPr sz="800" b="0">
                <a:solidFill>
                  <a:srgbClr val="6B7280"/>
                </a:solidFill>
                <a:latin typeface="Calibri"/>
              </a:defRPr>
            </a:pPr>
            <a:r>
              <a:t>→ Show metal name first, code smaller: 'Gold (XAU)'</a:t>
            </a:r>
          </a:p>
        </p:txBody>
      </p:sp>
      <p:sp>
        <p:nvSpPr>
          <p:cNvPr id="29" name="Oval 28"/>
          <p:cNvSpPr/>
          <p:nvPr/>
        </p:nvSpPr>
        <p:spPr>
          <a:xfrm>
            <a:off x="7498079" y="653796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15</a:t>
            </a:r>
          </a:p>
        </p:txBody>
      </p:sp>
      <p:sp>
        <p:nvSpPr>
          <p:cNvPr id="30" name="TextBox 29"/>
          <p:cNvSpPr txBox="1"/>
          <p:nvPr/>
        </p:nvSpPr>
        <p:spPr>
          <a:xfrm>
            <a:off x="7772399" y="6492240"/>
            <a:ext cx="4114800" cy="201168"/>
          </a:xfrm>
          <a:prstGeom prst="rect">
            <a:avLst/>
          </a:prstGeom>
          <a:noFill/>
        </p:spPr>
        <p:txBody>
          <a:bodyPr wrap="square">
            <a:spAutoFit/>
          </a:bodyPr>
          <a:lstStyle/>
          <a:p>
            <a:pPr algn="l">
              <a:defRPr sz="900" b="0">
                <a:solidFill>
                  <a:srgbClr val="CA8A04"/>
                </a:solidFill>
                <a:latin typeface="Calibri"/>
              </a:defRPr>
            </a:pPr>
            <a:r>
              <a:t>[MEDIUM] Trade nav link goes directly to Gold with no intermediate page</a:t>
            </a:r>
          </a:p>
        </p:txBody>
      </p:sp>
      <p:sp>
        <p:nvSpPr>
          <p:cNvPr id="31" name="TextBox 30"/>
          <p:cNvSpPr txBox="1"/>
          <p:nvPr/>
        </p:nvSpPr>
        <p:spPr>
          <a:xfrm>
            <a:off x="7772399" y="6693408"/>
            <a:ext cx="4114800" cy="365760"/>
          </a:xfrm>
          <a:prstGeom prst="rect">
            <a:avLst/>
          </a:prstGeom>
          <a:noFill/>
        </p:spPr>
        <p:txBody>
          <a:bodyPr wrap="square">
            <a:spAutoFit/>
          </a:bodyPr>
          <a:lstStyle/>
          <a:p>
            <a:pPr algn="l">
              <a:defRPr sz="800" b="0">
                <a:solidFill>
                  <a:srgbClr val="6B7280"/>
                </a:solidFill>
                <a:latin typeface="Calibri"/>
              </a:defRPr>
            </a:pPr>
            <a:r>
              <a:t>→ Make Trade a dropdown or remember last-traded metal</a:t>
            </a:r>
          </a:p>
        </p:txBody>
      </p:sp>
      <p:sp>
        <p:nvSpPr>
          <p:cNvPr id="32" name="Oval 31"/>
          <p:cNvSpPr/>
          <p:nvPr/>
        </p:nvSpPr>
        <p:spPr>
          <a:xfrm>
            <a:off x="7498079" y="717804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19</a:t>
            </a:r>
          </a:p>
        </p:txBody>
      </p:sp>
      <p:sp>
        <p:nvSpPr>
          <p:cNvPr id="33" name="TextBox 32"/>
          <p:cNvSpPr txBox="1"/>
          <p:nvPr/>
        </p:nvSpPr>
        <p:spPr>
          <a:xfrm>
            <a:off x="7772399" y="7132320"/>
            <a:ext cx="4114800" cy="201168"/>
          </a:xfrm>
          <a:prstGeom prst="rect">
            <a:avLst/>
          </a:prstGeom>
          <a:noFill/>
        </p:spPr>
        <p:txBody>
          <a:bodyPr wrap="square">
            <a:spAutoFit/>
          </a:bodyPr>
          <a:lstStyle/>
          <a:p>
            <a:pPr algn="l">
              <a:defRPr sz="900" b="0">
                <a:solidFill>
                  <a:srgbClr val="16A34A"/>
                </a:solidFill>
                <a:latin typeface="Calibri"/>
              </a:defRPr>
            </a:pPr>
            <a:r>
              <a:t>[LOW] Account dropdown shows full account numbers adding noise</a:t>
            </a:r>
          </a:p>
        </p:txBody>
      </p:sp>
      <p:sp>
        <p:nvSpPr>
          <p:cNvPr id="34" name="TextBox 33"/>
          <p:cNvSpPr txBox="1"/>
          <p:nvPr/>
        </p:nvSpPr>
        <p:spPr>
          <a:xfrm>
            <a:off x="7772399" y="7333488"/>
            <a:ext cx="4114800" cy="365760"/>
          </a:xfrm>
          <a:prstGeom prst="rect">
            <a:avLst/>
          </a:prstGeom>
          <a:noFill/>
        </p:spPr>
        <p:txBody>
          <a:bodyPr wrap="square">
            <a:spAutoFit/>
          </a:bodyPr>
          <a:lstStyle/>
          <a:p>
            <a:pPr algn="l">
              <a:defRPr sz="800" b="0">
                <a:solidFill>
                  <a:srgbClr val="6B7280"/>
                </a:solidFill>
                <a:latin typeface="Calibri"/>
              </a:defRPr>
            </a:pPr>
            <a:r>
              <a:t>→ Simplify to 'Current Account -- S$50,000.00'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400" b="1">
                <a:solidFill>
                  <a:srgbClr val="1A1A2E"/>
                </a:solidFill>
                <a:latin typeface="Calibri"/>
              </a:defRPr>
            </a:pPr>
            <a:r>
              <a:t>2026-03-10 (Re-audit) — Executive Summary</a:t>
            </a:r>
          </a:p>
        </p:txBody>
      </p:sp>
      <p:sp>
        <p:nvSpPr>
          <p:cNvPr id="3" name="TextBox 2"/>
          <p:cNvSpPr txBox="1"/>
          <p:nvPr/>
        </p:nvSpPr>
        <p:spPr>
          <a:xfrm>
            <a:off x="731520" y="1188720"/>
            <a:ext cx="10058400" cy="3200400"/>
          </a:xfrm>
          <a:prstGeom prst="rect">
            <a:avLst/>
          </a:prstGeom>
          <a:noFill/>
        </p:spPr>
        <p:txBody>
          <a:bodyPr wrap="square">
            <a:spAutoFit/>
          </a:bodyPr>
          <a:lstStyle/>
          <a:p>
            <a:pPr algn="l">
              <a:defRPr sz="1300" b="0">
                <a:solidFill>
                  <a:srgbClr val="374151"/>
                </a:solidFill>
                <a:latin typeface="Calibri"/>
              </a:defRPr>
            </a:pPr>
            <a:r>
              <a:t>This is an significantly improved version of the Precious Metals Trading App. The team has addressed 14 of 21 original findings, including all 3 critical issues. The sell flow now correctly prevents zero-balance sells with an inline message, tooltips provide educational scaffolding for trading terminology (Bid, Ask, Spread, Order Type), the order review page includes a full cost breakdown with explicit fee disclosure, the "Amount to Invest" label is clear with a computed "You'll receive ~X.XX ounce" display, and the Gold card carries a "Most Popular" badge to guide beginners. The muted text contrast has been fixed, a skip-navigation link has been added, and `prefers-reduced-motion` is now supported. However, 4 original issues remain unfixed and several new issues have emerged from the improvements themselves. The most significant remaining gap is that interactive element heights are still 36px (below the WCAG 2.2 44px minimum), the green-600 colour used for positive price changes and buy states fails WCAG AA contrast, and ironically, the new tooltip trigger icons meant to educate novices are themselves too small and low-contrast to be discovered. The currency selector, while now showing conversion rates, still presents all 5 currencies upfront with potential for costly accidental switches.  -- Strong improvement from 6.5. Remaining issues are mostly accessibility hardening and polish rather than fundamental UX failures.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200" b="1">
                <a:solidFill>
                  <a:srgbClr val="1A1A2E"/>
                </a:solidFill>
                <a:latin typeface="Calibri"/>
              </a:defRPr>
            </a:pPr>
            <a:r>
              <a:t>2026-03-10 (Re-audit) — Findings (1/3)</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Global -- Interactive Elements</a:t>
            </a:r>
          </a:p>
        </p:txBody>
      </p:sp>
      <p:sp>
        <p:nvSpPr>
          <p:cNvPr id="12" name="Rounded Rectangle 11"/>
          <p:cNvSpPr/>
          <p:nvPr/>
        </p:nvSpPr>
        <p:spPr>
          <a:xfrm>
            <a:off x="3383280" y="1645920"/>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Button/input height still 36px (h-9) -- below WCAG 2.2 SC 2.5.8 minimum of 44px, no @media (pointer: coarse) override</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min-height: 44px for all interactive elements via @media (pointer: coarse) query</a:t>
            </a:r>
          </a:p>
        </p:txBody>
      </p:sp>
      <p:sp>
        <p:nvSpPr>
          <p:cNvPr id="15" name="Rectangle 14"/>
          <p:cNvSpPr/>
          <p:nvPr/>
        </p:nvSpPr>
        <p:spPr>
          <a:xfrm>
            <a:off x="731520" y="2587752"/>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Global -- Price Changes &amp; Buy State</a:t>
            </a:r>
          </a:p>
        </p:txBody>
      </p:sp>
      <p:sp>
        <p:nvSpPr>
          <p:cNvPr id="19" name="Rounded Rectangle 18"/>
          <p:cNvSpPr/>
          <p:nvPr/>
        </p:nvSpPr>
        <p:spPr>
          <a:xfrm>
            <a:off x="3383280" y="2724912"/>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green-600 text (#16a34a) on white background fails WCAG AA at 3.30:1 -- used for positive price changes, buy toggle, and status badges</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Switch to green-700 (#15803d) which passes at 4.79:1, or use green text on green-50 background only</a:t>
            </a:r>
          </a:p>
        </p:txBody>
      </p:sp>
      <p:sp>
        <p:nvSpPr>
          <p:cNvPr id="22" name="Rectangle 21"/>
          <p:cNvSpPr/>
          <p:nvPr/>
        </p:nvSpPr>
        <p:spPr>
          <a:xfrm>
            <a:off x="731520" y="3666744"/>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Trade -- Tooltip Triggers</a:t>
            </a:r>
          </a:p>
        </p:txBody>
      </p:sp>
      <p:sp>
        <p:nvSpPr>
          <p:cNvPr id="26" name="Rounded Rectangle 25"/>
          <p:cNvSpPr/>
          <p:nvPr/>
        </p:nvSpPr>
        <p:spPr>
          <a:xfrm>
            <a:off x="3383280" y="3803904"/>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Tooltip trigger icons are gray-400 (#9ca3af) at 14px (w-3.5) -- 2.54:1 contrast fails WCAG AA and size is below WCAG 2.5.8 touch target</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Increase icon size to at least 20px (w-5), darken to gray-600 (#4b5563) for 7.23:1 contrast</a:t>
            </a:r>
          </a:p>
        </p:txBody>
      </p:sp>
      <p:sp>
        <p:nvSpPr>
          <p:cNvPr id="29" name="Rectangle 28"/>
          <p:cNvSpPr/>
          <p:nvPr/>
        </p:nvSpPr>
        <p:spPr>
          <a:xfrm>
            <a:off x="731520" y="4745736"/>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Trade -- Order Form</a:t>
            </a:r>
          </a:p>
        </p:txBody>
      </p:sp>
      <p:sp>
        <p:nvSpPr>
          <p:cNvPr id="33" name="Rounded Rectangle 32"/>
          <p:cNvSpPr/>
          <p:nvPr/>
        </p:nvSpPr>
        <p:spPr>
          <a:xfrm>
            <a:off x="3383280" y="4882896"/>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Currency selector still shows all 5 currencies upfront -- switching from SGD to JPY multiplies amounts ~111x with only a small info box warning</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Default to SGD, collapse currency behind 'Change currency' link, add confirmation dialog when switching currencies mid-form</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Trade -- Order Form</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No guided first-trade walkthrough -- tooltips added but no dismissible onboarding banner or step-by-step tour for first-time users</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a dismissible 3-step first-visit banner: 1) Choose metal, 2) Set amount, 3) Review and confirm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200" b="1">
                <a:solidFill>
                  <a:srgbClr val="1A1A2E"/>
                </a:solidFill>
                <a:latin typeface="Calibri"/>
              </a:defRPr>
            </a:pPr>
            <a:r>
              <a:t>2026-03-10 (Re-audit) — Findings (2/3)</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Global -- Footer</a:t>
            </a:r>
          </a:p>
        </p:txBody>
      </p:sp>
      <p:sp>
        <p:nvSpPr>
          <p:cNvPr id="12" name="Rounded Rectangle 11"/>
          <p:cNvSpPr/>
          <p:nvPr/>
        </p:nvSpPr>
        <p:spPr>
          <a:xfrm>
            <a:off x="3383280" y="1645920"/>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No footer whatsoever -- no Help, Terms, Privacy, Contact, or regulatory disclosure links</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standard footer with: Help Centre, Terms of Service, Privacy Policy, Contact Us, MAS regulatory notice</a:t>
            </a:r>
          </a:p>
        </p:txBody>
      </p:sp>
      <p:sp>
        <p:nvSpPr>
          <p:cNvPr id="15" name="Rectangle 14"/>
          <p:cNvSpPr/>
          <p:nvPr/>
        </p:nvSpPr>
        <p:spPr>
          <a:xfrm>
            <a:off x="731520" y="2587752"/>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#7</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Order Confirmation</a:t>
            </a:r>
          </a:p>
        </p:txBody>
      </p:sp>
      <p:sp>
        <p:nvSpPr>
          <p:cNvPr id="19" name="Rounded Rectangle 18"/>
          <p:cNvSpPr/>
          <p:nvPr/>
        </p:nvSpPr>
        <p:spPr>
          <a:xfrm>
            <a:off x="3383280" y="2724912"/>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No receipt download option on order confirmation -- order ID is now human-readable but no way to save proof of transaction</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Add 'Download Receipt' button generating PDF with order details, timestamp, and reference number</a:t>
            </a:r>
          </a:p>
        </p:txBody>
      </p:sp>
      <p:sp>
        <p:nvSpPr>
          <p:cNvPr id="22" name="Rectangle 21"/>
          <p:cNvSpPr/>
          <p:nvPr/>
        </p:nvSpPr>
        <p:spPr>
          <a:xfrm>
            <a:off x="731520" y="3666744"/>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#8</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Trade -- Sell Flow</a:t>
            </a:r>
          </a:p>
        </p:txBody>
      </p:sp>
      <p:sp>
        <p:nvSpPr>
          <p:cNvPr id="26" name="Rounded Rectangle 25"/>
          <p:cNvSpPr/>
          <p:nvPr/>
        </p:nvSpPr>
        <p:spPr>
          <a:xfrm>
            <a:off x="3383280" y="3803904"/>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Sell quantity validation error appears as auto-dismissing toast -- 'Cannot sell more than holdings' disappears after a few seconds</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Show persistent inline error below the amount field instead of an auto-dismissing toast for form validation errors</a:t>
            </a:r>
          </a:p>
        </p:txBody>
      </p:sp>
      <p:sp>
        <p:nvSpPr>
          <p:cNvPr id="29" name="Rectangle 28"/>
          <p:cNvSpPr/>
          <p:nvPr/>
        </p:nvSpPr>
        <p:spPr>
          <a:xfrm>
            <a:off x="731520" y="4745736"/>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#9</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Trade -- Limit Orders</a:t>
            </a:r>
          </a:p>
        </p:txBody>
      </p:sp>
      <p:sp>
        <p:nvSpPr>
          <p:cNvPr id="33" name="Rounded Rectangle 32"/>
          <p:cNvSpPr/>
          <p:nvPr/>
        </p:nvSpPr>
        <p:spPr>
          <a:xfrm>
            <a:off x="3383280" y="4882896"/>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Limit price field has no guidance -- novice user has no reference for what constitutes a reasonable limit price relative to current market</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Show current bid/ask next to limit price input, add helper text: 'Current ask: $X. Set below to wait for a dip.'</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#10</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Trade -- Price Display</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Live price refreshes every 5 seconds with no visual indicator of update -- prices change silently, user may not notice stale vs fresh data</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subtle pulse/flash animation on price change, show 'Updated Xs ago' countdown near the timestamp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200" b="1">
                <a:solidFill>
                  <a:srgbClr val="1A1A2E"/>
                </a:solidFill>
                <a:latin typeface="Calibri"/>
              </a:defRPr>
            </a:pPr>
            <a:r>
              <a:t>2026-03-10 (Re-audit) — Findings (3/3)</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Trade -- Debit Account</a:t>
            </a:r>
          </a:p>
        </p:txBody>
      </p:sp>
      <p:sp>
        <p:nvSpPr>
          <p:cNvPr id="12" name="Rounded Rectangle 11"/>
          <p:cNvSpPr/>
          <p:nvPr/>
        </p:nvSpPr>
        <p:spPr>
          <a:xfrm>
            <a:off x="3383280" y="1645920"/>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Account dropdown still shows full account numbers (501-100234-001) adding visual noise</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Simplify to 'Current Account -- S$50,000.00'. Show account numbers only in account settings.</a:t>
            </a:r>
          </a:p>
        </p:txBody>
      </p:sp>
      <p:sp>
        <p:nvSpPr>
          <p:cNvPr id="15" name="Rectangle 14"/>
          <p:cNvSpPr/>
          <p:nvPr/>
        </p:nvSpPr>
        <p:spPr>
          <a:xfrm>
            <a:off x="731520" y="2587752"/>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#12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Trade -- Price Chart</a:t>
            </a:r>
          </a:p>
        </p:txBody>
      </p:sp>
      <p:sp>
        <p:nvSpPr>
          <p:cNvPr id="19" name="Rounded Rectangle 18"/>
          <p:cNvSpPr/>
          <p:nvPr/>
        </p:nvSpPr>
        <p:spPr>
          <a:xfrm>
            <a:off x="3383280" y="2724912"/>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Chart time interval buttons display abbreviations (1H, 1D, 1W) as primary labels -- tooltips help but novices may not hover</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Show full labels on desktop ('1 Hour', '1 Day') or at minimum on first visit</a:t>
            </a:r>
          </a:p>
        </p:txBody>
      </p:sp>
      <p:sp>
        <p:nvSpPr>
          <p:cNvPr id="22" name="Rectangle 21"/>
          <p:cNvSpPr/>
          <p:nvPr/>
        </p:nvSpPr>
        <p:spPr>
          <a:xfrm>
            <a:off x="731520" y="3666744"/>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#13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Global</a:t>
            </a:r>
          </a:p>
        </p:txBody>
      </p:sp>
      <p:sp>
        <p:nvSpPr>
          <p:cNvPr id="26" name="Rounded Rectangle 25"/>
          <p:cNvSpPr/>
          <p:nvPr/>
        </p:nvSpPr>
        <p:spPr>
          <a:xfrm>
            <a:off x="3383280" y="3803904"/>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No responsive font scaling -- base font-size is fixed at 16px with no breakpoint adjustments for larger/smaller screens</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Use fluid typography: clamp(14px, 1vw + 0.5rem, 18px) for base, or add media query adjustments at sm/lg breakpoints</a:t>
            </a:r>
          </a:p>
        </p:txBody>
      </p:sp>
      <p:sp>
        <p:nvSpPr>
          <p:cNvPr id="29" name="Rectangle 28"/>
          <p:cNvSpPr/>
          <p:nvPr/>
        </p:nvSpPr>
        <p:spPr>
          <a:xfrm>
            <a:off x="731520" y="4745736"/>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#14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Products Page</a:t>
            </a:r>
          </a:p>
        </p:txBody>
      </p:sp>
      <p:sp>
        <p:nvSpPr>
          <p:cNvPr id="33" name="Rounded Rectangle 32"/>
          <p:cNvSpPr/>
          <p:nvPr/>
        </p:nvSpPr>
        <p:spPr>
          <a:xfrm>
            <a:off x="3383280" y="4882896"/>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Compare All Metals table requires explicit toggle -- users must discover and click 'Compare All Metals' link, defaults to hidden</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Show comparison table by default on desktop, collapse to toggle on mobile only</a:t>
            </a:r>
          </a:p>
        </p:txBody>
      </p:sp>
      <p:sp>
        <p:nvSpPr>
          <p:cNvPr id="36" name="Rectangle 35"/>
          <p:cNvSpPr/>
          <p:nvPr/>
        </p:nvSpPr>
        <p:spPr>
          <a:xfrm>
            <a:off x="731520" y="5824728"/>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Trade -- Order Form</a:t>
            </a:r>
          </a:p>
        </p:txBody>
      </p:sp>
      <p:sp>
        <p:nvSpPr>
          <p:cNvPr id="40" name="Rounded Rectangle 39"/>
          <p:cNvSpPr/>
          <p:nvPr/>
        </p:nvSpPr>
        <p:spPr>
          <a:xfrm>
            <a:off x="3383280" y="5961888"/>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Order form shows 'Minimum quantity: X ounce' at bottom of form -- easy to miss, only discovered after validation failure</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Move minimum quantity notice next to the 'You'll receive' display where quantity context is visible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200" b="1">
                <a:solidFill>
                  <a:srgbClr val="1A1A2E"/>
                </a:solidFill>
                <a:latin typeface="Calibri"/>
              </a:defRPr>
            </a:pPr>
            <a:r>
              <a:t>2026-03-10 (Re-audit) — Homepage</a:t>
            </a:r>
          </a:p>
        </p:txBody>
      </p:sp>
      <p:pic>
        <p:nvPicPr>
          <p:cNvPr id="3" name="Picture 2" descr="homepage-annotated.png"/>
          <p:cNvPicPr>
            <a:picLocks noChangeAspect="1"/>
          </p:cNvPicPr>
          <p:nvPr/>
        </p:nvPicPr>
        <p:blipFill>
          <a:blip r:embed="rId2"/>
          <a:stretch>
            <a:fillRect/>
          </a:stretch>
        </p:blipFill>
        <p:spPr>
          <a:xfrm>
            <a:off x="274320" y="914400"/>
            <a:ext cx="5067512"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Button/input height still 36px (h-9) -- below WCAG 2.2 SC 2.5.8 minimum of 44px, no @media (pointer: coarse) override</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min-height: 44px for all interactive elements via @media (pointer: coarse) query</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No footer whatsoever -- no Help, Terms, Privacy, Contact, or regulatory disclosure links</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standard footer with: Help Centre, Terms of Service, Privacy Policy, Contact Us, MAS regulatory notice</a:t>
            </a:r>
          </a:p>
        </p:txBody>
      </p:sp>
      <p:sp>
        <p:nvSpPr>
          <p:cNvPr id="11" name="Oval 10"/>
          <p:cNvSpPr/>
          <p:nvPr/>
        </p:nvSpPr>
        <p:spPr>
          <a:xfrm>
            <a:off x="7498079" y="269748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13</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16A34A"/>
                </a:solidFill>
                <a:latin typeface="Calibri"/>
              </a:defRPr>
            </a:pPr>
            <a:r>
              <a:t>[LOW] No responsive font scaling -- base font-size is fixed at 16px with no breakpoint adjustments for larger/smaller screens</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Use fluid typography: clamp(14px, 1vw + 0.5rem, 18px) for base, or add media query adjustments at sm/lg breakpoints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200" b="1">
                <a:solidFill>
                  <a:srgbClr val="1A1A2E"/>
                </a:solidFill>
                <a:latin typeface="Calibri"/>
              </a:defRPr>
            </a:pPr>
            <a:r>
              <a:t>2026-03-10 (Re-audit) — Orders</a:t>
            </a:r>
          </a:p>
        </p:txBody>
      </p:sp>
      <p:pic>
        <p:nvPicPr>
          <p:cNvPr id="3" name="Picture 2" descr="orders-annotated.png"/>
          <p:cNvPicPr>
            <a:picLocks noChangeAspect="1"/>
          </p:cNvPicPr>
          <p:nvPr/>
        </p:nvPicPr>
        <p:blipFill>
          <a:blip r:embed="rId2"/>
          <a:stretch>
            <a:fillRect/>
          </a:stretch>
        </p:blipFill>
        <p:spPr>
          <a:xfrm>
            <a:off x="274320" y="914400"/>
            <a:ext cx="6479177"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Button/input height still 36px (h-9) -- below WCAG 2.2 SC 2.5.8 minimum of 44px, no @media (pointer: coarse) override</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min-height: 44px for all interactive elements via @media (pointer: coarse) query</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No footer whatsoever -- no Help, Terms, Privacy, Contact, or regulatory disclosure links</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standard footer with: Help Centre, Terms of Service, Privacy Policy, Contact Us, MAS regulatory notice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200" b="1">
                <a:solidFill>
                  <a:srgbClr val="1A1A2E"/>
                </a:solidFill>
                <a:latin typeface="Calibri"/>
              </a:defRPr>
            </a:pPr>
            <a:r>
              <a:t>2026-03-10 (Re-audit) — Products</a:t>
            </a:r>
          </a:p>
        </p:txBody>
      </p:sp>
      <p:pic>
        <p:nvPicPr>
          <p:cNvPr id="3" name="Picture 2" descr="products-annotated.png"/>
          <p:cNvPicPr>
            <a:picLocks noChangeAspect="1"/>
          </p:cNvPicPr>
          <p:nvPr/>
        </p:nvPicPr>
        <p:blipFill>
          <a:blip r:embed="rId2"/>
          <a:stretch>
            <a:fillRect/>
          </a:stretch>
        </p:blipFill>
        <p:spPr>
          <a:xfrm>
            <a:off x="274320" y="914400"/>
            <a:ext cx="5607943"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14</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16A34A"/>
                </a:solidFill>
                <a:latin typeface="Calibri"/>
              </a:defRPr>
            </a:pPr>
            <a:r>
              <a:t>[LOW] Compare All Metals table requires explicit toggle -- users must discover and click 'Compare All Metals' link, defaults to hidden</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Show comparison table by default on desktop, collapse to toggle on mobile only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200" b="1">
                <a:solidFill>
                  <a:srgbClr val="1A1A2E"/>
                </a:solidFill>
                <a:latin typeface="Calibri"/>
              </a:defRPr>
            </a:pPr>
            <a:r>
              <a:t>2026-03-10 (Re-audit) — Trade Xau</a:t>
            </a:r>
          </a:p>
        </p:txBody>
      </p:sp>
      <p:pic>
        <p:nvPicPr>
          <p:cNvPr id="3" name="Picture 2" descr="trade-xau-annotated.png"/>
          <p:cNvPicPr>
            <a:picLocks noChangeAspect="1"/>
          </p:cNvPicPr>
          <p:nvPr/>
        </p:nvPicPr>
        <p:blipFill>
          <a:blip r:embed="rId2"/>
          <a:stretch>
            <a:fillRect/>
          </a:stretch>
        </p:blipFill>
        <p:spPr>
          <a:xfrm>
            <a:off x="274320" y="914400"/>
            <a:ext cx="6479177"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green-600 text (#16a34a) on white background fails WCAG AA at 3.30:1 -- used for positive price changes, buy toggle, and status badges</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Switch to green-700 (#15803d) which passes at 4.79:1, or use green text on green-50 background only</a:t>
            </a:r>
          </a:p>
        </p:txBody>
      </p:sp>
      <p:sp>
        <p:nvSpPr>
          <p:cNvPr id="8" name="Oval 7"/>
          <p:cNvSpPr/>
          <p:nvPr/>
        </p:nvSpPr>
        <p:spPr>
          <a:xfrm>
            <a:off x="7498079" y="205740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3</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EA580C"/>
                </a:solidFill>
                <a:latin typeface="Calibri"/>
              </a:defRPr>
            </a:pPr>
            <a:r>
              <a:t>[HIGH] Tooltip trigger icons are gray-400 (#9ca3af) at 14px (w-3.5) -- 2.54:1 contrast fails WCAG AA and size is below WCAG 2.5.8 touch target</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Increase icon size to at least 20px (w-5), darken to gray-600 (#4b5563) for 7.23:1 contrast</a:t>
            </a:r>
          </a:p>
        </p:txBody>
      </p:sp>
      <p:sp>
        <p:nvSpPr>
          <p:cNvPr id="11" name="Oval 10"/>
          <p:cNvSpPr/>
          <p:nvPr/>
        </p:nvSpPr>
        <p:spPr>
          <a:xfrm>
            <a:off x="7498079" y="269748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4</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EA580C"/>
                </a:solidFill>
                <a:latin typeface="Calibri"/>
              </a:defRPr>
            </a:pPr>
            <a:r>
              <a:t>[HIGH] Currency selector still shows all 5 currencies upfront -- switching from SGD to JPY multiplies amounts ~111x with only a small info box warning</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Default to SGD, collapse currency behind 'Change currency' link, add confirmation dialog when switching currencies mid-form</a:t>
            </a:r>
          </a:p>
        </p:txBody>
      </p:sp>
      <p:sp>
        <p:nvSpPr>
          <p:cNvPr id="14" name="Oval 13"/>
          <p:cNvSpPr/>
          <p:nvPr/>
        </p:nvSpPr>
        <p:spPr>
          <a:xfrm>
            <a:off x="7498079" y="333756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EA580C"/>
                </a:solidFill>
                <a:latin typeface="Calibri"/>
              </a:defRPr>
            </a:pPr>
            <a:r>
              <a:t>[HIGH] Button/input height still 36px (h-9) -- below WCAG 2.2 SC 2.5.8 minimum of 44px, no @media (pointer: coarse) override</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Add min-height: 44px for all interactive elements via @media (pointer: coarse) query</a:t>
            </a:r>
          </a:p>
        </p:txBody>
      </p:sp>
      <p:sp>
        <p:nvSpPr>
          <p:cNvPr id="17" name="Oval 16"/>
          <p:cNvSpPr/>
          <p:nvPr/>
        </p:nvSpPr>
        <p:spPr>
          <a:xfrm>
            <a:off x="7498079" y="397764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5</a:t>
            </a:r>
          </a:p>
        </p:txBody>
      </p:sp>
      <p:sp>
        <p:nvSpPr>
          <p:cNvPr id="18" name="TextBox 17"/>
          <p:cNvSpPr txBox="1"/>
          <p:nvPr/>
        </p:nvSpPr>
        <p:spPr>
          <a:xfrm>
            <a:off x="7772399" y="3931920"/>
            <a:ext cx="4114800" cy="201168"/>
          </a:xfrm>
          <a:prstGeom prst="rect">
            <a:avLst/>
          </a:prstGeom>
          <a:noFill/>
        </p:spPr>
        <p:txBody>
          <a:bodyPr wrap="square">
            <a:spAutoFit/>
          </a:bodyPr>
          <a:lstStyle/>
          <a:p>
            <a:pPr algn="l">
              <a:defRPr sz="900" b="0">
                <a:solidFill>
                  <a:srgbClr val="CA8A04"/>
                </a:solidFill>
                <a:latin typeface="Calibri"/>
              </a:defRPr>
            </a:pPr>
            <a:r>
              <a:t>[MEDIUM] No guided first-trade walkthrough -- tooltips added but no dismissible onboarding banner or step-by-step tour for first-time users</a:t>
            </a:r>
          </a:p>
        </p:txBody>
      </p:sp>
      <p:sp>
        <p:nvSpPr>
          <p:cNvPr id="19" name="TextBox 18"/>
          <p:cNvSpPr txBox="1"/>
          <p:nvPr/>
        </p:nvSpPr>
        <p:spPr>
          <a:xfrm>
            <a:off x="7772399" y="4133088"/>
            <a:ext cx="4114800" cy="365760"/>
          </a:xfrm>
          <a:prstGeom prst="rect">
            <a:avLst/>
          </a:prstGeom>
          <a:noFill/>
        </p:spPr>
        <p:txBody>
          <a:bodyPr wrap="square">
            <a:spAutoFit/>
          </a:bodyPr>
          <a:lstStyle/>
          <a:p>
            <a:pPr algn="l">
              <a:defRPr sz="800" b="0">
                <a:solidFill>
                  <a:srgbClr val="6B7280"/>
                </a:solidFill>
                <a:latin typeface="Calibri"/>
              </a:defRPr>
            </a:pPr>
            <a:r>
              <a:t>→ Add a dismissible 3-step first-visit banner: 1) Choose metal, 2) Set amount, 3) Review and confirm</a:t>
            </a:r>
          </a:p>
        </p:txBody>
      </p:sp>
      <p:sp>
        <p:nvSpPr>
          <p:cNvPr id="20" name="Oval 19"/>
          <p:cNvSpPr/>
          <p:nvPr/>
        </p:nvSpPr>
        <p:spPr>
          <a:xfrm>
            <a:off x="7498079" y="461772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8</a:t>
            </a:r>
          </a:p>
        </p:txBody>
      </p:sp>
      <p:sp>
        <p:nvSpPr>
          <p:cNvPr id="21" name="TextBox 20"/>
          <p:cNvSpPr txBox="1"/>
          <p:nvPr/>
        </p:nvSpPr>
        <p:spPr>
          <a:xfrm>
            <a:off x="7772399" y="4572000"/>
            <a:ext cx="4114800" cy="201168"/>
          </a:xfrm>
          <a:prstGeom prst="rect">
            <a:avLst/>
          </a:prstGeom>
          <a:noFill/>
        </p:spPr>
        <p:txBody>
          <a:bodyPr wrap="square">
            <a:spAutoFit/>
          </a:bodyPr>
          <a:lstStyle/>
          <a:p>
            <a:pPr algn="l">
              <a:defRPr sz="900" b="0">
                <a:solidFill>
                  <a:srgbClr val="CA8A04"/>
                </a:solidFill>
                <a:latin typeface="Calibri"/>
              </a:defRPr>
            </a:pPr>
            <a:r>
              <a:t>[MEDIUM] Sell quantity validation error appears as auto-dismissing toast -- 'Cannot sell more than holdings' disappears after a few seconds</a:t>
            </a:r>
          </a:p>
        </p:txBody>
      </p:sp>
      <p:sp>
        <p:nvSpPr>
          <p:cNvPr id="22" name="TextBox 21"/>
          <p:cNvSpPr txBox="1"/>
          <p:nvPr/>
        </p:nvSpPr>
        <p:spPr>
          <a:xfrm>
            <a:off x="7772399" y="4773168"/>
            <a:ext cx="4114800" cy="365760"/>
          </a:xfrm>
          <a:prstGeom prst="rect">
            <a:avLst/>
          </a:prstGeom>
          <a:noFill/>
        </p:spPr>
        <p:txBody>
          <a:bodyPr wrap="square">
            <a:spAutoFit/>
          </a:bodyPr>
          <a:lstStyle/>
          <a:p>
            <a:pPr algn="l">
              <a:defRPr sz="800" b="0">
                <a:solidFill>
                  <a:srgbClr val="6B7280"/>
                </a:solidFill>
                <a:latin typeface="Calibri"/>
              </a:defRPr>
            </a:pPr>
            <a:r>
              <a:t>→ Show persistent inline error below the amount field instead of an auto-dismissing toast for form validation errors</a:t>
            </a:r>
          </a:p>
        </p:txBody>
      </p:sp>
      <p:sp>
        <p:nvSpPr>
          <p:cNvPr id="23" name="Oval 22"/>
          <p:cNvSpPr/>
          <p:nvPr/>
        </p:nvSpPr>
        <p:spPr>
          <a:xfrm>
            <a:off x="7498079" y="52578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9</a:t>
            </a:r>
          </a:p>
        </p:txBody>
      </p:sp>
      <p:sp>
        <p:nvSpPr>
          <p:cNvPr id="24" name="TextBox 23"/>
          <p:cNvSpPr txBox="1"/>
          <p:nvPr/>
        </p:nvSpPr>
        <p:spPr>
          <a:xfrm>
            <a:off x="7772399" y="5212080"/>
            <a:ext cx="4114800" cy="201168"/>
          </a:xfrm>
          <a:prstGeom prst="rect">
            <a:avLst/>
          </a:prstGeom>
          <a:noFill/>
        </p:spPr>
        <p:txBody>
          <a:bodyPr wrap="square">
            <a:spAutoFit/>
          </a:bodyPr>
          <a:lstStyle/>
          <a:p>
            <a:pPr algn="l">
              <a:defRPr sz="900" b="0">
                <a:solidFill>
                  <a:srgbClr val="CA8A04"/>
                </a:solidFill>
                <a:latin typeface="Calibri"/>
              </a:defRPr>
            </a:pPr>
            <a:r>
              <a:t>[MEDIUM] Limit price field has no guidance -- novice user has no reference for what constitutes a reasonable limit price relative to current market</a:t>
            </a:r>
          </a:p>
        </p:txBody>
      </p:sp>
      <p:sp>
        <p:nvSpPr>
          <p:cNvPr id="25" name="TextBox 24"/>
          <p:cNvSpPr txBox="1"/>
          <p:nvPr/>
        </p:nvSpPr>
        <p:spPr>
          <a:xfrm>
            <a:off x="7772399" y="5413248"/>
            <a:ext cx="4114800" cy="365760"/>
          </a:xfrm>
          <a:prstGeom prst="rect">
            <a:avLst/>
          </a:prstGeom>
          <a:noFill/>
        </p:spPr>
        <p:txBody>
          <a:bodyPr wrap="square">
            <a:spAutoFit/>
          </a:bodyPr>
          <a:lstStyle/>
          <a:p>
            <a:pPr algn="l">
              <a:defRPr sz="800" b="0">
                <a:solidFill>
                  <a:srgbClr val="6B7280"/>
                </a:solidFill>
                <a:latin typeface="Calibri"/>
              </a:defRPr>
            </a:pPr>
            <a:r>
              <a:t>→ Show current bid/ask next to limit price input, add helper text: 'Current ask: $X. Set below to wait for a dip.'</a:t>
            </a:r>
          </a:p>
        </p:txBody>
      </p:sp>
      <p:sp>
        <p:nvSpPr>
          <p:cNvPr id="26" name="Oval 25"/>
          <p:cNvSpPr/>
          <p:nvPr/>
        </p:nvSpPr>
        <p:spPr>
          <a:xfrm>
            <a:off x="7498079" y="589788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10</a:t>
            </a:r>
          </a:p>
        </p:txBody>
      </p:sp>
      <p:sp>
        <p:nvSpPr>
          <p:cNvPr id="27" name="TextBox 26"/>
          <p:cNvSpPr txBox="1"/>
          <p:nvPr/>
        </p:nvSpPr>
        <p:spPr>
          <a:xfrm>
            <a:off x="7772399" y="5852160"/>
            <a:ext cx="4114800" cy="201168"/>
          </a:xfrm>
          <a:prstGeom prst="rect">
            <a:avLst/>
          </a:prstGeom>
          <a:noFill/>
        </p:spPr>
        <p:txBody>
          <a:bodyPr wrap="square">
            <a:spAutoFit/>
          </a:bodyPr>
          <a:lstStyle/>
          <a:p>
            <a:pPr algn="l">
              <a:defRPr sz="900" b="0">
                <a:solidFill>
                  <a:srgbClr val="CA8A04"/>
                </a:solidFill>
                <a:latin typeface="Calibri"/>
              </a:defRPr>
            </a:pPr>
            <a:r>
              <a:t>[MEDIUM] Live price refreshes every 5 seconds with no visual indicator of update -- prices change silently, user may not notice stale vs fresh data</a:t>
            </a:r>
          </a:p>
        </p:txBody>
      </p:sp>
      <p:sp>
        <p:nvSpPr>
          <p:cNvPr id="28" name="TextBox 27"/>
          <p:cNvSpPr txBox="1"/>
          <p:nvPr/>
        </p:nvSpPr>
        <p:spPr>
          <a:xfrm>
            <a:off x="7772399" y="6053328"/>
            <a:ext cx="4114800" cy="365760"/>
          </a:xfrm>
          <a:prstGeom prst="rect">
            <a:avLst/>
          </a:prstGeom>
          <a:noFill/>
        </p:spPr>
        <p:txBody>
          <a:bodyPr wrap="square">
            <a:spAutoFit/>
          </a:bodyPr>
          <a:lstStyle/>
          <a:p>
            <a:pPr algn="l">
              <a:defRPr sz="800" b="0">
                <a:solidFill>
                  <a:srgbClr val="6B7280"/>
                </a:solidFill>
                <a:latin typeface="Calibri"/>
              </a:defRPr>
            </a:pPr>
            <a:r>
              <a:t>→ Add subtle pulse/flash animation on price change, show 'Updated Xs ago' countdown near the timestamp</a:t>
            </a:r>
          </a:p>
        </p:txBody>
      </p:sp>
      <p:sp>
        <p:nvSpPr>
          <p:cNvPr id="29" name="Oval 28"/>
          <p:cNvSpPr/>
          <p:nvPr/>
        </p:nvSpPr>
        <p:spPr>
          <a:xfrm>
            <a:off x="7498079" y="653796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11</a:t>
            </a:r>
          </a:p>
        </p:txBody>
      </p:sp>
      <p:sp>
        <p:nvSpPr>
          <p:cNvPr id="30" name="TextBox 29"/>
          <p:cNvSpPr txBox="1"/>
          <p:nvPr/>
        </p:nvSpPr>
        <p:spPr>
          <a:xfrm>
            <a:off x="7772399" y="6492240"/>
            <a:ext cx="4114800" cy="201168"/>
          </a:xfrm>
          <a:prstGeom prst="rect">
            <a:avLst/>
          </a:prstGeom>
          <a:noFill/>
        </p:spPr>
        <p:txBody>
          <a:bodyPr wrap="square">
            <a:spAutoFit/>
          </a:bodyPr>
          <a:lstStyle/>
          <a:p>
            <a:pPr algn="l">
              <a:defRPr sz="900" b="0">
                <a:solidFill>
                  <a:srgbClr val="16A34A"/>
                </a:solidFill>
                <a:latin typeface="Calibri"/>
              </a:defRPr>
            </a:pPr>
            <a:r>
              <a:t>[LOW] Account dropdown still shows full account numbers (501-100234-001) adding visual noise</a:t>
            </a:r>
          </a:p>
        </p:txBody>
      </p:sp>
      <p:sp>
        <p:nvSpPr>
          <p:cNvPr id="31" name="TextBox 30"/>
          <p:cNvSpPr txBox="1"/>
          <p:nvPr/>
        </p:nvSpPr>
        <p:spPr>
          <a:xfrm>
            <a:off x="7772399" y="6693408"/>
            <a:ext cx="4114800" cy="365760"/>
          </a:xfrm>
          <a:prstGeom prst="rect">
            <a:avLst/>
          </a:prstGeom>
          <a:noFill/>
        </p:spPr>
        <p:txBody>
          <a:bodyPr wrap="square">
            <a:spAutoFit/>
          </a:bodyPr>
          <a:lstStyle/>
          <a:p>
            <a:pPr algn="l">
              <a:defRPr sz="800" b="0">
                <a:solidFill>
                  <a:srgbClr val="6B7280"/>
                </a:solidFill>
                <a:latin typeface="Calibri"/>
              </a:defRPr>
            </a:pPr>
            <a:r>
              <a:t>→ Simplify to 'Current Account -- S$50,000.00'. Show account numbers only in account settings.</a:t>
            </a:r>
          </a:p>
        </p:txBody>
      </p:sp>
      <p:sp>
        <p:nvSpPr>
          <p:cNvPr id="32" name="Oval 31"/>
          <p:cNvSpPr/>
          <p:nvPr/>
        </p:nvSpPr>
        <p:spPr>
          <a:xfrm>
            <a:off x="7498079" y="717804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12</a:t>
            </a:r>
          </a:p>
        </p:txBody>
      </p:sp>
      <p:sp>
        <p:nvSpPr>
          <p:cNvPr id="33" name="TextBox 32"/>
          <p:cNvSpPr txBox="1"/>
          <p:nvPr/>
        </p:nvSpPr>
        <p:spPr>
          <a:xfrm>
            <a:off x="7772399" y="7132320"/>
            <a:ext cx="4114800" cy="201168"/>
          </a:xfrm>
          <a:prstGeom prst="rect">
            <a:avLst/>
          </a:prstGeom>
          <a:noFill/>
        </p:spPr>
        <p:txBody>
          <a:bodyPr wrap="square">
            <a:spAutoFit/>
          </a:bodyPr>
          <a:lstStyle/>
          <a:p>
            <a:pPr algn="l">
              <a:defRPr sz="900" b="0">
                <a:solidFill>
                  <a:srgbClr val="16A34A"/>
                </a:solidFill>
                <a:latin typeface="Calibri"/>
              </a:defRPr>
            </a:pPr>
            <a:r>
              <a:t>[LOW] Chart time interval buttons display abbreviations (1H, 1D, 1W) as primary labels -- tooltips help but novices may not hover</a:t>
            </a:r>
          </a:p>
        </p:txBody>
      </p:sp>
      <p:sp>
        <p:nvSpPr>
          <p:cNvPr id="34" name="TextBox 33"/>
          <p:cNvSpPr txBox="1"/>
          <p:nvPr/>
        </p:nvSpPr>
        <p:spPr>
          <a:xfrm>
            <a:off x="7772399" y="7333488"/>
            <a:ext cx="4114800" cy="365760"/>
          </a:xfrm>
          <a:prstGeom prst="rect">
            <a:avLst/>
          </a:prstGeom>
          <a:noFill/>
        </p:spPr>
        <p:txBody>
          <a:bodyPr wrap="square">
            <a:spAutoFit/>
          </a:bodyPr>
          <a:lstStyle/>
          <a:p>
            <a:pPr algn="l">
              <a:defRPr sz="800" b="0">
                <a:solidFill>
                  <a:srgbClr val="6B7280"/>
                </a:solidFill>
                <a:latin typeface="Calibri"/>
              </a:defRPr>
            </a:pPr>
            <a:r>
              <a:t>→ Show full labels on desktop ('1 Hour', '1 Day') or at minimum on first visit</a:t>
            </a:r>
          </a:p>
        </p:txBody>
      </p:sp>
      <p:sp>
        <p:nvSpPr>
          <p:cNvPr id="35" name="Oval 34"/>
          <p:cNvSpPr/>
          <p:nvPr/>
        </p:nvSpPr>
        <p:spPr>
          <a:xfrm>
            <a:off x="7498079" y="781812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15</a:t>
            </a:r>
          </a:p>
        </p:txBody>
      </p:sp>
      <p:sp>
        <p:nvSpPr>
          <p:cNvPr id="36" name="TextBox 35"/>
          <p:cNvSpPr txBox="1"/>
          <p:nvPr/>
        </p:nvSpPr>
        <p:spPr>
          <a:xfrm>
            <a:off x="7772399" y="7772400"/>
            <a:ext cx="4114800" cy="201168"/>
          </a:xfrm>
          <a:prstGeom prst="rect">
            <a:avLst/>
          </a:prstGeom>
          <a:noFill/>
        </p:spPr>
        <p:txBody>
          <a:bodyPr wrap="square">
            <a:spAutoFit/>
          </a:bodyPr>
          <a:lstStyle/>
          <a:p>
            <a:pPr algn="l">
              <a:defRPr sz="900" b="0">
                <a:solidFill>
                  <a:srgbClr val="16A34A"/>
                </a:solidFill>
                <a:latin typeface="Calibri"/>
              </a:defRPr>
            </a:pPr>
            <a:r>
              <a:t>[LOW] Order form shows 'Minimum quantity: X ounce' at bottom of form -- easy to miss, only discovered after validation failure</a:t>
            </a:r>
          </a:p>
        </p:txBody>
      </p:sp>
      <p:sp>
        <p:nvSpPr>
          <p:cNvPr id="37" name="TextBox 36"/>
          <p:cNvSpPr txBox="1"/>
          <p:nvPr/>
        </p:nvSpPr>
        <p:spPr>
          <a:xfrm>
            <a:off x="7772399" y="7973568"/>
            <a:ext cx="4114800" cy="365760"/>
          </a:xfrm>
          <a:prstGeom prst="rect">
            <a:avLst/>
          </a:prstGeom>
          <a:noFill/>
        </p:spPr>
        <p:txBody>
          <a:bodyPr wrap="square">
            <a:spAutoFit/>
          </a:bodyPr>
          <a:lstStyle/>
          <a:p>
            <a:pPr algn="l">
              <a:defRPr sz="800" b="0">
                <a:solidFill>
                  <a:srgbClr val="6B7280"/>
                </a:solidFill>
                <a:latin typeface="Calibri"/>
              </a:defRPr>
            </a:pPr>
            <a:r>
              <a:t>→ Move minimum quantity notice next to the 'You'll receive' display where quantity context is visible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Top 5 Priority Recommendations (Current)</a:t>
            </a:r>
          </a:p>
        </p:txBody>
      </p:sp>
      <p:sp>
        <p:nvSpPr>
          <p:cNvPr id="3" name="Rounded Rectangle 2"/>
          <p:cNvSpPr/>
          <p:nvPr/>
        </p:nvSpPr>
        <p:spPr>
          <a:xfrm>
            <a:off x="731520" y="1188720"/>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32588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1</a:t>
            </a:r>
          </a:p>
        </p:txBody>
      </p:sp>
      <p:sp>
        <p:nvSpPr>
          <p:cNvPr id="5" name="TextBox 4"/>
          <p:cNvSpPr txBox="1"/>
          <p:nvPr/>
        </p:nvSpPr>
        <p:spPr>
          <a:xfrm>
            <a:off x="1463040" y="1280160"/>
            <a:ext cx="7315200" cy="320040"/>
          </a:xfrm>
          <a:prstGeom prst="rect">
            <a:avLst/>
          </a:prstGeom>
          <a:noFill/>
        </p:spPr>
        <p:txBody>
          <a:bodyPr wrap="square">
            <a:spAutoFit/>
          </a:bodyPr>
          <a:lstStyle/>
          <a:p>
            <a:pPr algn="l">
              <a:defRPr sz="1400" b="1">
                <a:solidFill>
                  <a:srgbClr val="1E40AF"/>
                </a:solidFill>
                <a:latin typeface="Calibri"/>
              </a:defRPr>
            </a:pPr>
            <a:r>
              <a:t>Fix WCAG 2.2 Touch Target Compliance</a:t>
            </a:r>
          </a:p>
        </p:txBody>
      </p:sp>
      <p:sp>
        <p:nvSpPr>
          <p:cNvPr id="6" name="TextBox 5"/>
          <p:cNvSpPr txBox="1"/>
          <p:nvPr/>
        </p:nvSpPr>
        <p:spPr>
          <a:xfrm>
            <a:off x="1463040" y="1600200"/>
            <a:ext cx="7772400" cy="457200"/>
          </a:xfrm>
          <a:prstGeom prst="rect">
            <a:avLst/>
          </a:prstGeom>
          <a:noFill/>
        </p:spPr>
        <p:txBody>
          <a:bodyPr wrap="square">
            <a:spAutoFit/>
          </a:bodyPr>
          <a:lstStyle/>
          <a:p>
            <a:pPr algn="l">
              <a:defRPr sz="1000" b="0">
                <a:solidFill>
                  <a:srgbClr val="374151"/>
                </a:solidFill>
                <a:latin typeface="Calibri"/>
              </a:defRPr>
            </a:pPr>
            <a:r>
              <a:t>What to fix: Interactive element heights (buttons, inputs, selects) are 36px, below the 44px minimum. | Why it matters: WCAG 2.2 SC 2.5.8 failure. Legal compliance risk for a financial product. Touch users on tablets/touchscreens will struggle. | How to fix it: Add `@media (pointer: coarse) { button, input, select, [role="button"] { min-height: 44px; } }`. Consider increasing default height to h-10 (40px) for all pointers.</a:t>
            </a:r>
          </a:p>
        </p:txBody>
      </p:sp>
      <p:sp>
        <p:nvSpPr>
          <p:cNvPr id="7" name="TextBox 6"/>
          <p:cNvSpPr txBox="1"/>
          <p:nvPr/>
        </p:nvSpPr>
        <p:spPr>
          <a:xfrm>
            <a:off x="9601200" y="1325880"/>
            <a:ext cx="1371600" cy="274320"/>
          </a:xfrm>
          <a:prstGeom prst="rect">
            <a:avLst/>
          </a:prstGeom>
          <a:noFill/>
        </p:spPr>
        <p:txBody>
          <a:bodyPr wrap="square">
            <a:spAutoFit/>
          </a:bodyPr>
          <a:lstStyle/>
          <a:p>
            <a:pPr algn="r">
              <a:defRPr sz="1000" b="1">
                <a:solidFill>
                  <a:srgbClr val="166534"/>
                </a:solidFill>
                <a:latin typeface="Calibri"/>
              </a:defRPr>
            </a:pPr>
            <a:r>
              <a:t>Quick Win</a:t>
            </a:r>
          </a:p>
        </p:txBody>
      </p:sp>
      <p:sp>
        <p:nvSpPr>
          <p:cNvPr id="8" name="Rounded Rectangle 7"/>
          <p:cNvSpPr/>
          <p:nvPr/>
        </p:nvSpPr>
        <p:spPr>
          <a:xfrm>
            <a:off x="731520" y="2212848"/>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2350008"/>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a:t>
            </a:r>
          </a:p>
        </p:txBody>
      </p:sp>
      <p:sp>
        <p:nvSpPr>
          <p:cNvPr id="10" name="TextBox 9"/>
          <p:cNvSpPr txBox="1"/>
          <p:nvPr/>
        </p:nvSpPr>
        <p:spPr>
          <a:xfrm>
            <a:off x="1463040" y="2304288"/>
            <a:ext cx="7315200" cy="320040"/>
          </a:xfrm>
          <a:prstGeom prst="rect">
            <a:avLst/>
          </a:prstGeom>
          <a:noFill/>
        </p:spPr>
        <p:txBody>
          <a:bodyPr wrap="square">
            <a:spAutoFit/>
          </a:bodyPr>
          <a:lstStyle/>
          <a:p>
            <a:pPr algn="l">
              <a:defRPr sz="1400" b="1">
                <a:solidFill>
                  <a:srgbClr val="1E40AF"/>
                </a:solidFill>
                <a:latin typeface="Calibri"/>
              </a:defRPr>
            </a:pPr>
            <a:r>
              <a:t>Fix Green Text Contrast for Price Changes</a:t>
            </a:r>
          </a:p>
        </p:txBody>
      </p:sp>
      <p:sp>
        <p:nvSpPr>
          <p:cNvPr id="11" name="TextBox 10"/>
          <p:cNvSpPr txBox="1"/>
          <p:nvPr/>
        </p:nvSpPr>
        <p:spPr>
          <a:xfrm>
            <a:off x="1463040" y="2624328"/>
            <a:ext cx="7772400" cy="457200"/>
          </a:xfrm>
          <a:prstGeom prst="rect">
            <a:avLst/>
          </a:prstGeom>
          <a:noFill/>
        </p:spPr>
        <p:txBody>
          <a:bodyPr wrap="square">
            <a:spAutoFit/>
          </a:bodyPr>
          <a:lstStyle/>
          <a:p>
            <a:pPr algn="l">
              <a:defRPr sz="1000" b="0">
                <a:solidFill>
                  <a:srgbClr val="374151"/>
                </a:solidFill>
                <a:latin typeface="Calibri"/>
              </a:defRPr>
            </a:pPr>
            <a:r>
              <a:t>What to fix: green-600 (#16a34a) on white background fails WCAG AA at 3.30:1. Used extensively for positive price movements and buy state. | Why it matters: Price direction (up/down) is critical information in a trading app. Low-vision users literally cannot distinguish positive from negative prices. | How to fix it: Replace green-600 with green-700 (#15803d) which passes at 4.79:1. Or always pair green text with green-50 background for 4.79:1.</a:t>
            </a:r>
          </a:p>
        </p:txBody>
      </p:sp>
      <p:sp>
        <p:nvSpPr>
          <p:cNvPr id="12" name="TextBox 11"/>
          <p:cNvSpPr txBox="1"/>
          <p:nvPr/>
        </p:nvSpPr>
        <p:spPr>
          <a:xfrm>
            <a:off x="9601200" y="2350008"/>
            <a:ext cx="1371600" cy="274320"/>
          </a:xfrm>
          <a:prstGeom prst="rect">
            <a:avLst/>
          </a:prstGeom>
          <a:noFill/>
        </p:spPr>
        <p:txBody>
          <a:bodyPr wrap="square">
            <a:spAutoFit/>
          </a:bodyPr>
          <a:lstStyle/>
          <a:p>
            <a:pPr algn="r">
              <a:defRPr sz="1000" b="1">
                <a:solidFill>
                  <a:srgbClr val="166534"/>
                </a:solidFill>
                <a:latin typeface="Calibri"/>
              </a:defRPr>
            </a:pPr>
            <a:r>
              <a:t>Quick Win</a:t>
            </a:r>
          </a:p>
        </p:txBody>
      </p:sp>
      <p:sp>
        <p:nvSpPr>
          <p:cNvPr id="13" name="Rounded Rectangle 12"/>
          <p:cNvSpPr/>
          <p:nvPr/>
        </p:nvSpPr>
        <p:spPr>
          <a:xfrm>
            <a:off x="731520" y="3236976"/>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374136"/>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3</a:t>
            </a:r>
          </a:p>
        </p:txBody>
      </p:sp>
      <p:sp>
        <p:nvSpPr>
          <p:cNvPr id="15" name="TextBox 14"/>
          <p:cNvSpPr txBox="1"/>
          <p:nvPr/>
        </p:nvSpPr>
        <p:spPr>
          <a:xfrm>
            <a:off x="1463040" y="3328416"/>
            <a:ext cx="7315200" cy="320040"/>
          </a:xfrm>
          <a:prstGeom prst="rect">
            <a:avLst/>
          </a:prstGeom>
          <a:noFill/>
        </p:spPr>
        <p:txBody>
          <a:bodyPr wrap="square">
            <a:spAutoFit/>
          </a:bodyPr>
          <a:lstStyle/>
          <a:p>
            <a:pPr algn="l">
              <a:defRPr sz="1400" b="1">
                <a:solidFill>
                  <a:srgbClr val="1E40AF"/>
                </a:solidFill>
                <a:latin typeface="Calibri"/>
              </a:defRPr>
            </a:pPr>
            <a:r>
              <a:t>Make Tooltip Triggers Discoverable</a:t>
            </a:r>
          </a:p>
        </p:txBody>
      </p:sp>
      <p:sp>
        <p:nvSpPr>
          <p:cNvPr id="16" name="TextBox 15"/>
          <p:cNvSpPr txBox="1"/>
          <p:nvPr/>
        </p:nvSpPr>
        <p:spPr>
          <a:xfrm>
            <a:off x="1463040" y="3648456"/>
            <a:ext cx="7772400" cy="457200"/>
          </a:xfrm>
          <a:prstGeom prst="rect">
            <a:avLst/>
          </a:prstGeom>
          <a:noFill/>
        </p:spPr>
        <p:txBody>
          <a:bodyPr wrap="square">
            <a:spAutoFit/>
          </a:bodyPr>
          <a:lstStyle/>
          <a:p>
            <a:pPr algn="l">
              <a:defRPr sz="1000" b="0">
                <a:solidFill>
                  <a:srgbClr val="374151"/>
                </a:solidFill>
                <a:latin typeface="Calibri"/>
              </a:defRPr>
            </a:pPr>
            <a:r>
              <a:t>What to fix: The educational tooltip icons (ⓘ) are 14px with 2.54:1 contrast. They're the gateway to all novice-friendly content but nearly invisible. | Why it matters: The team invested in excellent tooltip content (Bid, Ask, Spread, Order Type explanations) but the entry point is hidden in plain sight. Novice users -- the exact target audience -- will never discover them. | How to fix it: (a) Increase to 20px (w-5 h-5). (b) Darken to gray-600. (c) On first visit, auto-open one tooltip to teach the pattern. (d) Consider using text labels "What's this?" instead of icon-only triggers.</a:t>
            </a:r>
          </a:p>
        </p:txBody>
      </p:sp>
      <p:sp>
        <p:nvSpPr>
          <p:cNvPr id="17" name="TextBox 16"/>
          <p:cNvSpPr txBox="1"/>
          <p:nvPr/>
        </p:nvSpPr>
        <p:spPr>
          <a:xfrm>
            <a:off x="9601200" y="3374136"/>
            <a:ext cx="1371600" cy="274320"/>
          </a:xfrm>
          <a:prstGeom prst="rect">
            <a:avLst/>
          </a:prstGeom>
          <a:noFill/>
        </p:spPr>
        <p:txBody>
          <a:bodyPr wrap="square">
            <a:spAutoFit/>
          </a:bodyPr>
          <a:lstStyle/>
          <a:p>
            <a:pPr algn="r">
              <a:defRPr sz="1000" b="1">
                <a:solidFill>
                  <a:srgbClr val="166534"/>
                </a:solidFill>
                <a:latin typeface="Calibri"/>
              </a:defRPr>
            </a:pPr>
            <a:r>
              <a:t>Quick Win</a:t>
            </a:r>
          </a:p>
        </p:txBody>
      </p:sp>
      <p:sp>
        <p:nvSpPr>
          <p:cNvPr id="18" name="Rounded Rectangle 17"/>
          <p:cNvSpPr/>
          <p:nvPr/>
        </p:nvSpPr>
        <p:spPr>
          <a:xfrm>
            <a:off x="731520" y="4261104"/>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4398264"/>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a:t>
            </a:r>
          </a:p>
        </p:txBody>
      </p:sp>
      <p:sp>
        <p:nvSpPr>
          <p:cNvPr id="20" name="TextBox 19"/>
          <p:cNvSpPr txBox="1"/>
          <p:nvPr/>
        </p:nvSpPr>
        <p:spPr>
          <a:xfrm>
            <a:off x="1463040" y="4352544"/>
            <a:ext cx="7315200" cy="320040"/>
          </a:xfrm>
          <a:prstGeom prst="rect">
            <a:avLst/>
          </a:prstGeom>
          <a:noFill/>
        </p:spPr>
        <p:txBody>
          <a:bodyPr wrap="square">
            <a:spAutoFit/>
          </a:bodyPr>
          <a:lstStyle/>
          <a:p>
            <a:pPr algn="l">
              <a:defRPr sz="1400" b="1">
                <a:solidFill>
                  <a:srgbClr val="1E40AF"/>
                </a:solidFill>
                <a:latin typeface="Calibri"/>
              </a:defRPr>
            </a:pPr>
            <a:r>
              <a:t>Collapse Currency Selector with Confirmation</a:t>
            </a:r>
          </a:p>
        </p:txBody>
      </p:sp>
      <p:sp>
        <p:nvSpPr>
          <p:cNvPr id="21" name="TextBox 20"/>
          <p:cNvSpPr txBox="1"/>
          <p:nvPr/>
        </p:nvSpPr>
        <p:spPr>
          <a:xfrm>
            <a:off x="1463040" y="4672584"/>
            <a:ext cx="7772400" cy="457200"/>
          </a:xfrm>
          <a:prstGeom prst="rect">
            <a:avLst/>
          </a:prstGeom>
          <a:noFill/>
        </p:spPr>
        <p:txBody>
          <a:bodyPr wrap="square">
            <a:spAutoFit/>
          </a:bodyPr>
          <a:lstStyle/>
          <a:p>
            <a:pPr algn="l">
              <a:defRPr sz="1000" b="0">
                <a:solidFill>
                  <a:srgbClr val="374151"/>
                </a:solidFill>
                <a:latin typeface="Calibri"/>
              </a:defRPr>
            </a:pPr>
            <a:r>
              <a:t>What to fix: 5 currencies shown upfront in dropdown. Switching from SGD to JPY changes the entire form with a ~111x multiplier. | Why it matters: A novice investor in Singapore trading in SGD has no reason to see JPY/EUR/HKD options. Accidental switches cause confusion and potential financial mistakes. | How to fix it: (a) Default to SGD, show "Change currency" link. (b) When clicked, show currency options. (c) On selection, show a confirmation: "Switch to Japanese Yen? Your amount will be converted at 1 SGD = 111.11 JPY."</a:t>
            </a:r>
          </a:p>
        </p:txBody>
      </p:sp>
      <p:sp>
        <p:nvSpPr>
          <p:cNvPr id="22" name="TextBox 21"/>
          <p:cNvSpPr txBox="1"/>
          <p:nvPr/>
        </p:nvSpPr>
        <p:spPr>
          <a:xfrm>
            <a:off x="9601200" y="4398264"/>
            <a:ext cx="1371600" cy="274320"/>
          </a:xfrm>
          <a:prstGeom prst="rect">
            <a:avLst/>
          </a:prstGeom>
          <a:noFill/>
        </p:spPr>
        <p:txBody>
          <a:bodyPr wrap="square">
            <a:spAutoFit/>
          </a:bodyPr>
          <a:lstStyle/>
          <a:p>
            <a:pPr algn="r">
              <a:defRPr sz="1000" b="1">
                <a:solidFill>
                  <a:srgbClr val="92400E"/>
                </a:solidFill>
                <a:latin typeface="Calibri"/>
              </a:defRPr>
            </a:pPr>
            <a:r>
              <a:t>Medium Lift</a:t>
            </a:r>
          </a:p>
        </p:txBody>
      </p:sp>
      <p:sp>
        <p:nvSpPr>
          <p:cNvPr id="23" name="Rounded Rectangle 22"/>
          <p:cNvSpPr/>
          <p:nvPr/>
        </p:nvSpPr>
        <p:spPr>
          <a:xfrm>
            <a:off x="731520" y="5285232"/>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422392"/>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5</a:t>
            </a:r>
          </a:p>
        </p:txBody>
      </p:sp>
      <p:sp>
        <p:nvSpPr>
          <p:cNvPr id="25" name="TextBox 24"/>
          <p:cNvSpPr txBox="1"/>
          <p:nvPr/>
        </p:nvSpPr>
        <p:spPr>
          <a:xfrm>
            <a:off x="1463040" y="5376672"/>
            <a:ext cx="7315200" cy="320040"/>
          </a:xfrm>
          <a:prstGeom prst="rect">
            <a:avLst/>
          </a:prstGeom>
          <a:noFill/>
        </p:spPr>
        <p:txBody>
          <a:bodyPr wrap="square">
            <a:spAutoFit/>
          </a:bodyPr>
          <a:lstStyle/>
          <a:p>
            <a:pPr algn="l">
              <a:defRPr sz="1400" b="1">
                <a:solidFill>
                  <a:srgbClr val="1E40AF"/>
                </a:solidFill>
                <a:latin typeface="Calibri"/>
              </a:defRPr>
            </a:pPr>
            <a:r>
              <a:t>Add Regulatory Footer and Receipt Downloads</a:t>
            </a:r>
          </a:p>
        </p:txBody>
      </p:sp>
      <p:sp>
        <p:nvSpPr>
          <p:cNvPr id="26" name="TextBox 25"/>
          <p:cNvSpPr txBox="1"/>
          <p:nvPr/>
        </p:nvSpPr>
        <p:spPr>
          <a:xfrm>
            <a:off x="1463040" y="5696712"/>
            <a:ext cx="7772400" cy="457200"/>
          </a:xfrm>
          <a:prstGeom prst="rect">
            <a:avLst/>
          </a:prstGeom>
          <a:noFill/>
        </p:spPr>
        <p:txBody>
          <a:bodyPr wrap="square">
            <a:spAutoFit/>
          </a:bodyPr>
          <a:lstStyle/>
          <a:p>
            <a:pPr algn="l">
              <a:defRPr sz="1000" b="0">
                <a:solidFill>
                  <a:srgbClr val="374151"/>
                </a:solidFill>
                <a:latin typeface="Calibri"/>
              </a:defRPr>
            </a:pPr>
            <a:r>
              <a:t>What to fix: No footer with regulatory links. No receipt download on order confirmation. | Why it matters: A financial trading product requires Terms, Privacy, and regulatory disclosure (MAS in Singapore). Users need transaction records for tax and disputes. | How to fix it: (a) Add footer: Help, Terms, Privacy, Contact, "Regulated by MAS" notice. (b) Add "Download Receipt" on confirmation page generating PDF.</a:t>
            </a:r>
          </a:p>
        </p:txBody>
      </p:sp>
      <p:sp>
        <p:nvSpPr>
          <p:cNvPr id="27" name="TextBox 26"/>
          <p:cNvSpPr txBox="1"/>
          <p:nvPr/>
        </p:nvSpPr>
        <p:spPr>
          <a:xfrm>
            <a:off x="9601200" y="5422392"/>
            <a:ext cx="1371600" cy="274320"/>
          </a:xfrm>
          <a:prstGeom prst="rect">
            <a:avLst/>
          </a:prstGeom>
          <a:noFill/>
        </p:spPr>
        <p:txBody>
          <a:bodyPr wrap="square">
            <a:spAutoFit/>
          </a:bodyPr>
          <a:lstStyle/>
          <a:p>
            <a:pPr algn="r">
              <a:defRPr sz="1000" b="1">
                <a:solidFill>
                  <a:srgbClr val="92400E"/>
                </a:solidFill>
                <a:latin typeface="Calibri"/>
              </a:defRPr>
            </a:pPr>
            <a:r>
              <a:t>Medium Lift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What's Working Well</a:t>
            </a:r>
          </a:p>
        </p:txBody>
      </p:sp>
      <p:sp>
        <p:nvSpPr>
          <p:cNvPr id="3" name="Rounded Rectangle 2"/>
          <p:cNvSpPr/>
          <p:nvPr/>
        </p:nvSpPr>
        <p:spPr>
          <a:xfrm>
            <a:off x="731520" y="118872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280160"/>
            <a:ext cx="9875520" cy="274320"/>
          </a:xfrm>
          <a:prstGeom prst="rect">
            <a:avLst/>
          </a:prstGeom>
          <a:noFill/>
        </p:spPr>
        <p:txBody>
          <a:bodyPr wrap="square">
            <a:spAutoFit/>
          </a:bodyPr>
          <a:lstStyle/>
          <a:p>
            <a:pPr algn="l">
              <a:defRPr sz="1400" b="1">
                <a:solidFill>
                  <a:srgbClr val="166534"/>
                </a:solidFill>
                <a:latin typeface="Calibri"/>
              </a:defRPr>
            </a:pPr>
            <a:r>
              <a:t>Excellent educational tooltip content.</a:t>
            </a:r>
          </a:p>
        </p:txBody>
      </p:sp>
      <p:sp>
        <p:nvSpPr>
          <p:cNvPr id="6" name="TextBox 5"/>
          <p:cNvSpPr txBox="1"/>
          <p:nvPr/>
        </p:nvSpPr>
        <p:spPr>
          <a:xfrm>
            <a:off x="1005840" y="1600200"/>
            <a:ext cx="9875520" cy="457200"/>
          </a:xfrm>
          <a:prstGeom prst="rect">
            <a:avLst/>
          </a:prstGeom>
          <a:noFill/>
        </p:spPr>
        <p:txBody>
          <a:bodyPr wrap="square">
            <a:spAutoFit/>
          </a:bodyPr>
          <a:lstStyle/>
          <a:p>
            <a:pPr algn="l">
              <a:defRPr sz="1100" b="0">
                <a:solidFill>
                  <a:srgbClr val="374151"/>
                </a:solidFill>
                <a:latin typeface="Calibri"/>
              </a:defRPr>
            </a:pPr>
            <a:r>
              <a:t>The Bid/Ask/Spread/Order Type tooltips are well-written, concise, and genuinely helpful. The tooltip architecture (va/wa components) with hover+click triggers is thoughtful. The content quality is first-rate -- just needs more visible trigger icons.</a:t>
            </a:r>
          </a:p>
        </p:txBody>
      </p:sp>
      <p:sp>
        <p:nvSpPr>
          <p:cNvPr id="7" name="Rounded Rectangle 6"/>
          <p:cNvSpPr/>
          <p:nvPr/>
        </p:nvSpPr>
        <p:spPr>
          <a:xfrm>
            <a:off x="731520" y="224028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4028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31720"/>
            <a:ext cx="9875520" cy="274320"/>
          </a:xfrm>
          <a:prstGeom prst="rect">
            <a:avLst/>
          </a:prstGeom>
          <a:noFill/>
        </p:spPr>
        <p:txBody>
          <a:bodyPr wrap="square">
            <a:spAutoFit/>
          </a:bodyPr>
          <a:lstStyle/>
          <a:p>
            <a:pPr algn="l">
              <a:defRPr sz="1400" b="1">
                <a:solidFill>
                  <a:srgbClr val="166534"/>
                </a:solidFill>
                <a:latin typeface="Calibri"/>
              </a:defRPr>
            </a:pPr>
            <a:r>
              <a:t>Cost transparency on order review.</a:t>
            </a:r>
          </a:p>
        </p:txBody>
      </p:sp>
      <p:sp>
        <p:nvSpPr>
          <p:cNvPr id="10" name="TextBox 9"/>
          <p:cNvSpPr txBox="1"/>
          <p:nvPr/>
        </p:nvSpPr>
        <p:spPr>
          <a:xfrm>
            <a:off x="1005840" y="2651760"/>
            <a:ext cx="9875520" cy="457200"/>
          </a:xfrm>
          <a:prstGeom prst="rect">
            <a:avLst/>
          </a:prstGeom>
          <a:noFill/>
        </p:spPr>
        <p:txBody>
          <a:bodyPr wrap="square">
            <a:spAutoFit/>
          </a:bodyPr>
          <a:lstStyle/>
          <a:p>
            <a:pPr algn="l">
              <a:defRPr sz="1100" b="0">
                <a:solidFill>
                  <a:srgbClr val="374151"/>
                </a:solidFill>
                <a:latin typeface="Calibri"/>
              </a:defRPr>
            </a:pPr>
            <a:r>
              <a:t>The cost breakdown (mid price, spread 0.5%, effective ask/bid price, quantity, total, explicit "No additional fees") is exactly what a financial product needs. This builds trust and meets regulatory standards.</a:t>
            </a:r>
          </a:p>
        </p:txBody>
      </p:sp>
      <p:sp>
        <p:nvSpPr>
          <p:cNvPr id="11" name="Rounded Rectangle 10"/>
          <p:cNvSpPr/>
          <p:nvPr/>
        </p:nvSpPr>
        <p:spPr>
          <a:xfrm>
            <a:off x="731520" y="329184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29184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383280"/>
            <a:ext cx="9875520" cy="274320"/>
          </a:xfrm>
          <a:prstGeom prst="rect">
            <a:avLst/>
          </a:prstGeom>
          <a:noFill/>
        </p:spPr>
        <p:txBody>
          <a:bodyPr wrap="square">
            <a:spAutoFit/>
          </a:bodyPr>
          <a:lstStyle/>
          <a:p>
            <a:pPr algn="l">
              <a:defRPr sz="1400" b="1">
                <a:solidFill>
                  <a:srgbClr val="166534"/>
                </a:solidFill>
                <a:latin typeface="Calibri"/>
              </a:defRPr>
            </a:pPr>
            <a:r>
              <a:t>Intelligent sell-flow error prevention.</a:t>
            </a:r>
          </a:p>
        </p:txBody>
      </p:sp>
      <p:sp>
        <p:nvSpPr>
          <p:cNvPr id="14" name="TextBox 13"/>
          <p:cNvSpPr txBox="1"/>
          <p:nvPr/>
        </p:nvSpPr>
        <p:spPr>
          <a:xfrm>
            <a:off x="1005840" y="3703320"/>
            <a:ext cx="9875520" cy="457200"/>
          </a:xfrm>
          <a:prstGeom prst="rect">
            <a:avLst/>
          </a:prstGeom>
          <a:noFill/>
        </p:spPr>
        <p:txBody>
          <a:bodyPr wrap="square">
            <a:spAutoFit/>
          </a:bodyPr>
          <a:lstStyle/>
          <a:p>
            <a:pPr algn="l">
              <a:defRPr sz="1100" b="0">
                <a:solidFill>
                  <a:srgbClr val="374151"/>
                </a:solidFill>
                <a:latin typeface="Calibri"/>
              </a:defRPr>
            </a:pPr>
            <a:r>
              <a:t>The sell toggle now shows an inline message ("You don't have any Gold to sell. Buy some first to start selling.") with a direct "Buy Gold" CTA. This is textbook error prevention -- the user never enters a dead-end.</a:t>
            </a:r>
          </a:p>
        </p:txBody>
      </p:sp>
      <p:sp>
        <p:nvSpPr>
          <p:cNvPr id="15" name="Rounded Rectangle 14"/>
          <p:cNvSpPr/>
          <p:nvPr/>
        </p:nvSpPr>
        <p:spPr>
          <a:xfrm>
            <a:off x="731520" y="434340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34340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434840"/>
            <a:ext cx="9875520" cy="274320"/>
          </a:xfrm>
          <a:prstGeom prst="rect">
            <a:avLst/>
          </a:prstGeom>
          <a:noFill/>
        </p:spPr>
        <p:txBody>
          <a:bodyPr wrap="square">
            <a:spAutoFit/>
          </a:bodyPr>
          <a:lstStyle/>
          <a:p>
            <a:pPr algn="l">
              <a:defRPr sz="1400" b="1">
                <a:solidFill>
                  <a:srgbClr val="166534"/>
                </a:solidFill>
                <a:latin typeface="Calibri"/>
              </a:defRPr>
            </a:pPr>
            <a:r>
              <a:t>Strong beginner guidance architecture.</a:t>
            </a:r>
          </a:p>
        </p:txBody>
      </p:sp>
      <p:sp>
        <p:nvSpPr>
          <p:cNvPr id="18" name="TextBox 17"/>
          <p:cNvSpPr txBox="1"/>
          <p:nvPr/>
        </p:nvSpPr>
        <p:spPr>
          <a:xfrm>
            <a:off x="1005840" y="4754880"/>
            <a:ext cx="9875520" cy="457200"/>
          </a:xfrm>
          <a:prstGeom prst="rect">
            <a:avLst/>
          </a:prstGeom>
          <a:noFill/>
        </p:spPr>
        <p:txBody>
          <a:bodyPr wrap="square">
            <a:spAutoFit/>
          </a:bodyPr>
          <a:lstStyle/>
          <a:p>
            <a:pPr algn="l">
              <a:defRPr sz="1100" b="0">
                <a:solidFill>
                  <a:srgbClr val="374151"/>
                </a:solidFill>
                <a:latin typeface="Calibri"/>
              </a:defRPr>
            </a:pPr>
            <a:r>
              <a:t>"Most Popular" badge on Gold, "Buy Your First Precious Metal" CTA in empty holdings, metal-specific "Best For" labels (Beginners, Growth-oriented, Experienced), Compare All Metals table with volatility ratings -- the information architecture now actively guides novice investors rather than treating all users as experts.</a:t>
            </a:r>
          </a:p>
        </p:txBody>
      </p:sp>
      <p:sp>
        <p:nvSpPr>
          <p:cNvPr id="19" name="Rounded Rectangle 18"/>
          <p:cNvSpPr/>
          <p:nvPr/>
        </p:nvSpPr>
        <p:spPr>
          <a:xfrm>
            <a:off x="731520" y="539496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39496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86400"/>
            <a:ext cx="9875520" cy="274320"/>
          </a:xfrm>
          <a:prstGeom prst="rect">
            <a:avLst/>
          </a:prstGeom>
          <a:noFill/>
        </p:spPr>
        <p:txBody>
          <a:bodyPr wrap="square">
            <a:spAutoFit/>
          </a:bodyPr>
          <a:lstStyle/>
          <a:p>
            <a:pPr algn="l">
              <a:defRPr sz="1400" b="1">
                <a:solidFill>
                  <a:srgbClr val="166534"/>
                </a:solidFill>
                <a:latin typeface="Calibri"/>
              </a:defRPr>
            </a:pPr>
            <a:r>
              <a:t>Improved navigation and information architecture.</a:t>
            </a:r>
          </a:p>
        </p:txBody>
      </p:sp>
      <p:sp>
        <p:nvSpPr>
          <p:cNvPr id="22" name="TextBox 21"/>
          <p:cNvSpPr txBox="1"/>
          <p:nvPr/>
        </p:nvSpPr>
        <p:spPr>
          <a:xfrm>
            <a:off x="1005840" y="5806440"/>
            <a:ext cx="9875520" cy="457200"/>
          </a:xfrm>
          <a:prstGeom prst="rect">
            <a:avLst/>
          </a:prstGeom>
          <a:noFill/>
        </p:spPr>
        <p:txBody>
          <a:bodyPr wrap="square">
            <a:spAutoFit/>
          </a:bodyPr>
          <a:lstStyle/>
          <a:p>
            <a:pPr algn="l">
              <a:defRPr sz="1100" b="0">
                <a:solidFill>
                  <a:srgbClr val="374151"/>
                </a:solidFill>
                <a:latin typeface="Calibri"/>
              </a:defRPr>
            </a:pPr>
            <a:r>
              <a:t>Trade dropdown with all 4 metals, "Gold (XAU)" tab format (name-first, code-second), human-readable order IDs (PM-2026-XXXX), and a comprehensive 404 page with suggested links. Navigation now serves both discovery and direct access patterns.</a:t>
            </a:r>
            <a:br/>
            <a:br/>
            <a: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286000"/>
            <a:ext cx="10515600" cy="914400"/>
          </a:xfrm>
          <a:prstGeom prst="rect">
            <a:avLst/>
          </a:prstGeom>
          <a:noFill/>
        </p:spPr>
        <p:txBody>
          <a:bodyPr wrap="square">
            <a:spAutoFit/>
          </a:bodyPr>
          <a:lstStyle/>
          <a:p>
            <a:pPr algn="ctr">
              <a:defRPr sz="4400" b="1">
                <a:solidFill>
                  <a:srgbClr val="FFFFFF"/>
                </a:solidFill>
                <a:latin typeface="Calibri"/>
              </a:defRPr>
            </a:pPr>
            <a:r>
              <a:t>Thank You</a:t>
            </a:r>
          </a:p>
        </p:txBody>
      </p:sp>
      <p:sp>
        <p:nvSpPr>
          <p:cNvPr id="3" name="TextBox 2"/>
          <p:cNvSpPr txBox="1"/>
          <p:nvPr/>
        </p:nvSpPr>
        <p:spPr>
          <a:xfrm>
            <a:off x="731520" y="3291840"/>
            <a:ext cx="10515600" cy="457200"/>
          </a:xfrm>
          <a:prstGeom prst="rect">
            <a:avLst/>
          </a:prstGeom>
          <a:noFill/>
        </p:spPr>
        <p:txBody>
          <a:bodyPr wrap="square">
            <a:spAutoFit/>
          </a:bodyPr>
          <a:lstStyle/>
          <a:p>
            <a:pPr algn="ctr">
              <a:defRPr sz="1400" b="0">
                <a:solidFill>
                  <a:srgbClr val="94A3B8"/>
                </a:solidFill>
                <a:latin typeface="Calibri"/>
              </a:defRPr>
            </a:pPr>
            <a:r>
              <a:t>Generated by UX Audit Skill  ·  Comparative Audit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
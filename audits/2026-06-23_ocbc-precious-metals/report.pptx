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1371600"/>
            <a:ext cx="10058400" cy="1097280"/>
          </a:xfrm>
          <a:prstGeom prst="rect">
            <a:avLst/>
          </a:prstGeom>
          <a:noFill/>
        </p:spPr>
        <p:txBody>
          <a:bodyPr wrap="square">
            <a:spAutoFit/>
          </a:bodyPr>
          <a:lstStyle/>
          <a:p>
            <a:pPr algn="l">
              <a:defRPr sz="3600" b="1">
                <a:solidFill>
                  <a:srgbClr val="FFFFFF"/>
                </a:solidFill>
                <a:latin typeface="Calibri"/>
              </a:defRPr>
            </a:pPr>
            <a:r>
              <a:t>UI/UX AUDIT REPORT: OCBC Precious Metals Module</a:t>
            </a:r>
          </a:p>
        </p:txBody>
      </p:sp>
      <p:sp>
        <p:nvSpPr>
          <p:cNvPr id="3" name="TextBox 2"/>
          <p:cNvSpPr txBox="1"/>
          <p:nvPr/>
        </p:nvSpPr>
        <p:spPr>
          <a:xfrm>
            <a:off x="914400" y="2468880"/>
            <a:ext cx="10058400" cy="457200"/>
          </a:xfrm>
          <a:prstGeom prst="rect">
            <a:avLst/>
          </a:prstGeom>
          <a:noFill/>
        </p:spPr>
        <p:txBody>
          <a:bodyPr wrap="square">
            <a:spAutoFit/>
          </a:bodyPr>
          <a:lstStyle/>
          <a:p>
            <a:pPr algn="l">
              <a:defRPr sz="1800" b="0">
                <a:solidFill>
                  <a:srgbClr val="94A3B8"/>
                </a:solidFill>
                <a:latin typeface="Calibri"/>
              </a:defRPr>
            </a:pPr>
            <a:r>
              <a:t>Comprehensive UI/UX Audit Report</a:t>
            </a:r>
          </a:p>
        </p:txBody>
      </p:sp>
      <p:sp>
        <p:nvSpPr>
          <p:cNvPr id="4" name="TextBox 3"/>
          <p:cNvSpPr txBox="1"/>
          <p:nvPr/>
        </p:nvSpPr>
        <p:spPr>
          <a:xfrm>
            <a:off x="914400" y="3474720"/>
            <a:ext cx="1828800" cy="274320"/>
          </a:xfrm>
          <a:prstGeom prst="rect">
            <a:avLst/>
          </a:prstGeom>
          <a:noFill/>
        </p:spPr>
        <p:txBody>
          <a:bodyPr wrap="square">
            <a:spAutoFit/>
          </a:bodyPr>
          <a:lstStyle/>
          <a:p>
            <a:pPr algn="l">
              <a:defRPr sz="900" b="0">
                <a:solidFill>
                  <a:srgbClr val="64748B"/>
                </a:solidFill>
                <a:latin typeface="Calibri"/>
              </a:defRPr>
            </a:pPr>
            <a:r>
              <a:t>AUDIT DATE</a:t>
            </a:r>
          </a:p>
        </p:txBody>
      </p:sp>
      <p:sp>
        <p:nvSpPr>
          <p:cNvPr id="5" name="TextBox 4"/>
          <p:cNvSpPr txBox="1"/>
          <p:nvPr/>
        </p:nvSpPr>
        <p:spPr>
          <a:xfrm>
            <a:off x="914400" y="3703320"/>
            <a:ext cx="4572000" cy="274320"/>
          </a:xfrm>
          <a:prstGeom prst="rect">
            <a:avLst/>
          </a:prstGeom>
          <a:noFill/>
        </p:spPr>
        <p:txBody>
          <a:bodyPr wrap="square">
            <a:spAutoFit/>
          </a:bodyPr>
          <a:lstStyle/>
          <a:p>
            <a:pPr algn="l">
              <a:defRPr sz="1300" b="0">
                <a:solidFill>
                  <a:srgbClr val="FFFFFF"/>
                </a:solidFill>
                <a:latin typeface="Calibri"/>
              </a:defRPr>
            </a:pPr>
            <a:r>
              <a:t>2026-06-23</a:t>
            </a:r>
          </a:p>
        </p:txBody>
      </p:sp>
      <p:sp>
        <p:nvSpPr>
          <p:cNvPr id="6" name="TextBox 5"/>
          <p:cNvSpPr txBox="1"/>
          <p:nvPr/>
        </p:nvSpPr>
        <p:spPr>
          <a:xfrm>
            <a:off x="914400" y="4069080"/>
            <a:ext cx="1828800" cy="274320"/>
          </a:xfrm>
          <a:prstGeom prst="rect">
            <a:avLst/>
          </a:prstGeom>
          <a:noFill/>
        </p:spPr>
        <p:txBody>
          <a:bodyPr wrap="square">
            <a:spAutoFit/>
          </a:bodyPr>
          <a:lstStyle/>
          <a:p>
            <a:pPr algn="l">
              <a:defRPr sz="900" b="0">
                <a:solidFill>
                  <a:srgbClr val="64748B"/>
                </a:solidFill>
                <a:latin typeface="Calibri"/>
              </a:defRPr>
            </a:pPr>
            <a:r>
              <a:t>PLATFORM</a:t>
            </a:r>
          </a:p>
        </p:txBody>
      </p:sp>
      <p:sp>
        <p:nvSpPr>
          <p:cNvPr id="7" name="TextBox 6"/>
          <p:cNvSpPr txBox="1"/>
          <p:nvPr/>
        </p:nvSpPr>
        <p:spPr>
          <a:xfrm>
            <a:off x="914400" y="4297680"/>
            <a:ext cx="4572000" cy="274320"/>
          </a:xfrm>
          <a:prstGeom prst="rect">
            <a:avLst/>
          </a:prstGeom>
          <a:noFill/>
        </p:spPr>
        <p:txBody>
          <a:bodyPr wrap="square">
            <a:spAutoFit/>
          </a:bodyPr>
          <a:lstStyle/>
          <a:p>
            <a:pPr algn="l">
              <a:defRPr sz="1300" b="0">
                <a:solidFill>
                  <a:srgbClr val="FFFFFF"/>
                </a:solidFill>
                <a:latin typeface="Calibri"/>
              </a:defRPr>
            </a:pPr>
            <a:r>
              <a:t>Web desktop — OCBC business/corporate internet banking (OCBC Velocity-style), 1600px; with email (702px) and mobile push (375px) notification mockups</a:t>
            </a:r>
          </a:p>
        </p:txBody>
      </p:sp>
      <p:sp>
        <p:nvSpPr>
          <p:cNvPr id="8" name="TextBox 7"/>
          <p:cNvSpPr txBox="1"/>
          <p:nvPr/>
        </p:nvSpPr>
        <p:spPr>
          <a:xfrm>
            <a:off x="914400" y="4663440"/>
            <a:ext cx="1828800" cy="274320"/>
          </a:xfrm>
          <a:prstGeom prst="rect">
            <a:avLst/>
          </a:prstGeom>
          <a:noFill/>
        </p:spPr>
        <p:txBody>
          <a:bodyPr wrap="square">
            <a:spAutoFit/>
          </a:bodyPr>
          <a:lstStyle/>
          <a:p>
            <a:pPr algn="l">
              <a:defRPr sz="900" b="0">
                <a:solidFill>
                  <a:srgbClr val="64748B"/>
                </a:solidFill>
                <a:latin typeface="Calibri"/>
              </a:defRPr>
            </a:pPr>
            <a:r>
              <a:t>AUDITOR PERSONA</a:t>
            </a:r>
          </a:p>
        </p:txBody>
      </p:sp>
      <p:sp>
        <p:nvSpPr>
          <p:cNvPr id="9" name="TextBox 8"/>
          <p:cNvSpPr txBox="1"/>
          <p:nvPr/>
        </p:nvSpPr>
        <p:spPr>
          <a:xfrm>
            <a:off x="914400" y="4892040"/>
            <a:ext cx="4572000" cy="274320"/>
          </a:xfrm>
          <a:prstGeom prst="rect">
            <a:avLst/>
          </a:prstGeom>
          <a:noFill/>
        </p:spPr>
        <p:txBody>
          <a:bodyPr wrap="square">
            <a:spAutoFit/>
          </a:bodyPr>
          <a:lstStyle/>
          <a:p>
            <a:pPr algn="l">
              <a:defRPr sz="1300" b="0">
                <a:solidFill>
                  <a:srgbClr val="FFFFFF"/>
                </a:solidFill>
                <a:latin typeface="Calibri"/>
              </a:defRPr>
            </a:pPr>
            <a:r>
              <a:t>N/A</a:t>
            </a:r>
          </a:p>
        </p:txBody>
      </p:sp>
      <p:sp>
        <p:nvSpPr>
          <p:cNvPr id="10" name="TextBox 9"/>
          <p:cNvSpPr txBox="1"/>
          <p:nvPr/>
        </p:nvSpPr>
        <p:spPr>
          <a:xfrm>
            <a:off x="914400" y="5257800"/>
            <a:ext cx="1828800" cy="274320"/>
          </a:xfrm>
          <a:prstGeom prst="rect">
            <a:avLst/>
          </a:prstGeom>
          <a:noFill/>
        </p:spPr>
        <p:txBody>
          <a:bodyPr wrap="square">
            <a:spAutoFit/>
          </a:bodyPr>
          <a:lstStyle/>
          <a:p>
            <a:pPr algn="l">
              <a:defRPr sz="900" b="0">
                <a:solidFill>
                  <a:srgbClr val="64748B"/>
                </a:solidFill>
                <a:latin typeface="Calibri"/>
              </a:defRPr>
            </a:pPr>
            <a:r>
              <a:t>URL</a:t>
            </a:r>
          </a:p>
        </p:txBody>
      </p:sp>
      <p:sp>
        <p:nvSpPr>
          <p:cNvPr id="11" name="TextBox 10"/>
          <p:cNvSpPr txBox="1"/>
          <p:nvPr/>
        </p:nvSpPr>
        <p:spPr>
          <a:xfrm>
            <a:off x="914400" y="5486400"/>
            <a:ext cx="4572000" cy="274320"/>
          </a:xfrm>
          <a:prstGeom prst="rect">
            <a:avLst/>
          </a:prstGeom>
          <a:noFill/>
        </p:spPr>
        <p:txBody>
          <a:bodyPr wrap="square">
            <a:spAutoFit/>
          </a:bodyPr>
          <a:lstStyle/>
          <a:p>
            <a:pPr algn="l">
              <a:defRPr sz="1300" b="0">
                <a:solidFill>
                  <a:srgbClr val="FFFFFF"/>
                </a:solidFill>
                <a:latin typeface="Calibri"/>
              </a:defRPr>
            </a:pPr>
            <a:r>
              <a:t>https://www.figma.com/design/pJuwdSGBCJvVtx6i77ytzM/Precious-Metal?node-id=1106-21058</a:t>
            </a:r>
          </a:p>
        </p:txBody>
      </p:sp>
      <p:sp>
        <p:nvSpPr>
          <p:cNvPr id="12" name="TextBox 11"/>
          <p:cNvSpPr txBox="1"/>
          <p:nvPr/>
        </p:nvSpPr>
        <p:spPr>
          <a:xfrm>
            <a:off x="8686800" y="2926080"/>
            <a:ext cx="2286000" cy="1371600"/>
          </a:xfrm>
          <a:prstGeom prst="rect">
            <a:avLst/>
          </a:prstGeom>
          <a:noFill/>
        </p:spPr>
        <p:txBody>
          <a:bodyPr wrap="square">
            <a:spAutoFit/>
          </a:bodyPr>
          <a:lstStyle/>
          <a:p>
            <a:pPr algn="ctr">
              <a:defRPr sz="7200" b="1">
                <a:solidFill>
                  <a:srgbClr val="EA580C"/>
                </a:solidFill>
                <a:latin typeface="Calibri"/>
              </a:defRPr>
            </a:pPr>
            <a:r>
              <a:t>4.5</a:t>
            </a:r>
          </a:p>
        </p:txBody>
      </p:sp>
      <p:sp>
        <p:nvSpPr>
          <p:cNvPr id="13" name="TextBox 12"/>
          <p:cNvSpPr txBox="1"/>
          <p:nvPr/>
        </p:nvSpPr>
        <p:spPr>
          <a:xfrm>
            <a:off x="8686800" y="4297680"/>
            <a:ext cx="2286000" cy="365760"/>
          </a:xfrm>
          <a:prstGeom prst="rect">
            <a:avLst/>
          </a:prstGeom>
          <a:noFill/>
        </p:spPr>
        <p:txBody>
          <a:bodyPr wrap="square">
            <a:spAutoFit/>
          </a:bodyPr>
          <a:lstStyle/>
          <a:p>
            <a:pPr algn="ctr">
              <a:defRPr sz="1200" b="0">
                <a:solidFill>
                  <a:srgbClr val="94A3B8"/>
                </a:solidFill>
                <a:latin typeface="Calibri"/>
              </a:defRPr>
            </a:pPr>
            <a:r>
              <a:t>UX Health Score /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058400" cy="548640"/>
          </a:xfrm>
          <a:prstGeom prst="rect">
            <a:avLst/>
          </a:prstGeom>
          <a:noFill/>
        </p:spPr>
        <p:txBody>
          <a:bodyPr wrap="square">
            <a:spAutoFit/>
          </a:bodyPr>
          <a:lstStyle/>
          <a:p>
            <a:pPr algn="l">
              <a:defRPr sz="2800" b="1">
                <a:solidFill>
                  <a:srgbClr val="1A1A2E"/>
                </a:solidFill>
                <a:latin typeface="Calibri"/>
              </a:defRPr>
            </a:pPr>
            <a:r>
              <a:t>Executive Summary</a:t>
            </a:r>
          </a:p>
        </p:txBody>
      </p:sp>
      <p:sp>
        <p:nvSpPr>
          <p:cNvPr id="3" name="TextBox 2"/>
          <p:cNvSpPr txBox="1"/>
          <p:nvPr/>
        </p:nvSpPr>
        <p:spPr>
          <a:xfrm>
            <a:off x="731520" y="1097280"/>
            <a:ext cx="7315200" cy="2286000"/>
          </a:xfrm>
          <a:prstGeom prst="rect">
            <a:avLst/>
          </a:prstGeom>
          <a:noFill/>
        </p:spPr>
        <p:txBody>
          <a:bodyPr wrap="square">
            <a:spAutoFit/>
          </a:bodyPr>
          <a:lstStyle/>
          <a:p>
            <a:pPr algn="l">
              <a:defRPr sz="1300" b="0">
                <a:solidFill>
                  <a:srgbClr val="374151"/>
                </a:solidFill>
                <a:latin typeface="Calibri"/>
              </a:defRPr>
            </a:pPr>
            <a:r>
              <a:t>The OCBC Precious Metals module is a competently structured corporate-banking trading flow with several genuine strengths: persistent field labels, a thoughtful amount↔quantity dual-input, well-written and non-punitive error-recovery copy, sensible sell-side guardrails (caps to holdings), proper empty states, and clear cross-channel reference numbers. The bones of a trustworthy trading tool are present. However, for a regulated investment product the audit surfaces serious gaps concentrated in risk disclosure, system feedback, and production polish. There is no investment-risk disclosure, Key Fact Sheet, or suitability check before a customer commits to a five-figure order; the first-time Terms &amp; Conditions modal asks the user to agree to four documents it never lets them open. The displayed "Indicative price" silently differs from the actual execution price (6,581.85 quoted vs 6,128.50 executed in the sample data) with no caveat. Multiple customer-facing surfaces ship unfilled template tokens (`[6:00 AM SGT]`, `&lt;Salutation&gt; &lt;Surname&gt;`, `&lt;7,000.00 SGD/ounce&gt;`, a stale "© 2024"). Price freshness is contradictory across screens with no refresh indicator, there is no loading state on order submission (double-submission risk), and the validation/error states exist only as isolated spec frames rather than on the live trade screen. The experience diverges sharply by persona. The novice is under-served at exactly the high-stakes moments — undefined jargon (XAU/XAG, troy ounce, "Filled", "Credit account"), risk buried in a collapsed FAQ, and cold liability-only copy at the point of commitment. The experienced investor is better served for core trading but is blocked by efficiency gaps (no "place another trade", dead-end trade detail) and a data-integrity bug in the alerts list (count vs rows mismatch). Audit coverage: all 9 usability dimensions plus a banking/investment domain lens (risk disclosure, terminology comprehension, yield/price presentation, regulatory disclosures), across the full buy/sell/alerts journey.</a:t>
            </a:r>
          </a:p>
        </p:txBody>
      </p:sp>
      <p:sp>
        <p:nvSpPr>
          <p:cNvPr id="4" name="Rounded Rectangle 3"/>
          <p:cNvSpPr/>
          <p:nvPr/>
        </p:nvSpPr>
        <p:spPr>
          <a:xfrm>
            <a:off x="731520" y="4114800"/>
            <a:ext cx="2560320" cy="1645920"/>
          </a:xfrm>
          <a:prstGeom prst="roundRect">
            <a:avLst>
              <a:gd name="adj" fmla="val 2000"/>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4297680"/>
            <a:ext cx="1828800" cy="731520"/>
          </a:xfrm>
          <a:prstGeom prst="rect">
            <a:avLst/>
          </a:prstGeom>
          <a:noFill/>
        </p:spPr>
        <p:txBody>
          <a:bodyPr wrap="square">
            <a:spAutoFit/>
          </a:bodyPr>
          <a:lstStyle/>
          <a:p>
            <a:pPr algn="ctr">
              <a:defRPr sz="4200" b="1">
                <a:solidFill>
                  <a:srgbClr val="DC2626"/>
                </a:solidFill>
                <a:latin typeface="Calibri"/>
              </a:defRPr>
            </a:pPr>
            <a:r>
              <a:t>2</a:t>
            </a:r>
          </a:p>
        </p:txBody>
      </p:sp>
      <p:sp>
        <p:nvSpPr>
          <p:cNvPr id="6" name="TextBox 5"/>
          <p:cNvSpPr txBox="1"/>
          <p:nvPr/>
        </p:nvSpPr>
        <p:spPr>
          <a:xfrm>
            <a:off x="1005840" y="5120640"/>
            <a:ext cx="1828800" cy="365760"/>
          </a:xfrm>
          <a:prstGeom prst="rect">
            <a:avLst/>
          </a:prstGeom>
          <a:noFill/>
        </p:spPr>
        <p:txBody>
          <a:bodyPr wrap="square">
            <a:spAutoFit/>
          </a:bodyPr>
          <a:lstStyle/>
          <a:p>
            <a:pPr algn="ctr">
              <a:defRPr sz="1100" b="1">
                <a:solidFill>
                  <a:srgbClr val="DC2626"/>
                </a:solidFill>
                <a:latin typeface="Calibri"/>
              </a:defRPr>
            </a:pPr>
            <a:r>
              <a:t>CRITICAL</a:t>
            </a:r>
          </a:p>
        </p:txBody>
      </p:sp>
      <p:sp>
        <p:nvSpPr>
          <p:cNvPr id="7" name="Rounded Rectangle 6"/>
          <p:cNvSpPr/>
          <p:nvPr/>
        </p:nvSpPr>
        <p:spPr>
          <a:xfrm>
            <a:off x="3566160" y="4114800"/>
            <a:ext cx="2560320" cy="1645920"/>
          </a:xfrm>
          <a:prstGeom prst="roundRect">
            <a:avLst>
              <a:gd name="adj" fmla="val 2000"/>
            </a:avLst>
          </a:prstGeom>
          <a:solidFill>
            <a:srgbClr val="FFF7ED"/>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40480" y="4297680"/>
            <a:ext cx="1828800" cy="731520"/>
          </a:xfrm>
          <a:prstGeom prst="rect">
            <a:avLst/>
          </a:prstGeom>
          <a:noFill/>
        </p:spPr>
        <p:txBody>
          <a:bodyPr wrap="square">
            <a:spAutoFit/>
          </a:bodyPr>
          <a:lstStyle/>
          <a:p>
            <a:pPr algn="ctr">
              <a:defRPr sz="4200" b="1">
                <a:solidFill>
                  <a:srgbClr val="EA580C"/>
                </a:solidFill>
                <a:latin typeface="Calibri"/>
              </a:defRPr>
            </a:pPr>
            <a:r>
              <a:t>11</a:t>
            </a:r>
          </a:p>
        </p:txBody>
      </p:sp>
      <p:sp>
        <p:nvSpPr>
          <p:cNvPr id="9" name="TextBox 8"/>
          <p:cNvSpPr txBox="1"/>
          <p:nvPr/>
        </p:nvSpPr>
        <p:spPr>
          <a:xfrm>
            <a:off x="3840480" y="5120640"/>
            <a:ext cx="1828800" cy="365760"/>
          </a:xfrm>
          <a:prstGeom prst="rect">
            <a:avLst/>
          </a:prstGeom>
          <a:noFill/>
        </p:spPr>
        <p:txBody>
          <a:bodyPr wrap="square">
            <a:spAutoFit/>
          </a:bodyPr>
          <a:lstStyle/>
          <a:p>
            <a:pPr algn="ctr">
              <a:defRPr sz="1100" b="1">
                <a:solidFill>
                  <a:srgbClr val="EA580C"/>
                </a:solidFill>
                <a:latin typeface="Calibri"/>
              </a:defRPr>
            </a:pPr>
            <a:r>
              <a:t>HIGH</a:t>
            </a:r>
          </a:p>
        </p:txBody>
      </p:sp>
      <p:sp>
        <p:nvSpPr>
          <p:cNvPr id="10" name="Rounded Rectangle 9"/>
          <p:cNvSpPr/>
          <p:nvPr/>
        </p:nvSpPr>
        <p:spPr>
          <a:xfrm>
            <a:off x="6400800" y="4114800"/>
            <a:ext cx="2560320" cy="1645920"/>
          </a:xfrm>
          <a:prstGeom prst="roundRect">
            <a:avLst>
              <a:gd name="adj" fmla="val 2000"/>
            </a:avLst>
          </a:prstGeom>
          <a:solidFill>
            <a:srgbClr val="FEFCE8"/>
          </a:solidFill>
          <a:ln w="12700">
            <a:solidFill>
              <a:srgbClr val="CA8A0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0" y="4297680"/>
            <a:ext cx="1828800" cy="731520"/>
          </a:xfrm>
          <a:prstGeom prst="rect">
            <a:avLst/>
          </a:prstGeom>
          <a:noFill/>
        </p:spPr>
        <p:txBody>
          <a:bodyPr wrap="square">
            <a:spAutoFit/>
          </a:bodyPr>
          <a:lstStyle/>
          <a:p>
            <a:pPr algn="ctr">
              <a:defRPr sz="4200" b="1">
                <a:solidFill>
                  <a:srgbClr val="CA8A04"/>
                </a:solidFill>
                <a:latin typeface="Calibri"/>
              </a:defRPr>
            </a:pPr>
            <a:r>
              <a:t>11</a:t>
            </a:r>
          </a:p>
        </p:txBody>
      </p:sp>
      <p:sp>
        <p:nvSpPr>
          <p:cNvPr id="12" name="TextBox 11"/>
          <p:cNvSpPr txBox="1"/>
          <p:nvPr/>
        </p:nvSpPr>
        <p:spPr>
          <a:xfrm>
            <a:off x="6675120" y="5120640"/>
            <a:ext cx="1828800" cy="365760"/>
          </a:xfrm>
          <a:prstGeom prst="rect">
            <a:avLst/>
          </a:prstGeom>
          <a:noFill/>
        </p:spPr>
        <p:txBody>
          <a:bodyPr wrap="square">
            <a:spAutoFit/>
          </a:bodyPr>
          <a:lstStyle/>
          <a:p>
            <a:pPr algn="ctr">
              <a:defRPr sz="1100" b="1">
                <a:solidFill>
                  <a:srgbClr val="CA8A04"/>
                </a:solidFill>
                <a:latin typeface="Calibri"/>
              </a:defRPr>
            </a:pPr>
            <a:r>
              <a:t>MEDIUM</a:t>
            </a:r>
          </a:p>
        </p:txBody>
      </p:sp>
      <p:sp>
        <p:nvSpPr>
          <p:cNvPr id="13" name="Rounded Rectangle 12"/>
          <p:cNvSpPr/>
          <p:nvPr/>
        </p:nvSpPr>
        <p:spPr>
          <a:xfrm>
            <a:off x="9235440" y="4114800"/>
            <a:ext cx="2560320" cy="1645920"/>
          </a:xfrm>
          <a:prstGeom prst="roundRect">
            <a:avLst>
              <a:gd name="adj" fmla="val 2000"/>
            </a:avLst>
          </a:prstGeom>
          <a:solidFill>
            <a:srgbClr val="F0FDF4"/>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09760" y="4297680"/>
            <a:ext cx="1828800" cy="731520"/>
          </a:xfrm>
          <a:prstGeom prst="rect">
            <a:avLst/>
          </a:prstGeom>
          <a:noFill/>
        </p:spPr>
        <p:txBody>
          <a:bodyPr wrap="square">
            <a:spAutoFit/>
          </a:bodyPr>
          <a:lstStyle/>
          <a:p>
            <a:pPr algn="ctr">
              <a:defRPr sz="4200" b="1">
                <a:solidFill>
                  <a:srgbClr val="16A34A"/>
                </a:solidFill>
                <a:latin typeface="Calibri"/>
              </a:defRPr>
            </a:pPr>
            <a:r>
              <a:t>2</a:t>
            </a:r>
          </a:p>
        </p:txBody>
      </p:sp>
      <p:sp>
        <p:nvSpPr>
          <p:cNvPr id="15" name="TextBox 14"/>
          <p:cNvSpPr txBox="1"/>
          <p:nvPr/>
        </p:nvSpPr>
        <p:spPr>
          <a:xfrm>
            <a:off x="9509760" y="5120640"/>
            <a:ext cx="1828800" cy="365760"/>
          </a:xfrm>
          <a:prstGeom prst="rect">
            <a:avLst/>
          </a:prstGeom>
          <a:noFill/>
        </p:spPr>
        <p:txBody>
          <a:bodyPr wrap="square">
            <a:spAutoFit/>
          </a:bodyPr>
          <a:lstStyle/>
          <a:p>
            <a:pPr algn="ctr">
              <a:defRPr sz="1100" b="1">
                <a:solidFill>
                  <a:srgbClr val="16A34A"/>
                </a:solidFill>
                <a:latin typeface="Calibri"/>
              </a:defRPr>
            </a:pPr>
            <a:r>
              <a:t>LOW</a:t>
            </a:r>
          </a:p>
        </p:txBody>
      </p:sp>
      <p:sp>
        <p:nvSpPr>
          <p:cNvPr id="16" name="TextBox 15"/>
          <p:cNvSpPr txBox="1"/>
          <p:nvPr/>
        </p:nvSpPr>
        <p:spPr>
          <a:xfrm>
            <a:off x="731520" y="6035040"/>
            <a:ext cx="10058400" cy="365760"/>
          </a:xfrm>
          <a:prstGeom prst="rect">
            <a:avLst/>
          </a:prstGeom>
          <a:noFill/>
        </p:spPr>
        <p:txBody>
          <a:bodyPr wrap="square">
            <a:spAutoFit/>
          </a:bodyPr>
          <a:lstStyle/>
          <a:p>
            <a:pPr algn="l">
              <a:defRPr sz="1400" b="1">
                <a:solidFill>
                  <a:srgbClr val="6B7280"/>
                </a:solidFill>
                <a:latin typeface="Calibri"/>
              </a:defRPr>
            </a:pPr>
            <a:r>
              <a:t>Total Findings: 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9144000" cy="548640"/>
          </a:xfrm>
          <a:prstGeom prst="rect">
            <a:avLst/>
          </a:prstGeom>
          <a:noFill/>
        </p:spPr>
        <p:txBody>
          <a:bodyPr wrap="square">
            <a:spAutoFit/>
          </a:bodyPr>
          <a:lstStyle/>
          <a:p>
            <a:pPr algn="l">
              <a:defRPr sz="2400" b="1">
                <a:solidFill>
                  <a:srgbClr val="1A1A2E"/>
                </a:solidFill>
                <a:latin typeface="Calibri"/>
              </a:defRPr>
            </a:pPr>
            <a:r>
              <a:t>Findings (1/6)</a:t>
            </a:r>
          </a:p>
        </p:txBody>
      </p:sp>
      <p:sp>
        <p:nvSpPr>
          <p:cNvPr id="3" name="TextBox 2"/>
          <p:cNvSpPr txBox="1"/>
          <p:nvPr/>
        </p:nvSpPr>
        <p:spPr>
          <a:xfrm>
            <a:off x="731520" y="1097280"/>
            <a:ext cx="457200" cy="365760"/>
          </a:xfrm>
          <a:prstGeom prst="rect">
            <a:avLst/>
          </a:prstGeom>
          <a:noFill/>
        </p:spPr>
        <p:txBody>
          <a:bodyPr wrap="square">
            <a:spAutoFit/>
          </a:bodyPr>
          <a:lstStyle/>
          <a:p>
            <a:pPr algn="l">
              <a:defRPr sz="900" b="1">
                <a:solidFill>
                  <a:srgbClr val="6B7280"/>
                </a:solidFill>
                <a:latin typeface="Calibri"/>
              </a:defRPr>
            </a:pPr>
            <a:r>
              <a:t>#</a:t>
            </a:r>
          </a:p>
        </p:txBody>
      </p:sp>
      <p:sp>
        <p:nvSpPr>
          <p:cNvPr id="4" name="TextBox 3"/>
          <p:cNvSpPr txBox="1"/>
          <p:nvPr/>
        </p:nvSpPr>
        <p:spPr>
          <a:xfrm>
            <a:off x="1188720" y="1097280"/>
            <a:ext cx="2011680" cy="365760"/>
          </a:xfrm>
          <a:prstGeom prst="rect">
            <a:avLst/>
          </a:prstGeom>
          <a:noFill/>
        </p:spPr>
        <p:txBody>
          <a:bodyPr wrap="square">
            <a:spAutoFit/>
          </a:bodyPr>
          <a:lstStyle/>
          <a:p>
            <a:pPr algn="l">
              <a:defRPr sz="900" b="1">
                <a:solidFill>
                  <a:srgbClr val="6B7280"/>
                </a:solidFill>
                <a:latin typeface="Calibri"/>
              </a:defRPr>
            </a:pPr>
            <a:r>
              <a:t>Screen</a:t>
            </a:r>
          </a:p>
        </p:txBody>
      </p:sp>
      <p:sp>
        <p:nvSpPr>
          <p:cNvPr id="5" name="TextBox 4"/>
          <p:cNvSpPr txBox="1"/>
          <p:nvPr/>
        </p:nvSpPr>
        <p:spPr>
          <a:xfrm>
            <a:off x="3200400" y="1097280"/>
            <a:ext cx="914400" cy="365760"/>
          </a:xfrm>
          <a:prstGeom prst="rect">
            <a:avLst/>
          </a:prstGeom>
          <a:noFill/>
        </p:spPr>
        <p:txBody>
          <a:bodyPr wrap="square">
            <a:spAutoFit/>
          </a:bodyPr>
          <a:lstStyle/>
          <a:p>
            <a:pPr algn="l">
              <a:defRPr sz="900" b="1">
                <a:solidFill>
                  <a:srgbClr val="6B7280"/>
                </a:solidFill>
                <a:latin typeface="Calibri"/>
              </a:defRPr>
            </a:pPr>
            <a:r>
              <a:t>Severity</a:t>
            </a:r>
          </a:p>
        </p:txBody>
      </p:sp>
      <p:sp>
        <p:nvSpPr>
          <p:cNvPr id="6" name="TextBox 5"/>
          <p:cNvSpPr txBox="1"/>
          <p:nvPr/>
        </p:nvSpPr>
        <p:spPr>
          <a:xfrm>
            <a:off x="4114800" y="1097280"/>
            <a:ext cx="4114800" cy="365760"/>
          </a:xfrm>
          <a:prstGeom prst="rect">
            <a:avLst/>
          </a:prstGeom>
          <a:noFill/>
        </p:spPr>
        <p:txBody>
          <a:bodyPr wrap="square">
            <a:spAutoFit/>
          </a:bodyPr>
          <a:lstStyle/>
          <a:p>
            <a:pPr algn="l">
              <a:defRPr sz="900" b="1">
                <a:solidFill>
                  <a:srgbClr val="6B7280"/>
                </a:solidFill>
                <a:latin typeface="Calibri"/>
              </a:defRPr>
            </a:pPr>
            <a:r>
              <a:t>Finding</a:t>
            </a:r>
          </a:p>
        </p:txBody>
      </p:sp>
      <p:sp>
        <p:nvSpPr>
          <p:cNvPr id="7" name="TextBox 6"/>
          <p:cNvSpPr txBox="1"/>
          <p:nvPr/>
        </p:nvSpPr>
        <p:spPr>
          <a:xfrm>
            <a:off x="8229600" y="1097280"/>
            <a:ext cx="3474720" cy="365760"/>
          </a:xfrm>
          <a:prstGeom prst="rect">
            <a:avLst/>
          </a:prstGeom>
          <a:noFill/>
        </p:spPr>
        <p:txBody>
          <a:bodyPr wrap="square">
            <a:spAutoFit/>
          </a:bodyPr>
          <a:lstStyle/>
          <a:p>
            <a:pPr algn="l">
              <a:defRPr sz="900" b="1">
                <a:solidFill>
                  <a:srgbClr val="6B7280"/>
                </a:solidFill>
                <a:latin typeface="Calibri"/>
              </a:defRPr>
            </a:pPr>
            <a:r>
              <a:t>Recommendation</a:t>
            </a:r>
          </a:p>
        </p:txBody>
      </p:sp>
      <p:sp>
        <p:nvSpPr>
          <p:cNvPr id="8" name="Rectangle 7"/>
          <p:cNvSpPr/>
          <p:nvPr/>
        </p:nvSpPr>
        <p:spPr>
          <a:xfrm>
            <a:off x="731520" y="1508760"/>
            <a:ext cx="73152" cy="100584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04672" y="1508760"/>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600200"/>
            <a:ext cx="365760" cy="274320"/>
          </a:xfrm>
          <a:prstGeom prst="rect">
            <a:avLst/>
          </a:prstGeom>
          <a:noFill/>
        </p:spPr>
        <p:txBody>
          <a:bodyPr wrap="square">
            <a:spAutoFit/>
          </a:bodyPr>
          <a:lstStyle/>
          <a:p>
            <a:pPr algn="l">
              <a:defRPr sz="1200" b="1">
                <a:solidFill>
                  <a:srgbClr val="1A1A2E"/>
                </a:solidFill>
                <a:latin typeface="Calibri"/>
              </a:defRPr>
            </a:pPr>
            <a:r>
              <a:t>#1</a:t>
            </a:r>
          </a:p>
        </p:txBody>
      </p:sp>
      <p:sp>
        <p:nvSpPr>
          <p:cNvPr id="11" name="TextBox 10"/>
          <p:cNvSpPr txBox="1"/>
          <p:nvPr/>
        </p:nvSpPr>
        <p:spPr>
          <a:xfrm>
            <a:off x="1371600" y="1600200"/>
            <a:ext cx="1828800" cy="822960"/>
          </a:xfrm>
          <a:prstGeom prst="rect">
            <a:avLst/>
          </a:prstGeom>
          <a:noFill/>
        </p:spPr>
        <p:txBody>
          <a:bodyPr wrap="square">
            <a:spAutoFit/>
          </a:bodyPr>
          <a:lstStyle/>
          <a:p>
            <a:pPr algn="l">
              <a:defRPr sz="1000" b="0">
                <a:solidFill>
                  <a:srgbClr val="374151"/>
                </a:solidFill>
                <a:latin typeface="Calibri"/>
              </a:defRPr>
            </a:pPr>
            <a:r>
              <a:t>T&amp;C / Confirm</a:t>
            </a:r>
          </a:p>
        </p:txBody>
      </p:sp>
      <p:sp>
        <p:nvSpPr>
          <p:cNvPr id="12" name="Rounded Rectangle 11"/>
          <p:cNvSpPr/>
          <p:nvPr/>
        </p:nvSpPr>
        <p:spPr>
          <a:xfrm>
            <a:off x="3383280" y="1645920"/>
            <a:ext cx="777240" cy="256032"/>
          </a:xfrm>
          <a:prstGeom prst="roundRect">
            <a:avLst>
              <a:gd name="adj" fmla="val 2000"/>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CRITICAL</a:t>
            </a:r>
          </a:p>
        </p:txBody>
      </p:sp>
      <p:sp>
        <p:nvSpPr>
          <p:cNvPr id="13" name="TextBox 12"/>
          <p:cNvSpPr txBox="1"/>
          <p:nvPr/>
        </p:nvSpPr>
        <p:spPr>
          <a:xfrm>
            <a:off x="4297680" y="1581912"/>
            <a:ext cx="3931920" cy="868680"/>
          </a:xfrm>
          <a:prstGeom prst="rect">
            <a:avLst/>
          </a:prstGeom>
          <a:noFill/>
        </p:spPr>
        <p:txBody>
          <a:bodyPr wrap="square">
            <a:spAutoFit/>
          </a:bodyPr>
          <a:lstStyle/>
          <a:p>
            <a:pPr algn="l">
              <a:defRPr sz="1100" b="0">
                <a:solidFill>
                  <a:srgbClr val="1A1A2E"/>
                </a:solidFill>
                <a:latin typeface="Calibri"/>
              </a:defRPr>
            </a:pPr>
            <a:r>
              <a:t>No investment-risk disclosure, Key Fact Sheet, or suitability check anywhere in the buy flow. The only risk-related artifact before commitment is a liability declaration on Review. The first-time T&amp;C modal lists four agreements by title only ('Platform T&amp;Cs', 'Precious Metal Account T&amp;Cs', 'Investment Module T&amp;Cs', 'Business Account Board Reso T&amp;Cs') with no openable documents, yet requires the user to click 'Agree'.</a:t>
            </a:r>
          </a:p>
        </p:txBody>
      </p:sp>
      <p:sp>
        <p:nvSpPr>
          <p:cNvPr id="14" name="TextBox 13"/>
          <p:cNvSpPr txBox="1"/>
          <p:nvPr/>
        </p:nvSpPr>
        <p:spPr>
          <a:xfrm>
            <a:off x="8412480" y="1581912"/>
            <a:ext cx="3291840" cy="868680"/>
          </a:xfrm>
          <a:prstGeom prst="rect">
            <a:avLst/>
          </a:prstGeom>
          <a:noFill/>
        </p:spPr>
        <p:txBody>
          <a:bodyPr wrap="square">
            <a:spAutoFit/>
          </a:bodyPr>
          <a:lstStyle/>
          <a:p>
            <a:pPr algn="l">
              <a:defRPr sz="1000" b="0">
                <a:solidFill>
                  <a:srgbClr val="6B7280"/>
                </a:solidFill>
                <a:latin typeface="Calibri"/>
              </a:defRPr>
            </a:pPr>
            <a:r>
              <a:t>Add a dedicated risk-disclosure step before 'Confirm buy order': a Key Fact Sheet / risk-warning statement with an explicit 'I understand precious-metal values can fall' acknowledgement, and make the four T&amp;Cs in the modal openable (links or expandable text). Separate liability declaration (protects bank) from risk disclosure (protects customer).</a:t>
            </a:r>
          </a:p>
        </p:txBody>
      </p:sp>
      <p:sp>
        <p:nvSpPr>
          <p:cNvPr id="15" name="Rectangle 14"/>
          <p:cNvSpPr/>
          <p:nvPr/>
        </p:nvSpPr>
        <p:spPr>
          <a:xfrm>
            <a:off x="731520" y="2587752"/>
            <a:ext cx="73152" cy="100584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04672" y="2587752"/>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2679192"/>
            <a:ext cx="365760" cy="274320"/>
          </a:xfrm>
          <a:prstGeom prst="rect">
            <a:avLst/>
          </a:prstGeom>
          <a:noFill/>
        </p:spPr>
        <p:txBody>
          <a:bodyPr wrap="square">
            <a:spAutoFit/>
          </a:bodyPr>
          <a:lstStyle/>
          <a:p>
            <a:pPr algn="l">
              <a:defRPr sz="1200" b="1">
                <a:solidFill>
                  <a:srgbClr val="1A1A2E"/>
                </a:solidFill>
                <a:latin typeface="Calibri"/>
              </a:defRPr>
            </a:pPr>
            <a:r>
              <a:t>#2</a:t>
            </a:r>
          </a:p>
        </p:txBody>
      </p:sp>
      <p:sp>
        <p:nvSpPr>
          <p:cNvPr id="18" name="TextBox 17"/>
          <p:cNvSpPr txBox="1"/>
          <p:nvPr/>
        </p:nvSpPr>
        <p:spPr>
          <a:xfrm>
            <a:off x="1371600" y="2679192"/>
            <a:ext cx="1828800" cy="822960"/>
          </a:xfrm>
          <a:prstGeom prst="rect">
            <a:avLst/>
          </a:prstGeom>
          <a:noFill/>
        </p:spPr>
        <p:txBody>
          <a:bodyPr wrap="square">
            <a:spAutoFit/>
          </a:bodyPr>
          <a:lstStyle/>
          <a:p>
            <a:pPr algn="l">
              <a:defRPr sz="1000" b="0">
                <a:solidFill>
                  <a:srgbClr val="374151"/>
                </a:solidFill>
                <a:latin typeface="Calibri"/>
              </a:defRPr>
            </a:pPr>
            <a:r>
              <a:t>Buy/Sell input / Error specs</a:t>
            </a:r>
          </a:p>
        </p:txBody>
      </p:sp>
      <p:sp>
        <p:nvSpPr>
          <p:cNvPr id="19" name="Rounded Rectangle 18"/>
          <p:cNvSpPr/>
          <p:nvPr/>
        </p:nvSpPr>
        <p:spPr>
          <a:xfrm>
            <a:off x="3383280" y="2724912"/>
            <a:ext cx="777240" cy="256032"/>
          </a:xfrm>
          <a:prstGeom prst="roundRect">
            <a:avLst>
              <a:gd name="adj" fmla="val 2000"/>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CRITICAL</a:t>
            </a:r>
          </a:p>
        </p:txBody>
      </p:sp>
      <p:sp>
        <p:nvSpPr>
          <p:cNvPr id="20" name="TextBox 19"/>
          <p:cNvSpPr txBox="1"/>
          <p:nvPr/>
        </p:nvSpPr>
        <p:spPr>
          <a:xfrm>
            <a:off x="4297680" y="2660904"/>
            <a:ext cx="3931920" cy="868680"/>
          </a:xfrm>
          <a:prstGeom prst="rect">
            <a:avLst/>
          </a:prstGeom>
          <a:noFill/>
        </p:spPr>
        <p:txBody>
          <a:bodyPr wrap="square">
            <a:spAutoFit/>
          </a:bodyPr>
          <a:lstStyle/>
          <a:p>
            <a:pPr algn="l">
              <a:defRPr sz="1100" b="0">
                <a:solidFill>
                  <a:srgbClr val="1A1A2E"/>
                </a:solidFill>
                <a:latin typeface="Calibri"/>
              </a:defRPr>
            </a:pPr>
            <a:r>
              <a:t>Inline validation and error states exist only as isolated spec frames (insufficient balance, below-minimum, exceed-market-value) and are not rendered on the live Buy/Sell trade screen. No error border, no inline message anchored to a field, and validation timing / CTA-gating cannot be confirmed. For a money-moving flow the on-screen error state is mandatory and appears undesigned/uninstrumented.</a:t>
            </a:r>
          </a:p>
        </p:txBody>
      </p:sp>
      <p:sp>
        <p:nvSpPr>
          <p:cNvPr id="21" name="TextBox 20"/>
          <p:cNvSpPr txBox="1"/>
          <p:nvPr/>
        </p:nvSpPr>
        <p:spPr>
          <a:xfrm>
            <a:off x="8412480" y="2660904"/>
            <a:ext cx="3291840" cy="868680"/>
          </a:xfrm>
          <a:prstGeom prst="rect">
            <a:avLst/>
          </a:prstGeom>
          <a:noFill/>
        </p:spPr>
        <p:txBody>
          <a:bodyPr wrap="square">
            <a:spAutoFit/>
          </a:bodyPr>
          <a:lstStyle/>
          <a:p>
            <a:pPr algn="l">
              <a:defRPr sz="1000" b="0">
                <a:solidFill>
                  <a:srgbClr val="6B7280"/>
                </a:solidFill>
                <a:latin typeface="Calibri"/>
              </a:defRPr>
            </a:pPr>
            <a:r>
              <a:t>Integrate the spec'd error/warning states into the actual trade screen with field-anchored inline messages, on-blur validation, and a CTA that gates with a stated reason. Specify hover/focus/active/loading states too.</a:t>
            </a:r>
          </a:p>
        </p:txBody>
      </p:sp>
      <p:sp>
        <p:nvSpPr>
          <p:cNvPr id="22" name="Rectangle 21"/>
          <p:cNvSpPr/>
          <p:nvPr/>
        </p:nvSpPr>
        <p:spPr>
          <a:xfrm>
            <a:off x="731520" y="3666744"/>
            <a:ext cx="73152" cy="100584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3666744"/>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3758184"/>
            <a:ext cx="365760" cy="274320"/>
          </a:xfrm>
          <a:prstGeom prst="rect">
            <a:avLst/>
          </a:prstGeom>
          <a:noFill/>
        </p:spPr>
        <p:txBody>
          <a:bodyPr wrap="square">
            <a:spAutoFit/>
          </a:bodyPr>
          <a:lstStyle/>
          <a:p>
            <a:pPr algn="l">
              <a:defRPr sz="1200" b="1">
                <a:solidFill>
                  <a:srgbClr val="1A1A2E"/>
                </a:solidFill>
                <a:latin typeface="Calibri"/>
              </a:defRPr>
            </a:pPr>
            <a:r>
              <a:t>#3</a:t>
            </a:r>
          </a:p>
        </p:txBody>
      </p:sp>
      <p:sp>
        <p:nvSpPr>
          <p:cNvPr id="25" name="TextBox 24"/>
          <p:cNvSpPr txBox="1"/>
          <p:nvPr/>
        </p:nvSpPr>
        <p:spPr>
          <a:xfrm>
            <a:off x="1371600" y="3758184"/>
            <a:ext cx="1828800" cy="822960"/>
          </a:xfrm>
          <a:prstGeom prst="rect">
            <a:avLst/>
          </a:prstGeom>
          <a:noFill/>
        </p:spPr>
        <p:txBody>
          <a:bodyPr wrap="square">
            <a:spAutoFit/>
          </a:bodyPr>
          <a:lstStyle/>
          <a:p>
            <a:pPr algn="l">
              <a:defRPr sz="1000" b="0">
                <a:solidFill>
                  <a:srgbClr val="374151"/>
                </a:solidFill>
                <a:latin typeface="Calibri"/>
              </a:defRPr>
            </a:pPr>
            <a:r>
              <a:t>Review / Buy input / Trade detail</a:t>
            </a:r>
          </a:p>
        </p:txBody>
      </p:sp>
      <p:sp>
        <p:nvSpPr>
          <p:cNvPr id="26" name="Rounded Rectangle 25"/>
          <p:cNvSpPr/>
          <p:nvPr/>
        </p:nvSpPr>
        <p:spPr>
          <a:xfrm>
            <a:off x="3383280" y="3803904"/>
            <a:ext cx="777240" cy="256032"/>
          </a:xfrm>
          <a:prstGeom prst="roundRect">
            <a:avLst>
              <a:gd name="adj" fmla="val 2000"/>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HIGH</a:t>
            </a:r>
          </a:p>
        </p:txBody>
      </p:sp>
      <p:sp>
        <p:nvSpPr>
          <p:cNvPr id="27" name="TextBox 26"/>
          <p:cNvSpPr txBox="1"/>
          <p:nvPr/>
        </p:nvSpPr>
        <p:spPr>
          <a:xfrm>
            <a:off x="4297680" y="3739896"/>
            <a:ext cx="3931920" cy="868680"/>
          </a:xfrm>
          <a:prstGeom prst="rect">
            <a:avLst/>
          </a:prstGeom>
          <a:noFill/>
        </p:spPr>
        <p:txBody>
          <a:bodyPr wrap="square">
            <a:spAutoFit/>
          </a:bodyPr>
          <a:lstStyle/>
          <a:p>
            <a:pPr algn="l">
              <a:defRPr sz="1100" b="0">
                <a:solidFill>
                  <a:srgbClr val="1A1A2E"/>
                </a:solidFill>
                <a:latin typeface="Calibri"/>
              </a:defRPr>
            </a:pPr>
            <a:r>
              <a:t>The gap between the displayed 'Indicative price' and the actual execution price is never disclosed. The quoted indicative price is 6,581.85 SGD/ounce, but the completed trade detail shows an actual 'Purchase price 6,128.50 SGD/ounce' — a materially different number. Nothing warns that the price can move between input and settlement.</a:t>
            </a:r>
          </a:p>
        </p:txBody>
      </p:sp>
      <p:sp>
        <p:nvSpPr>
          <p:cNvPr id="28" name="TextBox 27"/>
          <p:cNvSpPr txBox="1"/>
          <p:nvPr/>
        </p:nvSpPr>
        <p:spPr>
          <a:xfrm>
            <a:off x="8412480" y="3739896"/>
            <a:ext cx="3291840" cy="868680"/>
          </a:xfrm>
          <a:prstGeom prst="rect">
            <a:avLst/>
          </a:prstGeom>
          <a:noFill/>
        </p:spPr>
        <p:txBody>
          <a:bodyPr wrap="square">
            <a:spAutoFit/>
          </a:bodyPr>
          <a:lstStyle/>
          <a:p>
            <a:pPr algn="l">
              <a:defRPr sz="1000" b="0">
                <a:solidFill>
                  <a:srgbClr val="6B7280"/>
                </a:solidFill>
                <a:latin typeface="Calibri"/>
              </a:defRPr>
            </a:pPr>
            <a:r>
              <a:t>Add an 'Indicative price' tooltip and an execution caveat at input and review: 'Final price is set at execution and may differ from the indicative price shown.' Show the executed price prominently on confirmation.</a:t>
            </a:r>
          </a:p>
        </p:txBody>
      </p:sp>
      <p:sp>
        <p:nvSpPr>
          <p:cNvPr id="29" name="Rectangle 28"/>
          <p:cNvSpPr/>
          <p:nvPr/>
        </p:nvSpPr>
        <p:spPr>
          <a:xfrm>
            <a:off x="731520" y="4745736"/>
            <a:ext cx="73152" cy="100584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04672" y="4745736"/>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837176"/>
            <a:ext cx="365760" cy="274320"/>
          </a:xfrm>
          <a:prstGeom prst="rect">
            <a:avLst/>
          </a:prstGeom>
          <a:noFill/>
        </p:spPr>
        <p:txBody>
          <a:bodyPr wrap="square">
            <a:spAutoFit/>
          </a:bodyPr>
          <a:lstStyle/>
          <a:p>
            <a:pPr algn="l">
              <a:defRPr sz="1200" b="1">
                <a:solidFill>
                  <a:srgbClr val="1A1A2E"/>
                </a:solidFill>
                <a:latin typeface="Calibri"/>
              </a:defRPr>
            </a:pPr>
            <a:r>
              <a:t>#4</a:t>
            </a:r>
          </a:p>
        </p:txBody>
      </p:sp>
      <p:sp>
        <p:nvSpPr>
          <p:cNvPr id="32" name="TextBox 31"/>
          <p:cNvSpPr txBox="1"/>
          <p:nvPr/>
        </p:nvSpPr>
        <p:spPr>
          <a:xfrm>
            <a:off x="1371600" y="4837176"/>
            <a:ext cx="1828800" cy="822960"/>
          </a:xfrm>
          <a:prstGeom prst="rect">
            <a:avLst/>
          </a:prstGeom>
          <a:noFill/>
        </p:spPr>
        <p:txBody>
          <a:bodyPr wrap="square">
            <a:spAutoFit/>
          </a:bodyPr>
          <a:lstStyle/>
          <a:p>
            <a:pPr algn="l">
              <a:defRPr sz="1000" b="0">
                <a:solidFill>
                  <a:srgbClr val="374151"/>
                </a:solidFill>
                <a:latin typeface="Calibri"/>
              </a:defRPr>
            </a:pPr>
            <a:r>
              <a:t>Overview / Landing</a:t>
            </a:r>
          </a:p>
        </p:txBody>
      </p:sp>
      <p:sp>
        <p:nvSpPr>
          <p:cNvPr id="33" name="Rounded Rectangle 32"/>
          <p:cNvSpPr/>
          <p:nvPr/>
        </p:nvSpPr>
        <p:spPr>
          <a:xfrm>
            <a:off x="3383280" y="4882896"/>
            <a:ext cx="777240" cy="256032"/>
          </a:xfrm>
          <a:prstGeom prst="roundRect">
            <a:avLst>
              <a:gd name="adj" fmla="val 2000"/>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HIGH</a:t>
            </a:r>
          </a:p>
        </p:txBody>
      </p:sp>
      <p:sp>
        <p:nvSpPr>
          <p:cNvPr id="34" name="TextBox 33"/>
          <p:cNvSpPr txBox="1"/>
          <p:nvPr/>
        </p:nvSpPr>
        <p:spPr>
          <a:xfrm>
            <a:off x="4297680" y="4818888"/>
            <a:ext cx="3931920" cy="868680"/>
          </a:xfrm>
          <a:prstGeom prst="rect">
            <a:avLst/>
          </a:prstGeom>
          <a:noFill/>
        </p:spPr>
        <p:txBody>
          <a:bodyPr wrap="square">
            <a:spAutoFit/>
          </a:bodyPr>
          <a:lstStyle/>
          <a:p>
            <a:pPr algn="l">
              <a:defRPr sz="1100" b="0">
                <a:solidFill>
                  <a:srgbClr val="1A1A2E"/>
                </a:solidFill>
                <a:latin typeface="Calibri"/>
              </a:defRPr>
            </a:pPr>
            <a:r>
              <a:t>Landing marketing copy is upside-only: 'Buy paper bullion to diversify your portfolio, hedge against inflation, and access a globally recognised store of value.' There is no balancing 'the value of precious metals can fall as well as rise' statement before the call to action.</a:t>
            </a:r>
          </a:p>
        </p:txBody>
      </p:sp>
      <p:sp>
        <p:nvSpPr>
          <p:cNvPr id="35" name="TextBox 34"/>
          <p:cNvSpPr txBox="1"/>
          <p:nvPr/>
        </p:nvSpPr>
        <p:spPr>
          <a:xfrm>
            <a:off x="8412480" y="4818888"/>
            <a:ext cx="3291840" cy="868680"/>
          </a:xfrm>
          <a:prstGeom prst="rect">
            <a:avLst/>
          </a:prstGeom>
          <a:noFill/>
        </p:spPr>
        <p:txBody>
          <a:bodyPr wrap="square">
            <a:spAutoFit/>
          </a:bodyPr>
          <a:lstStyle/>
          <a:p>
            <a:pPr algn="l">
              <a:defRPr sz="1000" b="0">
                <a:solidFill>
                  <a:srgbClr val="6B7280"/>
                </a:solidFill>
                <a:latin typeface="Calibri"/>
              </a:defRPr>
            </a:pPr>
            <a:r>
              <a:t>Add a concise, equally-weighted risk statement adjacent to the value proposition on the landing (not only in a collapsed FAQ).</a:t>
            </a:r>
          </a:p>
        </p:txBody>
      </p:sp>
      <p:sp>
        <p:nvSpPr>
          <p:cNvPr id="36" name="Rectangle 35"/>
          <p:cNvSpPr/>
          <p:nvPr/>
        </p:nvSpPr>
        <p:spPr>
          <a:xfrm>
            <a:off x="731520" y="5824728"/>
            <a:ext cx="73152" cy="100584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804672" y="5824728"/>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5916168"/>
            <a:ext cx="365760" cy="274320"/>
          </a:xfrm>
          <a:prstGeom prst="rect">
            <a:avLst/>
          </a:prstGeom>
          <a:noFill/>
        </p:spPr>
        <p:txBody>
          <a:bodyPr wrap="square">
            <a:spAutoFit/>
          </a:bodyPr>
          <a:lstStyle/>
          <a:p>
            <a:pPr algn="l">
              <a:defRPr sz="1200" b="1">
                <a:solidFill>
                  <a:srgbClr val="1A1A2E"/>
                </a:solidFill>
                <a:latin typeface="Calibri"/>
              </a:defRPr>
            </a:pPr>
            <a:r>
              <a:t>#5</a:t>
            </a:r>
          </a:p>
        </p:txBody>
      </p:sp>
      <p:sp>
        <p:nvSpPr>
          <p:cNvPr id="39" name="TextBox 38"/>
          <p:cNvSpPr txBox="1"/>
          <p:nvPr/>
        </p:nvSpPr>
        <p:spPr>
          <a:xfrm>
            <a:off x="1371600" y="5916168"/>
            <a:ext cx="1828800" cy="822960"/>
          </a:xfrm>
          <a:prstGeom prst="rect">
            <a:avLst/>
          </a:prstGeom>
          <a:noFill/>
        </p:spPr>
        <p:txBody>
          <a:bodyPr wrap="square">
            <a:spAutoFit/>
          </a:bodyPr>
          <a:lstStyle/>
          <a:p>
            <a:pPr algn="l">
              <a:defRPr sz="1000" b="0">
                <a:solidFill>
                  <a:srgbClr val="374151"/>
                </a:solidFill>
                <a:latin typeface="Calibri"/>
              </a:defRPr>
            </a:pPr>
            <a:r>
              <a:t>Overview / Landing</a:t>
            </a:r>
          </a:p>
        </p:txBody>
      </p:sp>
      <p:sp>
        <p:nvSpPr>
          <p:cNvPr id="40" name="Rounded Rectangle 39"/>
          <p:cNvSpPr/>
          <p:nvPr/>
        </p:nvSpPr>
        <p:spPr>
          <a:xfrm>
            <a:off x="3383280" y="5961888"/>
            <a:ext cx="777240" cy="256032"/>
          </a:xfrm>
          <a:prstGeom prst="roundRect">
            <a:avLst>
              <a:gd name="adj" fmla="val 2000"/>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HIGH</a:t>
            </a:r>
          </a:p>
        </p:txBody>
      </p:sp>
      <p:sp>
        <p:nvSpPr>
          <p:cNvPr id="41" name="TextBox 40"/>
          <p:cNvSpPr txBox="1"/>
          <p:nvPr/>
        </p:nvSpPr>
        <p:spPr>
          <a:xfrm>
            <a:off x="4297680" y="5897880"/>
            <a:ext cx="3931920" cy="868680"/>
          </a:xfrm>
          <a:prstGeom prst="rect">
            <a:avLst/>
          </a:prstGeom>
          <a:noFill/>
        </p:spPr>
        <p:txBody>
          <a:bodyPr wrap="square">
            <a:spAutoFit/>
          </a:bodyPr>
          <a:lstStyle/>
          <a:p>
            <a:pPr algn="l">
              <a:defRPr sz="1100" b="0">
                <a:solidFill>
                  <a:srgbClr val="1A1A2E"/>
                </a:solidFill>
                <a:latin typeface="Calibri"/>
              </a:defRPr>
            </a:pPr>
            <a:r>
              <a:t>The only risk-bearing content ('Things to look out for') is a collapsed FAQ accordion, below the fold, positioned after 'Reason to invest' and after the 'Start trading' CTA, and softened with a euphemistic label.</a:t>
            </a:r>
          </a:p>
        </p:txBody>
      </p:sp>
      <p:sp>
        <p:nvSpPr>
          <p:cNvPr id="42" name="TextBox 41"/>
          <p:cNvSpPr txBox="1"/>
          <p:nvPr/>
        </p:nvSpPr>
        <p:spPr>
          <a:xfrm>
            <a:off x="8412480" y="5897880"/>
            <a:ext cx="3291840" cy="868680"/>
          </a:xfrm>
          <a:prstGeom prst="rect">
            <a:avLst/>
          </a:prstGeom>
          <a:noFill/>
        </p:spPr>
        <p:txBody>
          <a:bodyPr wrap="square">
            <a:spAutoFit/>
          </a:bodyPr>
          <a:lstStyle/>
          <a:p>
            <a:pPr algn="l">
              <a:defRPr sz="1000" b="0">
                <a:solidFill>
                  <a:srgbClr val="6B7280"/>
                </a:solidFill>
                <a:latin typeface="Calibri"/>
              </a:defRPr>
            </a:pPr>
            <a:r>
              <a:t>Rename to 'Risks', surface key risks above the fold or inline near the CTA, and expand by default for first-time users.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9144000" cy="548640"/>
          </a:xfrm>
          <a:prstGeom prst="rect">
            <a:avLst/>
          </a:prstGeom>
          <a:noFill/>
        </p:spPr>
        <p:txBody>
          <a:bodyPr wrap="square">
            <a:spAutoFit/>
          </a:bodyPr>
          <a:lstStyle/>
          <a:p>
            <a:pPr algn="l">
              <a:defRPr sz="2400" b="1">
                <a:solidFill>
                  <a:srgbClr val="1A1A2E"/>
                </a:solidFill>
                <a:latin typeface="Calibri"/>
              </a:defRPr>
            </a:pPr>
            <a:r>
              <a:t>Findings (2/6)</a:t>
            </a:r>
          </a:p>
        </p:txBody>
      </p:sp>
      <p:sp>
        <p:nvSpPr>
          <p:cNvPr id="3" name="TextBox 2"/>
          <p:cNvSpPr txBox="1"/>
          <p:nvPr/>
        </p:nvSpPr>
        <p:spPr>
          <a:xfrm>
            <a:off x="731520" y="1097280"/>
            <a:ext cx="457200" cy="365760"/>
          </a:xfrm>
          <a:prstGeom prst="rect">
            <a:avLst/>
          </a:prstGeom>
          <a:noFill/>
        </p:spPr>
        <p:txBody>
          <a:bodyPr wrap="square">
            <a:spAutoFit/>
          </a:bodyPr>
          <a:lstStyle/>
          <a:p>
            <a:pPr algn="l">
              <a:defRPr sz="900" b="1">
                <a:solidFill>
                  <a:srgbClr val="6B7280"/>
                </a:solidFill>
                <a:latin typeface="Calibri"/>
              </a:defRPr>
            </a:pPr>
            <a:r>
              <a:t>#</a:t>
            </a:r>
          </a:p>
        </p:txBody>
      </p:sp>
      <p:sp>
        <p:nvSpPr>
          <p:cNvPr id="4" name="TextBox 3"/>
          <p:cNvSpPr txBox="1"/>
          <p:nvPr/>
        </p:nvSpPr>
        <p:spPr>
          <a:xfrm>
            <a:off x="1188720" y="1097280"/>
            <a:ext cx="2011680" cy="365760"/>
          </a:xfrm>
          <a:prstGeom prst="rect">
            <a:avLst/>
          </a:prstGeom>
          <a:noFill/>
        </p:spPr>
        <p:txBody>
          <a:bodyPr wrap="square">
            <a:spAutoFit/>
          </a:bodyPr>
          <a:lstStyle/>
          <a:p>
            <a:pPr algn="l">
              <a:defRPr sz="900" b="1">
                <a:solidFill>
                  <a:srgbClr val="6B7280"/>
                </a:solidFill>
                <a:latin typeface="Calibri"/>
              </a:defRPr>
            </a:pPr>
            <a:r>
              <a:t>Screen</a:t>
            </a:r>
          </a:p>
        </p:txBody>
      </p:sp>
      <p:sp>
        <p:nvSpPr>
          <p:cNvPr id="5" name="TextBox 4"/>
          <p:cNvSpPr txBox="1"/>
          <p:nvPr/>
        </p:nvSpPr>
        <p:spPr>
          <a:xfrm>
            <a:off x="3200400" y="1097280"/>
            <a:ext cx="914400" cy="365760"/>
          </a:xfrm>
          <a:prstGeom prst="rect">
            <a:avLst/>
          </a:prstGeom>
          <a:noFill/>
        </p:spPr>
        <p:txBody>
          <a:bodyPr wrap="square">
            <a:spAutoFit/>
          </a:bodyPr>
          <a:lstStyle/>
          <a:p>
            <a:pPr algn="l">
              <a:defRPr sz="900" b="1">
                <a:solidFill>
                  <a:srgbClr val="6B7280"/>
                </a:solidFill>
                <a:latin typeface="Calibri"/>
              </a:defRPr>
            </a:pPr>
            <a:r>
              <a:t>Severity</a:t>
            </a:r>
          </a:p>
        </p:txBody>
      </p:sp>
      <p:sp>
        <p:nvSpPr>
          <p:cNvPr id="6" name="TextBox 5"/>
          <p:cNvSpPr txBox="1"/>
          <p:nvPr/>
        </p:nvSpPr>
        <p:spPr>
          <a:xfrm>
            <a:off x="4114800" y="1097280"/>
            <a:ext cx="4114800" cy="365760"/>
          </a:xfrm>
          <a:prstGeom prst="rect">
            <a:avLst/>
          </a:prstGeom>
          <a:noFill/>
        </p:spPr>
        <p:txBody>
          <a:bodyPr wrap="square">
            <a:spAutoFit/>
          </a:bodyPr>
          <a:lstStyle/>
          <a:p>
            <a:pPr algn="l">
              <a:defRPr sz="900" b="1">
                <a:solidFill>
                  <a:srgbClr val="6B7280"/>
                </a:solidFill>
                <a:latin typeface="Calibri"/>
              </a:defRPr>
            </a:pPr>
            <a:r>
              <a:t>Finding</a:t>
            </a:r>
          </a:p>
        </p:txBody>
      </p:sp>
      <p:sp>
        <p:nvSpPr>
          <p:cNvPr id="7" name="TextBox 6"/>
          <p:cNvSpPr txBox="1"/>
          <p:nvPr/>
        </p:nvSpPr>
        <p:spPr>
          <a:xfrm>
            <a:off x="8229600" y="1097280"/>
            <a:ext cx="3474720" cy="365760"/>
          </a:xfrm>
          <a:prstGeom prst="rect">
            <a:avLst/>
          </a:prstGeom>
          <a:noFill/>
        </p:spPr>
        <p:txBody>
          <a:bodyPr wrap="square">
            <a:spAutoFit/>
          </a:bodyPr>
          <a:lstStyle/>
          <a:p>
            <a:pPr algn="l">
              <a:defRPr sz="900" b="1">
                <a:solidFill>
                  <a:srgbClr val="6B7280"/>
                </a:solidFill>
                <a:latin typeface="Calibri"/>
              </a:defRPr>
            </a:pPr>
            <a:r>
              <a:t>Recommendation</a:t>
            </a:r>
          </a:p>
        </p:txBody>
      </p:sp>
      <p:sp>
        <p:nvSpPr>
          <p:cNvPr id="8" name="Rectangle 7"/>
          <p:cNvSpPr/>
          <p:nvPr/>
        </p:nvSpPr>
        <p:spPr>
          <a:xfrm>
            <a:off x="731520" y="1508760"/>
            <a:ext cx="73152" cy="100584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04672" y="1508760"/>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600200"/>
            <a:ext cx="365760" cy="274320"/>
          </a:xfrm>
          <a:prstGeom prst="rect">
            <a:avLst/>
          </a:prstGeom>
          <a:noFill/>
        </p:spPr>
        <p:txBody>
          <a:bodyPr wrap="square">
            <a:spAutoFit/>
          </a:bodyPr>
          <a:lstStyle/>
          <a:p>
            <a:pPr algn="l">
              <a:defRPr sz="1200" b="1">
                <a:solidFill>
                  <a:srgbClr val="1A1A2E"/>
                </a:solidFill>
                <a:latin typeface="Calibri"/>
              </a:defRPr>
            </a:pPr>
            <a:r>
              <a:t>#6</a:t>
            </a:r>
          </a:p>
        </p:txBody>
      </p:sp>
      <p:sp>
        <p:nvSpPr>
          <p:cNvPr id="11" name="TextBox 10"/>
          <p:cNvSpPr txBox="1"/>
          <p:nvPr/>
        </p:nvSpPr>
        <p:spPr>
          <a:xfrm>
            <a:off x="1371600" y="1600200"/>
            <a:ext cx="1828800" cy="822960"/>
          </a:xfrm>
          <a:prstGeom prst="rect">
            <a:avLst/>
          </a:prstGeom>
          <a:noFill/>
        </p:spPr>
        <p:txBody>
          <a:bodyPr wrap="square">
            <a:spAutoFit/>
          </a:bodyPr>
          <a:lstStyle/>
          <a:p>
            <a:pPr algn="l">
              <a:defRPr sz="1000" b="0">
                <a:solidFill>
                  <a:srgbClr val="374151"/>
                </a:solidFill>
                <a:latin typeface="Calibri"/>
              </a:defRPr>
            </a:pPr>
            <a:r>
              <a:t>Maintenance modal / Email / Push</a:t>
            </a:r>
          </a:p>
        </p:txBody>
      </p:sp>
      <p:sp>
        <p:nvSpPr>
          <p:cNvPr id="12" name="Rounded Rectangle 11"/>
          <p:cNvSpPr/>
          <p:nvPr/>
        </p:nvSpPr>
        <p:spPr>
          <a:xfrm>
            <a:off x="3383280" y="1645920"/>
            <a:ext cx="777240" cy="256032"/>
          </a:xfrm>
          <a:prstGeom prst="roundRect">
            <a:avLst>
              <a:gd name="adj" fmla="val 2000"/>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HIGH</a:t>
            </a:r>
          </a:p>
        </p:txBody>
      </p:sp>
      <p:sp>
        <p:nvSpPr>
          <p:cNvPr id="13" name="TextBox 12"/>
          <p:cNvSpPr txBox="1"/>
          <p:nvPr/>
        </p:nvSpPr>
        <p:spPr>
          <a:xfrm>
            <a:off x="4297680" y="1581912"/>
            <a:ext cx="3931920" cy="868680"/>
          </a:xfrm>
          <a:prstGeom prst="rect">
            <a:avLst/>
          </a:prstGeom>
          <a:noFill/>
        </p:spPr>
        <p:txBody>
          <a:bodyPr wrap="square">
            <a:spAutoFit/>
          </a:bodyPr>
          <a:lstStyle/>
          <a:p>
            <a:pPr algn="l">
              <a:defRPr sz="1100" b="0">
                <a:solidFill>
                  <a:srgbClr val="1A1A2E"/>
                </a:solidFill>
                <a:latin typeface="Calibri"/>
              </a:defRPr>
            </a:pPr>
            <a:r>
              <a:t>Unfilled template artifacts are shipped into customer-facing surfaces: maintenance modal shows '[6:00 AM SGT]' and '[6:00 AM]' bracket tokens (and the two phrasings disagree on timezone); the confirmation email shows 'Dear &lt;Salutation&gt; &lt;Surname&gt;' and a '&lt;Name&gt; / &lt;Designation/rank&gt; / &lt;Department name&gt;' signature plus a stale '© Copyright 2024'; the push notification leaks delimiters '&lt;7,000.00 SGD/ounce&gt;'.</a:t>
            </a:r>
          </a:p>
        </p:txBody>
      </p:sp>
      <p:sp>
        <p:nvSpPr>
          <p:cNvPr id="14" name="TextBox 13"/>
          <p:cNvSpPr txBox="1"/>
          <p:nvPr/>
        </p:nvSpPr>
        <p:spPr>
          <a:xfrm>
            <a:off x="8412480" y="1581912"/>
            <a:ext cx="3291840" cy="868680"/>
          </a:xfrm>
          <a:prstGeom prst="rect">
            <a:avLst/>
          </a:prstGeom>
          <a:noFill/>
        </p:spPr>
        <p:txBody>
          <a:bodyPr wrap="square">
            <a:spAutoFit/>
          </a:bodyPr>
          <a:lstStyle/>
          <a:p>
            <a:pPr algn="l">
              <a:defRPr sz="1000" b="0">
                <a:solidFill>
                  <a:srgbClr val="6B7280"/>
                </a:solidFill>
                <a:latin typeface="Calibri"/>
              </a:defRPr>
            </a:pPr>
            <a:r>
              <a:t>Purge all merge-field/placeholder tokens, fill the maintenance time dynamically with a single consistent timezone format, and correct the copyright year.</a:t>
            </a:r>
          </a:p>
        </p:txBody>
      </p:sp>
      <p:sp>
        <p:nvSpPr>
          <p:cNvPr id="15" name="Rectangle 14"/>
          <p:cNvSpPr/>
          <p:nvPr/>
        </p:nvSpPr>
        <p:spPr>
          <a:xfrm>
            <a:off x="731520" y="2587752"/>
            <a:ext cx="73152" cy="100584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04672" y="2587752"/>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2679192"/>
            <a:ext cx="365760" cy="274320"/>
          </a:xfrm>
          <a:prstGeom prst="rect">
            <a:avLst/>
          </a:prstGeom>
          <a:noFill/>
        </p:spPr>
        <p:txBody>
          <a:bodyPr wrap="square">
            <a:spAutoFit/>
          </a:bodyPr>
          <a:lstStyle/>
          <a:p>
            <a:pPr algn="l">
              <a:defRPr sz="1200" b="1">
                <a:solidFill>
                  <a:srgbClr val="1A1A2E"/>
                </a:solidFill>
                <a:latin typeface="Calibri"/>
              </a:defRPr>
            </a:pPr>
            <a:r>
              <a:t>#7</a:t>
            </a:r>
          </a:p>
        </p:txBody>
      </p:sp>
      <p:sp>
        <p:nvSpPr>
          <p:cNvPr id="18" name="TextBox 17"/>
          <p:cNvSpPr txBox="1"/>
          <p:nvPr/>
        </p:nvSpPr>
        <p:spPr>
          <a:xfrm>
            <a:off x="1371600" y="2679192"/>
            <a:ext cx="1828800" cy="822960"/>
          </a:xfrm>
          <a:prstGeom prst="rect">
            <a:avLst/>
          </a:prstGeom>
          <a:noFill/>
        </p:spPr>
        <p:txBody>
          <a:bodyPr wrap="square">
            <a:spAutoFit/>
          </a:bodyPr>
          <a:lstStyle/>
          <a:p>
            <a:pPr algn="l">
              <a:defRPr sz="1000" b="0">
                <a:solidFill>
                  <a:srgbClr val="374151"/>
                </a:solidFill>
                <a:latin typeface="Calibri"/>
              </a:defRPr>
            </a:pPr>
            <a:r>
              <a:t>Buy input / Overview</a:t>
            </a:r>
          </a:p>
        </p:txBody>
      </p:sp>
      <p:sp>
        <p:nvSpPr>
          <p:cNvPr id="19" name="Rounded Rectangle 18"/>
          <p:cNvSpPr/>
          <p:nvPr/>
        </p:nvSpPr>
        <p:spPr>
          <a:xfrm>
            <a:off x="3383280" y="2724912"/>
            <a:ext cx="777240" cy="256032"/>
          </a:xfrm>
          <a:prstGeom prst="roundRect">
            <a:avLst>
              <a:gd name="adj" fmla="val 2000"/>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HIGH</a:t>
            </a:r>
          </a:p>
        </p:txBody>
      </p:sp>
      <p:sp>
        <p:nvSpPr>
          <p:cNvPr id="20" name="TextBox 19"/>
          <p:cNvSpPr txBox="1"/>
          <p:nvPr/>
        </p:nvSpPr>
        <p:spPr>
          <a:xfrm>
            <a:off x="4297680" y="2660904"/>
            <a:ext cx="3931920" cy="868680"/>
          </a:xfrm>
          <a:prstGeom prst="rect">
            <a:avLst/>
          </a:prstGeom>
          <a:noFill/>
        </p:spPr>
        <p:txBody>
          <a:bodyPr wrap="square">
            <a:spAutoFit/>
          </a:bodyPr>
          <a:lstStyle/>
          <a:p>
            <a:pPr algn="l">
              <a:defRPr sz="1100" b="0">
                <a:solidFill>
                  <a:srgbClr val="1A1A2E"/>
                </a:solidFill>
                <a:latin typeface="Calibri"/>
              </a:defRPr>
            </a:pPr>
            <a:r>
              <a:t>Price freshness is not communicated for a live-priced commodity. The overview says 'Last updated 23 April 2026, 11:30 AM (UTC+08:00)' while the trade-panel chart says 'Last updated 28 Apr 2026, 2:00 PM SGT' — a ~5-day discrepancy within the same product. There is no auto-refresh, countdown, or 'price expires in / refresh' affordance.</a:t>
            </a:r>
          </a:p>
        </p:txBody>
      </p:sp>
      <p:sp>
        <p:nvSpPr>
          <p:cNvPr id="21" name="TextBox 20"/>
          <p:cNvSpPr txBox="1"/>
          <p:nvPr/>
        </p:nvSpPr>
        <p:spPr>
          <a:xfrm>
            <a:off x="8412480" y="2660904"/>
            <a:ext cx="3291840" cy="868680"/>
          </a:xfrm>
          <a:prstGeom prst="rect">
            <a:avLst/>
          </a:prstGeom>
          <a:noFill/>
        </p:spPr>
        <p:txBody>
          <a:bodyPr wrap="square">
            <a:spAutoFit/>
          </a:bodyPr>
          <a:lstStyle/>
          <a:p>
            <a:pPr algn="l">
              <a:defRPr sz="1000" b="0">
                <a:solidFill>
                  <a:srgbClr val="6B7280"/>
                </a:solidFill>
                <a:latin typeface="Calibri"/>
              </a:defRPr>
            </a:pPr>
            <a:r>
              <a:t>Show a single live timestamp, auto-refresh the indicative price with a visible countdown/refresh control, and reconcile the conflicting timestamps.</a:t>
            </a:r>
          </a:p>
        </p:txBody>
      </p:sp>
      <p:sp>
        <p:nvSpPr>
          <p:cNvPr id="22" name="Rectangle 21"/>
          <p:cNvSpPr/>
          <p:nvPr/>
        </p:nvSpPr>
        <p:spPr>
          <a:xfrm>
            <a:off x="731520" y="3666744"/>
            <a:ext cx="73152" cy="100584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3666744"/>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3758184"/>
            <a:ext cx="365760" cy="274320"/>
          </a:xfrm>
          <a:prstGeom prst="rect">
            <a:avLst/>
          </a:prstGeom>
          <a:noFill/>
        </p:spPr>
        <p:txBody>
          <a:bodyPr wrap="square">
            <a:spAutoFit/>
          </a:bodyPr>
          <a:lstStyle/>
          <a:p>
            <a:pPr algn="l">
              <a:defRPr sz="1200" b="1">
                <a:solidFill>
                  <a:srgbClr val="1A1A2E"/>
                </a:solidFill>
                <a:latin typeface="Calibri"/>
              </a:defRPr>
            </a:pPr>
            <a:r>
              <a:t>#8</a:t>
            </a:r>
          </a:p>
        </p:txBody>
      </p:sp>
      <p:sp>
        <p:nvSpPr>
          <p:cNvPr id="25" name="TextBox 24"/>
          <p:cNvSpPr txBox="1"/>
          <p:nvPr/>
        </p:nvSpPr>
        <p:spPr>
          <a:xfrm>
            <a:off x="1371600" y="3758184"/>
            <a:ext cx="1828800" cy="822960"/>
          </a:xfrm>
          <a:prstGeom prst="rect">
            <a:avLst/>
          </a:prstGeom>
          <a:noFill/>
        </p:spPr>
        <p:txBody>
          <a:bodyPr wrap="square">
            <a:spAutoFit/>
          </a:bodyPr>
          <a:lstStyle/>
          <a:p>
            <a:pPr algn="l">
              <a:defRPr sz="1000" b="0">
                <a:solidFill>
                  <a:srgbClr val="374151"/>
                </a:solidFill>
                <a:latin typeface="Calibri"/>
              </a:defRPr>
            </a:pPr>
            <a:r>
              <a:t>Review / Confirmation</a:t>
            </a:r>
          </a:p>
        </p:txBody>
      </p:sp>
      <p:sp>
        <p:nvSpPr>
          <p:cNvPr id="26" name="Rounded Rectangle 25"/>
          <p:cNvSpPr/>
          <p:nvPr/>
        </p:nvSpPr>
        <p:spPr>
          <a:xfrm>
            <a:off x="3383280" y="3803904"/>
            <a:ext cx="777240" cy="256032"/>
          </a:xfrm>
          <a:prstGeom prst="roundRect">
            <a:avLst>
              <a:gd name="adj" fmla="val 2000"/>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HIGH</a:t>
            </a:r>
          </a:p>
        </p:txBody>
      </p:sp>
      <p:sp>
        <p:nvSpPr>
          <p:cNvPr id="27" name="TextBox 26"/>
          <p:cNvSpPr txBox="1"/>
          <p:nvPr/>
        </p:nvSpPr>
        <p:spPr>
          <a:xfrm>
            <a:off x="4297680" y="3739896"/>
            <a:ext cx="3931920" cy="868680"/>
          </a:xfrm>
          <a:prstGeom prst="rect">
            <a:avLst/>
          </a:prstGeom>
          <a:noFill/>
        </p:spPr>
        <p:txBody>
          <a:bodyPr wrap="square">
            <a:spAutoFit/>
          </a:bodyPr>
          <a:lstStyle/>
          <a:p>
            <a:pPr algn="l">
              <a:defRPr sz="1100" b="0">
                <a:solidFill>
                  <a:srgbClr val="1A1A2E"/>
                </a:solidFill>
                <a:latin typeface="Calibri"/>
              </a:defRPr>
            </a:pPr>
            <a:r>
              <a:t>No loading/processing state exists between 'Confirm buy order' and the success screen. Order submission, price lock, and account creation all involve latency, but there is no spinner, skeleton, or 'Submitting order…' state — risking double submission and user uncertainty at the most critical moment.</a:t>
            </a:r>
          </a:p>
        </p:txBody>
      </p:sp>
      <p:sp>
        <p:nvSpPr>
          <p:cNvPr id="28" name="TextBox 27"/>
          <p:cNvSpPr txBox="1"/>
          <p:nvPr/>
        </p:nvSpPr>
        <p:spPr>
          <a:xfrm>
            <a:off x="8412480" y="3739896"/>
            <a:ext cx="3291840" cy="868680"/>
          </a:xfrm>
          <a:prstGeom prst="rect">
            <a:avLst/>
          </a:prstGeom>
          <a:noFill/>
        </p:spPr>
        <p:txBody>
          <a:bodyPr wrap="square">
            <a:spAutoFit/>
          </a:bodyPr>
          <a:lstStyle/>
          <a:p>
            <a:pPr algn="l">
              <a:defRPr sz="1000" b="0">
                <a:solidFill>
                  <a:srgbClr val="6B7280"/>
                </a:solidFill>
                <a:latin typeface="Calibri"/>
              </a:defRPr>
            </a:pPr>
            <a:r>
              <a:t>Add an explicit processing state that disables the button, shows progress, and prevents resubmission until the server responds.</a:t>
            </a:r>
          </a:p>
        </p:txBody>
      </p:sp>
      <p:sp>
        <p:nvSpPr>
          <p:cNvPr id="29" name="Rectangle 28"/>
          <p:cNvSpPr/>
          <p:nvPr/>
        </p:nvSpPr>
        <p:spPr>
          <a:xfrm>
            <a:off x="731520" y="4745736"/>
            <a:ext cx="73152" cy="100584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04672" y="4745736"/>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837176"/>
            <a:ext cx="365760" cy="274320"/>
          </a:xfrm>
          <a:prstGeom prst="rect">
            <a:avLst/>
          </a:prstGeom>
          <a:noFill/>
        </p:spPr>
        <p:txBody>
          <a:bodyPr wrap="square">
            <a:spAutoFit/>
          </a:bodyPr>
          <a:lstStyle/>
          <a:p>
            <a:pPr algn="l">
              <a:defRPr sz="1200" b="1">
                <a:solidFill>
                  <a:srgbClr val="1A1A2E"/>
                </a:solidFill>
                <a:latin typeface="Calibri"/>
              </a:defRPr>
            </a:pPr>
            <a:r>
              <a:t>#9</a:t>
            </a:r>
          </a:p>
        </p:txBody>
      </p:sp>
      <p:sp>
        <p:nvSpPr>
          <p:cNvPr id="32" name="TextBox 31"/>
          <p:cNvSpPr txBox="1"/>
          <p:nvPr/>
        </p:nvSpPr>
        <p:spPr>
          <a:xfrm>
            <a:off x="1371600" y="4837176"/>
            <a:ext cx="1828800" cy="822960"/>
          </a:xfrm>
          <a:prstGeom prst="rect">
            <a:avLst/>
          </a:prstGeom>
          <a:noFill/>
        </p:spPr>
        <p:txBody>
          <a:bodyPr wrap="square">
            <a:spAutoFit/>
          </a:bodyPr>
          <a:lstStyle/>
          <a:p>
            <a:pPr algn="l">
              <a:defRPr sz="1000" b="0">
                <a:solidFill>
                  <a:srgbClr val="374151"/>
                </a:solidFill>
                <a:latin typeface="Calibri"/>
              </a:defRPr>
            </a:pPr>
            <a:r>
              <a:t>Review vs Trade detail</a:t>
            </a:r>
          </a:p>
        </p:txBody>
      </p:sp>
      <p:sp>
        <p:nvSpPr>
          <p:cNvPr id="33" name="Rounded Rectangle 32"/>
          <p:cNvSpPr/>
          <p:nvPr/>
        </p:nvSpPr>
        <p:spPr>
          <a:xfrm>
            <a:off x="3383280" y="4882896"/>
            <a:ext cx="777240" cy="256032"/>
          </a:xfrm>
          <a:prstGeom prst="roundRect">
            <a:avLst>
              <a:gd name="adj" fmla="val 2000"/>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HIGH</a:t>
            </a:r>
          </a:p>
        </p:txBody>
      </p:sp>
      <p:sp>
        <p:nvSpPr>
          <p:cNvPr id="34" name="TextBox 33"/>
          <p:cNvSpPr txBox="1"/>
          <p:nvPr/>
        </p:nvSpPr>
        <p:spPr>
          <a:xfrm>
            <a:off x="4297680" y="4818888"/>
            <a:ext cx="3931920" cy="868680"/>
          </a:xfrm>
          <a:prstGeom prst="rect">
            <a:avLst/>
          </a:prstGeom>
          <a:noFill/>
        </p:spPr>
        <p:txBody>
          <a:bodyPr wrap="square">
            <a:spAutoFit/>
          </a:bodyPr>
          <a:lstStyle/>
          <a:p>
            <a:pPr algn="l">
              <a:defRPr sz="1100" b="0">
                <a:solidFill>
                  <a:srgbClr val="1A1A2E"/>
                </a:solidFill>
                <a:latin typeface="Calibri"/>
              </a:defRPr>
            </a:pPr>
            <a:r>
              <a:t>The Review screen (pre-commit) and the Trade-detail screen (already executed) are near-identical in layout and content; the only differentiators are the small kicker (REVIEW vs TRADE DETAILS) and the buttons. A user landing mid-flow cannot tell whether money has already moved.</a:t>
            </a:r>
          </a:p>
        </p:txBody>
      </p:sp>
      <p:sp>
        <p:nvSpPr>
          <p:cNvPr id="35" name="TextBox 34"/>
          <p:cNvSpPr txBox="1"/>
          <p:nvPr/>
        </p:nvSpPr>
        <p:spPr>
          <a:xfrm>
            <a:off x="8412480" y="4818888"/>
            <a:ext cx="3291840" cy="868680"/>
          </a:xfrm>
          <a:prstGeom prst="rect">
            <a:avLst/>
          </a:prstGeom>
          <a:noFill/>
        </p:spPr>
        <p:txBody>
          <a:bodyPr wrap="square">
            <a:spAutoFit/>
          </a:bodyPr>
          <a:lstStyle/>
          <a:p>
            <a:pPr algn="l">
              <a:defRPr sz="1000" b="0">
                <a:solidFill>
                  <a:srgbClr val="6B7280"/>
                </a:solidFill>
                <a:latin typeface="Calibri"/>
              </a:defRPr>
            </a:pPr>
            <a:r>
              <a:t>Visually differentiate the two: distinct headers, a clear status banner ('Not yet submitted' vs 'Completed · Filled'), and a step indicator. Make the pre-commit state unmistakable.</a:t>
            </a:r>
          </a:p>
        </p:txBody>
      </p:sp>
      <p:sp>
        <p:nvSpPr>
          <p:cNvPr id="36" name="Rectangle 35"/>
          <p:cNvSpPr/>
          <p:nvPr/>
        </p:nvSpPr>
        <p:spPr>
          <a:xfrm>
            <a:off x="731520" y="5824728"/>
            <a:ext cx="73152" cy="100584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804672" y="5824728"/>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5916168"/>
            <a:ext cx="365760" cy="274320"/>
          </a:xfrm>
          <a:prstGeom prst="rect">
            <a:avLst/>
          </a:prstGeom>
          <a:noFill/>
        </p:spPr>
        <p:txBody>
          <a:bodyPr wrap="square">
            <a:spAutoFit/>
          </a:bodyPr>
          <a:lstStyle/>
          <a:p>
            <a:pPr algn="l">
              <a:defRPr sz="1200" b="1">
                <a:solidFill>
                  <a:srgbClr val="1A1A2E"/>
                </a:solidFill>
                <a:latin typeface="Calibri"/>
              </a:defRPr>
            </a:pPr>
            <a:r>
              <a:t>#10</a:t>
            </a:r>
          </a:p>
        </p:txBody>
      </p:sp>
      <p:sp>
        <p:nvSpPr>
          <p:cNvPr id="39" name="TextBox 38"/>
          <p:cNvSpPr txBox="1"/>
          <p:nvPr/>
        </p:nvSpPr>
        <p:spPr>
          <a:xfrm>
            <a:off x="1371600" y="5916168"/>
            <a:ext cx="1828800" cy="822960"/>
          </a:xfrm>
          <a:prstGeom prst="rect">
            <a:avLst/>
          </a:prstGeom>
          <a:noFill/>
        </p:spPr>
        <p:txBody>
          <a:bodyPr wrap="square">
            <a:spAutoFit/>
          </a:bodyPr>
          <a:lstStyle/>
          <a:p>
            <a:pPr algn="l">
              <a:defRPr sz="1000" b="0">
                <a:solidFill>
                  <a:srgbClr val="374151"/>
                </a:solidFill>
                <a:latin typeface="Calibri"/>
              </a:defRPr>
            </a:pPr>
            <a:r>
              <a:t>Buy / Sell input</a:t>
            </a:r>
          </a:p>
        </p:txBody>
      </p:sp>
      <p:sp>
        <p:nvSpPr>
          <p:cNvPr id="40" name="Rounded Rectangle 39"/>
          <p:cNvSpPr/>
          <p:nvPr/>
        </p:nvSpPr>
        <p:spPr>
          <a:xfrm>
            <a:off x="3383280" y="5961888"/>
            <a:ext cx="777240" cy="256032"/>
          </a:xfrm>
          <a:prstGeom prst="roundRect">
            <a:avLst>
              <a:gd name="adj" fmla="val 2000"/>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HIGH</a:t>
            </a:r>
          </a:p>
        </p:txBody>
      </p:sp>
      <p:sp>
        <p:nvSpPr>
          <p:cNvPr id="41" name="TextBox 40"/>
          <p:cNvSpPr txBox="1"/>
          <p:nvPr/>
        </p:nvSpPr>
        <p:spPr>
          <a:xfrm>
            <a:off x="4297680" y="5897880"/>
            <a:ext cx="3931920" cy="868680"/>
          </a:xfrm>
          <a:prstGeom prst="rect">
            <a:avLst/>
          </a:prstGeom>
          <a:noFill/>
        </p:spPr>
        <p:txBody>
          <a:bodyPr wrap="square">
            <a:spAutoFit/>
          </a:bodyPr>
          <a:lstStyle/>
          <a:p>
            <a:pPr algn="l">
              <a:defRPr sz="1100" b="0">
                <a:solidFill>
                  <a:srgbClr val="1A1A2E"/>
                </a:solidFill>
                <a:latin typeface="Calibri"/>
              </a:defRPr>
            </a:pPr>
            <a:r>
              <a:t>Buy/Sell is differentiated almost entirely by colour (green Buy / red Sell pill) with no icon, arrow, or shape redundancy, and gain/loss values on the Holding-details card rely on green/red with only a weak '+/-' sign. Brand red is simultaneously used for OCBC branding, the Sell state, and loss values — so the most saturated red on the Sell screen is the toggle, not the primary action.</a:t>
            </a:r>
          </a:p>
        </p:txBody>
      </p:sp>
      <p:sp>
        <p:nvSpPr>
          <p:cNvPr id="42" name="TextBox 41"/>
          <p:cNvSpPr txBox="1"/>
          <p:nvPr/>
        </p:nvSpPr>
        <p:spPr>
          <a:xfrm>
            <a:off x="8412480" y="5897880"/>
            <a:ext cx="3291840" cy="868680"/>
          </a:xfrm>
          <a:prstGeom prst="rect">
            <a:avLst/>
          </a:prstGeom>
          <a:noFill/>
        </p:spPr>
        <p:txBody>
          <a:bodyPr wrap="square">
            <a:spAutoFit/>
          </a:bodyPr>
          <a:lstStyle/>
          <a:p>
            <a:pPr algn="l">
              <a:defRPr sz="1000" b="0">
                <a:solidFill>
                  <a:srgbClr val="6B7280"/>
                </a:solidFill>
                <a:latin typeface="Calibri"/>
              </a:defRPr>
            </a:pPr>
            <a:r>
              <a:t>Add non-colour redundancy (directional icons/labels) to Buy/Sell and gain/loss everywhere, and decide a single meaning for red (brand vs action vs sell) so the primary CTA reads unambiguously.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9144000" cy="548640"/>
          </a:xfrm>
          <a:prstGeom prst="rect">
            <a:avLst/>
          </a:prstGeom>
          <a:noFill/>
        </p:spPr>
        <p:txBody>
          <a:bodyPr wrap="square">
            <a:spAutoFit/>
          </a:bodyPr>
          <a:lstStyle/>
          <a:p>
            <a:pPr algn="l">
              <a:defRPr sz="2400" b="1">
                <a:solidFill>
                  <a:srgbClr val="1A1A2E"/>
                </a:solidFill>
                <a:latin typeface="Calibri"/>
              </a:defRPr>
            </a:pPr>
            <a:r>
              <a:t>Findings (3/6)</a:t>
            </a:r>
          </a:p>
        </p:txBody>
      </p:sp>
      <p:sp>
        <p:nvSpPr>
          <p:cNvPr id="3" name="TextBox 2"/>
          <p:cNvSpPr txBox="1"/>
          <p:nvPr/>
        </p:nvSpPr>
        <p:spPr>
          <a:xfrm>
            <a:off x="731520" y="1097280"/>
            <a:ext cx="457200" cy="365760"/>
          </a:xfrm>
          <a:prstGeom prst="rect">
            <a:avLst/>
          </a:prstGeom>
          <a:noFill/>
        </p:spPr>
        <p:txBody>
          <a:bodyPr wrap="square">
            <a:spAutoFit/>
          </a:bodyPr>
          <a:lstStyle/>
          <a:p>
            <a:pPr algn="l">
              <a:defRPr sz="900" b="1">
                <a:solidFill>
                  <a:srgbClr val="6B7280"/>
                </a:solidFill>
                <a:latin typeface="Calibri"/>
              </a:defRPr>
            </a:pPr>
            <a:r>
              <a:t>#</a:t>
            </a:r>
          </a:p>
        </p:txBody>
      </p:sp>
      <p:sp>
        <p:nvSpPr>
          <p:cNvPr id="4" name="TextBox 3"/>
          <p:cNvSpPr txBox="1"/>
          <p:nvPr/>
        </p:nvSpPr>
        <p:spPr>
          <a:xfrm>
            <a:off x="1188720" y="1097280"/>
            <a:ext cx="2011680" cy="365760"/>
          </a:xfrm>
          <a:prstGeom prst="rect">
            <a:avLst/>
          </a:prstGeom>
          <a:noFill/>
        </p:spPr>
        <p:txBody>
          <a:bodyPr wrap="square">
            <a:spAutoFit/>
          </a:bodyPr>
          <a:lstStyle/>
          <a:p>
            <a:pPr algn="l">
              <a:defRPr sz="900" b="1">
                <a:solidFill>
                  <a:srgbClr val="6B7280"/>
                </a:solidFill>
                <a:latin typeface="Calibri"/>
              </a:defRPr>
            </a:pPr>
            <a:r>
              <a:t>Screen</a:t>
            </a:r>
          </a:p>
        </p:txBody>
      </p:sp>
      <p:sp>
        <p:nvSpPr>
          <p:cNvPr id="5" name="TextBox 4"/>
          <p:cNvSpPr txBox="1"/>
          <p:nvPr/>
        </p:nvSpPr>
        <p:spPr>
          <a:xfrm>
            <a:off x="3200400" y="1097280"/>
            <a:ext cx="914400" cy="365760"/>
          </a:xfrm>
          <a:prstGeom prst="rect">
            <a:avLst/>
          </a:prstGeom>
          <a:noFill/>
        </p:spPr>
        <p:txBody>
          <a:bodyPr wrap="square">
            <a:spAutoFit/>
          </a:bodyPr>
          <a:lstStyle/>
          <a:p>
            <a:pPr algn="l">
              <a:defRPr sz="900" b="1">
                <a:solidFill>
                  <a:srgbClr val="6B7280"/>
                </a:solidFill>
                <a:latin typeface="Calibri"/>
              </a:defRPr>
            </a:pPr>
            <a:r>
              <a:t>Severity</a:t>
            </a:r>
          </a:p>
        </p:txBody>
      </p:sp>
      <p:sp>
        <p:nvSpPr>
          <p:cNvPr id="6" name="TextBox 5"/>
          <p:cNvSpPr txBox="1"/>
          <p:nvPr/>
        </p:nvSpPr>
        <p:spPr>
          <a:xfrm>
            <a:off x="4114800" y="1097280"/>
            <a:ext cx="4114800" cy="365760"/>
          </a:xfrm>
          <a:prstGeom prst="rect">
            <a:avLst/>
          </a:prstGeom>
          <a:noFill/>
        </p:spPr>
        <p:txBody>
          <a:bodyPr wrap="square">
            <a:spAutoFit/>
          </a:bodyPr>
          <a:lstStyle/>
          <a:p>
            <a:pPr algn="l">
              <a:defRPr sz="900" b="1">
                <a:solidFill>
                  <a:srgbClr val="6B7280"/>
                </a:solidFill>
                <a:latin typeface="Calibri"/>
              </a:defRPr>
            </a:pPr>
            <a:r>
              <a:t>Finding</a:t>
            </a:r>
          </a:p>
        </p:txBody>
      </p:sp>
      <p:sp>
        <p:nvSpPr>
          <p:cNvPr id="7" name="TextBox 6"/>
          <p:cNvSpPr txBox="1"/>
          <p:nvPr/>
        </p:nvSpPr>
        <p:spPr>
          <a:xfrm>
            <a:off x="8229600" y="1097280"/>
            <a:ext cx="3474720" cy="365760"/>
          </a:xfrm>
          <a:prstGeom prst="rect">
            <a:avLst/>
          </a:prstGeom>
          <a:noFill/>
        </p:spPr>
        <p:txBody>
          <a:bodyPr wrap="square">
            <a:spAutoFit/>
          </a:bodyPr>
          <a:lstStyle/>
          <a:p>
            <a:pPr algn="l">
              <a:defRPr sz="900" b="1">
                <a:solidFill>
                  <a:srgbClr val="6B7280"/>
                </a:solidFill>
                <a:latin typeface="Calibri"/>
              </a:defRPr>
            </a:pPr>
            <a:r>
              <a:t>Recommendation</a:t>
            </a:r>
          </a:p>
        </p:txBody>
      </p:sp>
      <p:sp>
        <p:nvSpPr>
          <p:cNvPr id="8" name="Rectangle 7"/>
          <p:cNvSpPr/>
          <p:nvPr/>
        </p:nvSpPr>
        <p:spPr>
          <a:xfrm>
            <a:off x="731520" y="1508760"/>
            <a:ext cx="73152" cy="100584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04672" y="1508760"/>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600200"/>
            <a:ext cx="365760" cy="274320"/>
          </a:xfrm>
          <a:prstGeom prst="rect">
            <a:avLst/>
          </a:prstGeom>
          <a:noFill/>
        </p:spPr>
        <p:txBody>
          <a:bodyPr wrap="square">
            <a:spAutoFit/>
          </a:bodyPr>
          <a:lstStyle/>
          <a:p>
            <a:pPr algn="l">
              <a:defRPr sz="1200" b="1">
                <a:solidFill>
                  <a:srgbClr val="1A1A2E"/>
                </a:solidFill>
                <a:latin typeface="Calibri"/>
              </a:defRPr>
            </a:pPr>
            <a:r>
              <a:t>#11</a:t>
            </a:r>
          </a:p>
        </p:txBody>
      </p:sp>
      <p:sp>
        <p:nvSpPr>
          <p:cNvPr id="11" name="TextBox 10"/>
          <p:cNvSpPr txBox="1"/>
          <p:nvPr/>
        </p:nvSpPr>
        <p:spPr>
          <a:xfrm>
            <a:off x="1371600" y="1600200"/>
            <a:ext cx="1828800" cy="822960"/>
          </a:xfrm>
          <a:prstGeom prst="rect">
            <a:avLst/>
          </a:prstGeom>
          <a:noFill/>
        </p:spPr>
        <p:txBody>
          <a:bodyPr wrap="square">
            <a:spAutoFit/>
          </a:bodyPr>
          <a:lstStyle/>
          <a:p>
            <a:pPr algn="l">
              <a:defRPr sz="1000" b="0">
                <a:solidFill>
                  <a:srgbClr val="374151"/>
                </a:solidFill>
                <a:latin typeface="Calibri"/>
              </a:defRPr>
            </a:pPr>
            <a:r>
              <a:t>Overview / Trade history / Alerts</a:t>
            </a:r>
          </a:p>
        </p:txBody>
      </p:sp>
      <p:sp>
        <p:nvSpPr>
          <p:cNvPr id="12" name="Rounded Rectangle 11"/>
          <p:cNvSpPr/>
          <p:nvPr/>
        </p:nvSpPr>
        <p:spPr>
          <a:xfrm>
            <a:off x="3383280" y="1645920"/>
            <a:ext cx="777240" cy="256032"/>
          </a:xfrm>
          <a:prstGeom prst="roundRect">
            <a:avLst>
              <a:gd name="adj" fmla="val 2000"/>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HIGH</a:t>
            </a:r>
          </a:p>
        </p:txBody>
      </p:sp>
      <p:sp>
        <p:nvSpPr>
          <p:cNvPr id="13" name="TextBox 12"/>
          <p:cNvSpPr txBox="1"/>
          <p:nvPr/>
        </p:nvSpPr>
        <p:spPr>
          <a:xfrm>
            <a:off x="4297680" y="1581912"/>
            <a:ext cx="3931920" cy="868680"/>
          </a:xfrm>
          <a:prstGeom prst="rect">
            <a:avLst/>
          </a:prstGeom>
          <a:noFill/>
        </p:spPr>
        <p:txBody>
          <a:bodyPr wrap="square">
            <a:spAutoFit/>
          </a:bodyPr>
          <a:lstStyle/>
          <a:p>
            <a:pPr algn="l">
              <a:defRPr sz="1100" b="0">
                <a:solidFill>
                  <a:srgbClr val="1A1A2E"/>
                </a:solidFill>
                <a:latin typeface="Calibri"/>
              </a:defRPr>
            </a:pPr>
            <a:r>
              <a:t>Currency context can shift silently. Overview toggles SGD/ounce vs USD/ounce, trade history mixes SGD, USD and EUR rows, and alerts mix SGD/USD. A user can read a price in one currency and transact in another without noticing the unit change.</a:t>
            </a:r>
          </a:p>
        </p:txBody>
      </p:sp>
      <p:sp>
        <p:nvSpPr>
          <p:cNvPr id="14" name="TextBox 13"/>
          <p:cNvSpPr txBox="1"/>
          <p:nvPr/>
        </p:nvSpPr>
        <p:spPr>
          <a:xfrm>
            <a:off x="8412480" y="1581912"/>
            <a:ext cx="3291840" cy="868680"/>
          </a:xfrm>
          <a:prstGeom prst="rect">
            <a:avLst/>
          </a:prstGeom>
          <a:noFill/>
        </p:spPr>
        <p:txBody>
          <a:bodyPr wrap="square">
            <a:spAutoFit/>
          </a:bodyPr>
          <a:lstStyle/>
          <a:p>
            <a:pPr algn="l">
              <a:defRPr sz="1000" b="0">
                <a:solidFill>
                  <a:srgbClr val="6B7280"/>
                </a:solidFill>
                <a:latin typeface="Calibri"/>
              </a:defRPr>
            </a:pPr>
            <a:r>
              <a:t>Make the active currency a persistent, prominent indicator across all screens; warn on currency switch; align overview, history and alert currencies or label each row's currency unambiguously.</a:t>
            </a:r>
          </a:p>
        </p:txBody>
      </p:sp>
      <p:sp>
        <p:nvSpPr>
          <p:cNvPr id="15" name="Rectangle 14"/>
          <p:cNvSpPr/>
          <p:nvPr/>
        </p:nvSpPr>
        <p:spPr>
          <a:xfrm>
            <a:off x="731520" y="2587752"/>
            <a:ext cx="73152" cy="100584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04672" y="2587752"/>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2679192"/>
            <a:ext cx="365760" cy="274320"/>
          </a:xfrm>
          <a:prstGeom prst="rect">
            <a:avLst/>
          </a:prstGeom>
          <a:noFill/>
        </p:spPr>
        <p:txBody>
          <a:bodyPr wrap="square">
            <a:spAutoFit/>
          </a:bodyPr>
          <a:lstStyle/>
          <a:p>
            <a:pPr algn="l">
              <a:defRPr sz="1200" b="1">
                <a:solidFill>
                  <a:srgbClr val="1A1A2E"/>
                </a:solidFill>
                <a:latin typeface="Calibri"/>
              </a:defRPr>
            </a:pPr>
            <a:r>
              <a:t>#12</a:t>
            </a:r>
          </a:p>
        </p:txBody>
      </p:sp>
      <p:sp>
        <p:nvSpPr>
          <p:cNvPr id="18" name="TextBox 17"/>
          <p:cNvSpPr txBox="1"/>
          <p:nvPr/>
        </p:nvSpPr>
        <p:spPr>
          <a:xfrm>
            <a:off x="1371600" y="2679192"/>
            <a:ext cx="1828800" cy="822960"/>
          </a:xfrm>
          <a:prstGeom prst="rect">
            <a:avLst/>
          </a:prstGeom>
          <a:noFill/>
        </p:spPr>
        <p:txBody>
          <a:bodyPr wrap="square">
            <a:spAutoFit/>
          </a:bodyPr>
          <a:lstStyle/>
          <a:p>
            <a:pPr algn="l">
              <a:defRPr sz="1000" b="0">
                <a:solidFill>
                  <a:srgbClr val="374151"/>
                </a:solidFill>
                <a:latin typeface="Calibri"/>
              </a:defRPr>
            </a:pPr>
            <a:r>
              <a:t>Review</a:t>
            </a:r>
          </a:p>
        </p:txBody>
      </p:sp>
      <p:sp>
        <p:nvSpPr>
          <p:cNvPr id="19" name="Rounded Rectangle 18"/>
          <p:cNvSpPr/>
          <p:nvPr/>
        </p:nvSpPr>
        <p:spPr>
          <a:xfrm>
            <a:off x="3383280" y="2724912"/>
            <a:ext cx="777240" cy="256032"/>
          </a:xfrm>
          <a:prstGeom prst="roundRect">
            <a:avLst>
              <a:gd name="adj" fmla="val 2000"/>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HIGH</a:t>
            </a:r>
          </a:p>
        </p:txBody>
      </p:sp>
      <p:sp>
        <p:nvSpPr>
          <p:cNvPr id="20" name="TextBox 19"/>
          <p:cNvSpPr txBox="1"/>
          <p:nvPr/>
        </p:nvSpPr>
        <p:spPr>
          <a:xfrm>
            <a:off x="4297680" y="2660904"/>
            <a:ext cx="3931920" cy="868680"/>
          </a:xfrm>
          <a:prstGeom prst="rect">
            <a:avLst/>
          </a:prstGeom>
          <a:noFill/>
        </p:spPr>
        <p:txBody>
          <a:bodyPr wrap="square">
            <a:spAutoFit/>
          </a:bodyPr>
          <a:lstStyle/>
          <a:p>
            <a:pPr algn="l">
              <a:defRPr sz="1100" b="0">
                <a:solidFill>
                  <a:srgbClr val="1A1A2E"/>
                </a:solidFill>
                <a:latin typeface="Calibri"/>
              </a:defRPr>
            </a:pPr>
            <a:r>
              <a:t>At the highest-anxiety moment — confirming a 30,642.50 SGD order — the only copy is a cold liability declaration: 'Declarations which are found to be untrue or inaccurate may result in the delay or rejection of your investment, without recourse to OCBC Bank.' There is no reassurance (e.g. 'funds are only debited on settlement', security signal, or 'you can review before it's final').</a:t>
            </a:r>
          </a:p>
        </p:txBody>
      </p:sp>
      <p:sp>
        <p:nvSpPr>
          <p:cNvPr id="21" name="TextBox 20"/>
          <p:cNvSpPr txBox="1"/>
          <p:nvPr/>
        </p:nvSpPr>
        <p:spPr>
          <a:xfrm>
            <a:off x="8412480" y="2660904"/>
            <a:ext cx="3291840" cy="868680"/>
          </a:xfrm>
          <a:prstGeom prst="rect">
            <a:avLst/>
          </a:prstGeom>
          <a:noFill/>
        </p:spPr>
        <p:txBody>
          <a:bodyPr wrap="square">
            <a:spAutoFit/>
          </a:bodyPr>
          <a:lstStyle/>
          <a:p>
            <a:pPr algn="l">
              <a:defRPr sz="1000" b="0">
                <a:solidFill>
                  <a:srgbClr val="6B7280"/>
                </a:solidFill>
                <a:latin typeface="Calibri"/>
              </a:defRPr>
            </a:pPr>
            <a:r>
              <a:t>Pair the legal declaration with plain-language reassurance about what happens next (debit/settlement timing, security), and keep the legal text secondary.</a:t>
            </a:r>
          </a:p>
        </p:txBody>
      </p:sp>
      <p:sp>
        <p:nvSpPr>
          <p:cNvPr id="22" name="Rectangle 21"/>
          <p:cNvSpPr/>
          <p:nvPr/>
        </p:nvSpPr>
        <p:spPr>
          <a:xfrm>
            <a:off x="731520" y="3666744"/>
            <a:ext cx="73152" cy="100584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3666744"/>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3758184"/>
            <a:ext cx="365760" cy="274320"/>
          </a:xfrm>
          <a:prstGeom prst="rect">
            <a:avLst/>
          </a:prstGeom>
          <a:noFill/>
        </p:spPr>
        <p:txBody>
          <a:bodyPr wrap="square">
            <a:spAutoFit/>
          </a:bodyPr>
          <a:lstStyle/>
          <a:p>
            <a:pPr algn="l">
              <a:defRPr sz="1200" b="1">
                <a:solidFill>
                  <a:srgbClr val="1A1A2E"/>
                </a:solidFill>
                <a:latin typeface="Calibri"/>
              </a:defRPr>
            </a:pPr>
            <a:r>
              <a:t>#13</a:t>
            </a:r>
          </a:p>
        </p:txBody>
      </p:sp>
      <p:sp>
        <p:nvSpPr>
          <p:cNvPr id="25" name="TextBox 24"/>
          <p:cNvSpPr txBox="1"/>
          <p:nvPr/>
        </p:nvSpPr>
        <p:spPr>
          <a:xfrm>
            <a:off x="1371600" y="3758184"/>
            <a:ext cx="1828800" cy="822960"/>
          </a:xfrm>
          <a:prstGeom prst="rect">
            <a:avLst/>
          </a:prstGeom>
          <a:noFill/>
        </p:spPr>
        <p:txBody>
          <a:bodyPr wrap="square">
            <a:spAutoFit/>
          </a:bodyPr>
          <a:lstStyle/>
          <a:p>
            <a:pPr algn="l">
              <a:defRPr sz="1000" b="0">
                <a:solidFill>
                  <a:srgbClr val="374151"/>
                </a:solidFill>
                <a:latin typeface="Calibri"/>
              </a:defRPr>
            </a:pPr>
            <a:r>
              <a:t>Manage price alerts</a:t>
            </a:r>
          </a:p>
        </p:txBody>
      </p:sp>
      <p:sp>
        <p:nvSpPr>
          <p:cNvPr id="26" name="Rounded Rectangle 25"/>
          <p:cNvSpPr/>
          <p:nvPr/>
        </p:nvSpPr>
        <p:spPr>
          <a:xfrm>
            <a:off x="3383280" y="3803904"/>
            <a:ext cx="777240" cy="256032"/>
          </a:xfrm>
          <a:prstGeom prst="roundRect">
            <a:avLst>
              <a:gd name="adj" fmla="val 2000"/>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HIGH</a:t>
            </a:r>
          </a:p>
        </p:txBody>
      </p:sp>
      <p:sp>
        <p:nvSpPr>
          <p:cNvPr id="27" name="TextBox 26"/>
          <p:cNvSpPr txBox="1"/>
          <p:nvPr/>
        </p:nvSpPr>
        <p:spPr>
          <a:xfrm>
            <a:off x="4297680" y="3739896"/>
            <a:ext cx="3931920" cy="868680"/>
          </a:xfrm>
          <a:prstGeom prst="rect">
            <a:avLst/>
          </a:prstGeom>
          <a:noFill/>
        </p:spPr>
        <p:txBody>
          <a:bodyPr wrap="square">
            <a:spAutoFit/>
          </a:bodyPr>
          <a:lstStyle/>
          <a:p>
            <a:pPr algn="l">
              <a:defRPr sz="1100" b="0">
                <a:solidFill>
                  <a:srgbClr val="1A1A2E"/>
                </a:solidFill>
                <a:latin typeface="Calibri"/>
              </a:defRPr>
            </a:pPr>
            <a:r>
              <a:t>The alert list filter counter and the table disagree: the 'All (5)' pill is shown while the table renders 7 rows with different target prices/dates across the two captured states — a correctness/trust bug.</a:t>
            </a:r>
          </a:p>
        </p:txBody>
      </p:sp>
      <p:sp>
        <p:nvSpPr>
          <p:cNvPr id="28" name="TextBox 27"/>
          <p:cNvSpPr txBox="1"/>
          <p:nvPr/>
        </p:nvSpPr>
        <p:spPr>
          <a:xfrm>
            <a:off x="8412480" y="3739896"/>
            <a:ext cx="3291840" cy="868680"/>
          </a:xfrm>
          <a:prstGeom prst="rect">
            <a:avLst/>
          </a:prstGeom>
          <a:noFill/>
        </p:spPr>
        <p:txBody>
          <a:bodyPr wrap="square">
            <a:spAutoFit/>
          </a:bodyPr>
          <a:lstStyle/>
          <a:p>
            <a:pPr algn="l">
              <a:defRPr sz="1000" b="0">
                <a:solidFill>
                  <a:srgbClr val="6B7280"/>
                </a:solidFill>
                <a:latin typeface="Calibri"/>
              </a:defRPr>
            </a:pPr>
            <a:r>
              <a:t>Reconcile the filter counts with the rendered rows; treat as a data-integrity defect, not cosmetic.</a:t>
            </a:r>
          </a:p>
        </p:txBody>
      </p:sp>
      <p:sp>
        <p:nvSpPr>
          <p:cNvPr id="29" name="Rectangle 28"/>
          <p:cNvSpPr/>
          <p:nvPr/>
        </p:nvSpPr>
        <p:spPr>
          <a:xfrm>
            <a:off x="731520" y="4745736"/>
            <a:ext cx="73152" cy="100584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04672" y="4745736"/>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837176"/>
            <a:ext cx="365760" cy="274320"/>
          </a:xfrm>
          <a:prstGeom prst="rect">
            <a:avLst/>
          </a:prstGeom>
          <a:noFill/>
        </p:spPr>
        <p:txBody>
          <a:bodyPr wrap="square">
            <a:spAutoFit/>
          </a:bodyPr>
          <a:lstStyle/>
          <a:p>
            <a:pPr algn="l">
              <a:defRPr sz="1200" b="1">
                <a:solidFill>
                  <a:srgbClr val="1A1A2E"/>
                </a:solidFill>
                <a:latin typeface="Calibri"/>
              </a:defRPr>
            </a:pPr>
            <a:r>
              <a:t>#14</a:t>
            </a:r>
          </a:p>
        </p:txBody>
      </p:sp>
      <p:sp>
        <p:nvSpPr>
          <p:cNvPr id="32" name="TextBox 31"/>
          <p:cNvSpPr txBox="1"/>
          <p:nvPr/>
        </p:nvSpPr>
        <p:spPr>
          <a:xfrm>
            <a:off x="1371600" y="4837176"/>
            <a:ext cx="1828800" cy="822960"/>
          </a:xfrm>
          <a:prstGeom prst="rect">
            <a:avLst/>
          </a:prstGeom>
          <a:noFill/>
        </p:spPr>
        <p:txBody>
          <a:bodyPr wrap="square">
            <a:spAutoFit/>
          </a:bodyPr>
          <a:lstStyle/>
          <a:p>
            <a:pPr algn="l">
              <a:defRPr sz="1000" b="0">
                <a:solidFill>
                  <a:srgbClr val="374151"/>
                </a:solidFill>
                <a:latin typeface="Calibri"/>
              </a:defRPr>
            </a:pPr>
            <a:r>
              <a:t>Buy/Sell input</a:t>
            </a:r>
          </a:p>
        </p:txBody>
      </p:sp>
      <p:sp>
        <p:nvSpPr>
          <p:cNvPr id="33" name="Rounded Rectangle 32"/>
          <p:cNvSpPr/>
          <p:nvPr/>
        </p:nvSpPr>
        <p:spPr>
          <a:xfrm>
            <a:off x="3383280" y="4882896"/>
            <a:ext cx="777240" cy="256032"/>
          </a:xfrm>
          <a:prstGeom prst="roundRect">
            <a:avLst>
              <a:gd name="adj" fmla="val 2000"/>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MEDIUM</a:t>
            </a:r>
          </a:p>
        </p:txBody>
      </p:sp>
      <p:sp>
        <p:nvSpPr>
          <p:cNvPr id="34" name="TextBox 33"/>
          <p:cNvSpPr txBox="1"/>
          <p:nvPr/>
        </p:nvSpPr>
        <p:spPr>
          <a:xfrm>
            <a:off x="4297680" y="4818888"/>
            <a:ext cx="3931920" cy="868680"/>
          </a:xfrm>
          <a:prstGeom prst="rect">
            <a:avLst/>
          </a:prstGeom>
          <a:noFill/>
        </p:spPr>
        <p:txBody>
          <a:bodyPr wrap="square">
            <a:spAutoFit/>
          </a:bodyPr>
          <a:lstStyle/>
          <a:p>
            <a:pPr algn="l">
              <a:defRPr sz="1100" b="0">
                <a:solidFill>
                  <a:srgbClr val="1A1A2E"/>
                </a:solidFill>
                <a:latin typeface="Calibri"/>
              </a:defRPr>
            </a:pPr>
            <a:r>
              <a:t>The primary CTA is weak and buried: 'Review buy order' sits bottom-right below a full-width divider, rendered in slate-grey, and when disabled is nearly invisible with no hint of what's missing to enable it. Meanwhile the visually richest element (the line chart) is decision-support, not the task, pulling the eye away from the form.</a:t>
            </a:r>
          </a:p>
        </p:txBody>
      </p:sp>
      <p:sp>
        <p:nvSpPr>
          <p:cNvPr id="35" name="TextBox 34"/>
          <p:cNvSpPr txBox="1"/>
          <p:nvPr/>
        </p:nvSpPr>
        <p:spPr>
          <a:xfrm>
            <a:off x="8412480" y="4818888"/>
            <a:ext cx="3291840" cy="868680"/>
          </a:xfrm>
          <a:prstGeom prst="rect">
            <a:avLst/>
          </a:prstGeom>
          <a:noFill/>
        </p:spPr>
        <p:txBody>
          <a:bodyPr wrap="square">
            <a:spAutoFit/>
          </a:bodyPr>
          <a:lstStyle/>
          <a:p>
            <a:pPr algn="l">
              <a:defRPr sz="1000" b="0">
                <a:solidFill>
                  <a:srgbClr val="6B7280"/>
                </a:solidFill>
                <a:latin typeface="Calibri"/>
              </a:defRPr>
            </a:pPr>
            <a:r>
              <a:t>Elevate the primary CTA (consistent treatment, stronger weight, clear enabled/disabled), and pair the disabled state with a reason ('Enter an amount to continue').</a:t>
            </a:r>
          </a:p>
        </p:txBody>
      </p:sp>
      <p:sp>
        <p:nvSpPr>
          <p:cNvPr id="36" name="Rectangle 35"/>
          <p:cNvSpPr/>
          <p:nvPr/>
        </p:nvSpPr>
        <p:spPr>
          <a:xfrm>
            <a:off x="731520" y="5824728"/>
            <a:ext cx="73152" cy="100584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804672" y="5824728"/>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5916168"/>
            <a:ext cx="365760" cy="274320"/>
          </a:xfrm>
          <a:prstGeom prst="rect">
            <a:avLst/>
          </a:prstGeom>
          <a:noFill/>
        </p:spPr>
        <p:txBody>
          <a:bodyPr wrap="square">
            <a:spAutoFit/>
          </a:bodyPr>
          <a:lstStyle/>
          <a:p>
            <a:pPr algn="l">
              <a:defRPr sz="1200" b="1">
                <a:solidFill>
                  <a:srgbClr val="1A1A2E"/>
                </a:solidFill>
                <a:latin typeface="Calibri"/>
              </a:defRPr>
            </a:pPr>
            <a:r>
              <a:t>#15</a:t>
            </a:r>
          </a:p>
        </p:txBody>
      </p:sp>
      <p:sp>
        <p:nvSpPr>
          <p:cNvPr id="39" name="TextBox 38"/>
          <p:cNvSpPr txBox="1"/>
          <p:nvPr/>
        </p:nvSpPr>
        <p:spPr>
          <a:xfrm>
            <a:off x="1371600" y="5916168"/>
            <a:ext cx="1828800" cy="822960"/>
          </a:xfrm>
          <a:prstGeom prst="rect">
            <a:avLst/>
          </a:prstGeom>
          <a:noFill/>
        </p:spPr>
        <p:txBody>
          <a:bodyPr wrap="square">
            <a:spAutoFit/>
          </a:bodyPr>
          <a:lstStyle/>
          <a:p>
            <a:pPr algn="l">
              <a:defRPr sz="1000" b="0">
                <a:solidFill>
                  <a:srgbClr val="374151"/>
                </a:solidFill>
                <a:latin typeface="Calibri"/>
              </a:defRPr>
            </a:pPr>
            <a:r>
              <a:t>Trade detail / Buy input</a:t>
            </a:r>
          </a:p>
        </p:txBody>
      </p:sp>
      <p:sp>
        <p:nvSpPr>
          <p:cNvPr id="40" name="Rounded Rectangle 39"/>
          <p:cNvSpPr/>
          <p:nvPr/>
        </p:nvSpPr>
        <p:spPr>
          <a:xfrm>
            <a:off x="3383280" y="5961888"/>
            <a:ext cx="777240" cy="256032"/>
          </a:xfrm>
          <a:prstGeom prst="roundRect">
            <a:avLst>
              <a:gd name="adj" fmla="val 2000"/>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MEDIUM</a:t>
            </a:r>
          </a:p>
        </p:txBody>
      </p:sp>
      <p:sp>
        <p:nvSpPr>
          <p:cNvPr id="41" name="TextBox 40"/>
          <p:cNvSpPr txBox="1"/>
          <p:nvPr/>
        </p:nvSpPr>
        <p:spPr>
          <a:xfrm>
            <a:off x="4297680" y="5897880"/>
            <a:ext cx="3931920" cy="868680"/>
          </a:xfrm>
          <a:prstGeom prst="rect">
            <a:avLst/>
          </a:prstGeom>
          <a:noFill/>
        </p:spPr>
        <p:txBody>
          <a:bodyPr wrap="square">
            <a:spAutoFit/>
          </a:bodyPr>
          <a:lstStyle/>
          <a:p>
            <a:pPr algn="l">
              <a:defRPr sz="1100" b="0">
                <a:solidFill>
                  <a:srgbClr val="1A1A2E"/>
                </a:solidFill>
                <a:latin typeface="Calibri"/>
              </a:defRPr>
            </a:pPr>
            <a:r>
              <a:t>Novice-hostile terms are used without inline explanation: ISO codes 'XAU/XAG' (never expanded on first use), 'ounce' (never stated as troy ounce), 'Indicative price', 'Credit account'/'Debit account' (a buy's 'Credit account - Gold (XAU)' reads as being given credit), 'Order status: Filled', and 'Market value (Indicative)'. The only glossary is the FAQ on the Overview tab — absent from the input, review, detail and sell screens where the jargon actually appears.</a:t>
            </a:r>
          </a:p>
        </p:txBody>
      </p:sp>
      <p:sp>
        <p:nvSpPr>
          <p:cNvPr id="42" name="TextBox 41"/>
          <p:cNvSpPr txBox="1"/>
          <p:nvPr/>
        </p:nvSpPr>
        <p:spPr>
          <a:xfrm>
            <a:off x="8412480" y="5897880"/>
            <a:ext cx="3291840" cy="868680"/>
          </a:xfrm>
          <a:prstGeom prst="rect">
            <a:avLst/>
          </a:prstGeom>
          <a:noFill/>
        </p:spPr>
        <p:txBody>
          <a:bodyPr wrap="square">
            <a:spAutoFit/>
          </a:bodyPr>
          <a:lstStyle/>
          <a:p>
            <a:pPr algn="l">
              <a:defRPr sz="1000" b="0">
                <a:solidFill>
                  <a:srgbClr val="6B7280"/>
                </a:solidFill>
                <a:latin typeface="Calibri"/>
              </a:defRPr>
            </a:pPr>
            <a:r>
              <a:t>Add inline tooltips/glosses on first use ('troy ounce', 'Filled = completed', define XAU/XAG, clarify Credit/Debit account), and carry FAQ definitions onto transactional screens via progressive disclosure so experts aren't slowed.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9144000" cy="548640"/>
          </a:xfrm>
          <a:prstGeom prst="rect">
            <a:avLst/>
          </a:prstGeom>
          <a:noFill/>
        </p:spPr>
        <p:txBody>
          <a:bodyPr wrap="square">
            <a:spAutoFit/>
          </a:bodyPr>
          <a:lstStyle/>
          <a:p>
            <a:pPr algn="l">
              <a:defRPr sz="2400" b="1">
                <a:solidFill>
                  <a:srgbClr val="1A1A2E"/>
                </a:solidFill>
                <a:latin typeface="Calibri"/>
              </a:defRPr>
            </a:pPr>
            <a:r>
              <a:t>Findings (4/6)</a:t>
            </a:r>
          </a:p>
        </p:txBody>
      </p:sp>
      <p:sp>
        <p:nvSpPr>
          <p:cNvPr id="3" name="TextBox 2"/>
          <p:cNvSpPr txBox="1"/>
          <p:nvPr/>
        </p:nvSpPr>
        <p:spPr>
          <a:xfrm>
            <a:off x="731520" y="1097280"/>
            <a:ext cx="457200" cy="365760"/>
          </a:xfrm>
          <a:prstGeom prst="rect">
            <a:avLst/>
          </a:prstGeom>
          <a:noFill/>
        </p:spPr>
        <p:txBody>
          <a:bodyPr wrap="square">
            <a:spAutoFit/>
          </a:bodyPr>
          <a:lstStyle/>
          <a:p>
            <a:pPr algn="l">
              <a:defRPr sz="900" b="1">
                <a:solidFill>
                  <a:srgbClr val="6B7280"/>
                </a:solidFill>
                <a:latin typeface="Calibri"/>
              </a:defRPr>
            </a:pPr>
            <a:r>
              <a:t>#</a:t>
            </a:r>
          </a:p>
        </p:txBody>
      </p:sp>
      <p:sp>
        <p:nvSpPr>
          <p:cNvPr id="4" name="TextBox 3"/>
          <p:cNvSpPr txBox="1"/>
          <p:nvPr/>
        </p:nvSpPr>
        <p:spPr>
          <a:xfrm>
            <a:off x="1188720" y="1097280"/>
            <a:ext cx="2011680" cy="365760"/>
          </a:xfrm>
          <a:prstGeom prst="rect">
            <a:avLst/>
          </a:prstGeom>
          <a:noFill/>
        </p:spPr>
        <p:txBody>
          <a:bodyPr wrap="square">
            <a:spAutoFit/>
          </a:bodyPr>
          <a:lstStyle/>
          <a:p>
            <a:pPr algn="l">
              <a:defRPr sz="900" b="1">
                <a:solidFill>
                  <a:srgbClr val="6B7280"/>
                </a:solidFill>
                <a:latin typeface="Calibri"/>
              </a:defRPr>
            </a:pPr>
            <a:r>
              <a:t>Screen</a:t>
            </a:r>
          </a:p>
        </p:txBody>
      </p:sp>
      <p:sp>
        <p:nvSpPr>
          <p:cNvPr id="5" name="TextBox 4"/>
          <p:cNvSpPr txBox="1"/>
          <p:nvPr/>
        </p:nvSpPr>
        <p:spPr>
          <a:xfrm>
            <a:off x="3200400" y="1097280"/>
            <a:ext cx="914400" cy="365760"/>
          </a:xfrm>
          <a:prstGeom prst="rect">
            <a:avLst/>
          </a:prstGeom>
          <a:noFill/>
        </p:spPr>
        <p:txBody>
          <a:bodyPr wrap="square">
            <a:spAutoFit/>
          </a:bodyPr>
          <a:lstStyle/>
          <a:p>
            <a:pPr algn="l">
              <a:defRPr sz="900" b="1">
                <a:solidFill>
                  <a:srgbClr val="6B7280"/>
                </a:solidFill>
                <a:latin typeface="Calibri"/>
              </a:defRPr>
            </a:pPr>
            <a:r>
              <a:t>Severity</a:t>
            </a:r>
          </a:p>
        </p:txBody>
      </p:sp>
      <p:sp>
        <p:nvSpPr>
          <p:cNvPr id="6" name="TextBox 5"/>
          <p:cNvSpPr txBox="1"/>
          <p:nvPr/>
        </p:nvSpPr>
        <p:spPr>
          <a:xfrm>
            <a:off x="4114800" y="1097280"/>
            <a:ext cx="4114800" cy="365760"/>
          </a:xfrm>
          <a:prstGeom prst="rect">
            <a:avLst/>
          </a:prstGeom>
          <a:noFill/>
        </p:spPr>
        <p:txBody>
          <a:bodyPr wrap="square">
            <a:spAutoFit/>
          </a:bodyPr>
          <a:lstStyle/>
          <a:p>
            <a:pPr algn="l">
              <a:defRPr sz="900" b="1">
                <a:solidFill>
                  <a:srgbClr val="6B7280"/>
                </a:solidFill>
                <a:latin typeface="Calibri"/>
              </a:defRPr>
            </a:pPr>
            <a:r>
              <a:t>Finding</a:t>
            </a:r>
          </a:p>
        </p:txBody>
      </p:sp>
      <p:sp>
        <p:nvSpPr>
          <p:cNvPr id="7" name="TextBox 6"/>
          <p:cNvSpPr txBox="1"/>
          <p:nvPr/>
        </p:nvSpPr>
        <p:spPr>
          <a:xfrm>
            <a:off x="8229600" y="1097280"/>
            <a:ext cx="3474720" cy="365760"/>
          </a:xfrm>
          <a:prstGeom prst="rect">
            <a:avLst/>
          </a:prstGeom>
          <a:noFill/>
        </p:spPr>
        <p:txBody>
          <a:bodyPr wrap="square">
            <a:spAutoFit/>
          </a:bodyPr>
          <a:lstStyle/>
          <a:p>
            <a:pPr algn="l">
              <a:defRPr sz="900" b="1">
                <a:solidFill>
                  <a:srgbClr val="6B7280"/>
                </a:solidFill>
                <a:latin typeface="Calibri"/>
              </a:defRPr>
            </a:pPr>
            <a:r>
              <a:t>Recommendation</a:t>
            </a:r>
          </a:p>
        </p:txBody>
      </p:sp>
      <p:sp>
        <p:nvSpPr>
          <p:cNvPr id="8" name="Rectangle 7"/>
          <p:cNvSpPr/>
          <p:nvPr/>
        </p:nvSpPr>
        <p:spPr>
          <a:xfrm>
            <a:off x="731520" y="1508760"/>
            <a:ext cx="73152" cy="100584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04672" y="1508760"/>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600200"/>
            <a:ext cx="365760" cy="274320"/>
          </a:xfrm>
          <a:prstGeom prst="rect">
            <a:avLst/>
          </a:prstGeom>
          <a:noFill/>
        </p:spPr>
        <p:txBody>
          <a:bodyPr wrap="square">
            <a:spAutoFit/>
          </a:bodyPr>
          <a:lstStyle/>
          <a:p>
            <a:pPr algn="l">
              <a:defRPr sz="1200" b="1">
                <a:solidFill>
                  <a:srgbClr val="1A1A2E"/>
                </a:solidFill>
                <a:latin typeface="Calibri"/>
              </a:defRPr>
            </a:pPr>
            <a:r>
              <a:t>#16</a:t>
            </a:r>
          </a:p>
        </p:txBody>
      </p:sp>
      <p:sp>
        <p:nvSpPr>
          <p:cNvPr id="11" name="TextBox 10"/>
          <p:cNvSpPr txBox="1"/>
          <p:nvPr/>
        </p:nvSpPr>
        <p:spPr>
          <a:xfrm>
            <a:off x="1371600" y="1600200"/>
            <a:ext cx="1828800" cy="822960"/>
          </a:xfrm>
          <a:prstGeom prst="rect">
            <a:avLst/>
          </a:prstGeom>
          <a:noFill/>
        </p:spPr>
        <p:txBody>
          <a:bodyPr wrap="square">
            <a:spAutoFit/>
          </a:bodyPr>
          <a:lstStyle/>
          <a:p>
            <a:pPr algn="l">
              <a:defRPr sz="1000" b="0">
                <a:solidFill>
                  <a:srgbClr val="374151"/>
                </a:solidFill>
                <a:latin typeface="Calibri"/>
              </a:defRPr>
            </a:pPr>
            <a:r>
              <a:t>Review / Overview</a:t>
            </a:r>
          </a:p>
        </p:txBody>
      </p:sp>
      <p:sp>
        <p:nvSpPr>
          <p:cNvPr id="12" name="Rounded Rectangle 11"/>
          <p:cNvSpPr/>
          <p:nvPr/>
        </p:nvSpPr>
        <p:spPr>
          <a:xfrm>
            <a:off x="3383280" y="1645920"/>
            <a:ext cx="777240" cy="256032"/>
          </a:xfrm>
          <a:prstGeom prst="roundRect">
            <a:avLst>
              <a:gd name="adj" fmla="val 2000"/>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MEDIUM</a:t>
            </a:r>
          </a:p>
        </p:txBody>
      </p:sp>
      <p:sp>
        <p:nvSpPr>
          <p:cNvPr id="13" name="TextBox 12"/>
          <p:cNvSpPr txBox="1"/>
          <p:nvPr/>
        </p:nvSpPr>
        <p:spPr>
          <a:xfrm>
            <a:off x="4297680" y="1581912"/>
            <a:ext cx="3931920" cy="868680"/>
          </a:xfrm>
          <a:prstGeom prst="rect">
            <a:avLst/>
          </a:prstGeom>
          <a:noFill/>
        </p:spPr>
        <p:txBody>
          <a:bodyPr wrap="square">
            <a:spAutoFit/>
          </a:bodyPr>
          <a:lstStyle/>
          <a:p>
            <a:pPr algn="l">
              <a:defRPr sz="1100" b="0">
                <a:solidFill>
                  <a:srgbClr val="1A1A2E"/>
                </a:solidFill>
                <a:latin typeface="Calibri"/>
              </a:defRPr>
            </a:pPr>
            <a:r>
              <a:t>The header/eyebrow system is not standardised: the kicker appears inline top-left on some screens, in the left gutter with a red rule on others, and is absent (only an H2) on the overview. There is no consistent page-title anchor and no step indicator ('Step 2 of 3') in a multi-step money flow.</a:t>
            </a:r>
          </a:p>
        </p:txBody>
      </p:sp>
      <p:sp>
        <p:nvSpPr>
          <p:cNvPr id="14" name="TextBox 13"/>
          <p:cNvSpPr txBox="1"/>
          <p:nvPr/>
        </p:nvSpPr>
        <p:spPr>
          <a:xfrm>
            <a:off x="8412480" y="1581912"/>
            <a:ext cx="3291840" cy="868680"/>
          </a:xfrm>
          <a:prstGeom prst="rect">
            <a:avLst/>
          </a:prstGeom>
          <a:noFill/>
        </p:spPr>
        <p:txBody>
          <a:bodyPr wrap="square">
            <a:spAutoFit/>
          </a:bodyPr>
          <a:lstStyle/>
          <a:p>
            <a:pPr algn="l">
              <a:defRPr sz="1000" b="0">
                <a:solidFill>
                  <a:srgbClr val="6B7280"/>
                </a:solidFill>
                <a:latin typeface="Calibri"/>
              </a:defRPr>
            </a:pPr>
            <a:r>
              <a:t>Standardise one eyebrow+H1 pattern across all screens and add a step indicator to the buy/sell flow.</a:t>
            </a:r>
          </a:p>
        </p:txBody>
      </p:sp>
      <p:sp>
        <p:nvSpPr>
          <p:cNvPr id="15" name="Rectangle 14"/>
          <p:cNvSpPr/>
          <p:nvPr/>
        </p:nvSpPr>
        <p:spPr>
          <a:xfrm>
            <a:off x="731520" y="2587752"/>
            <a:ext cx="73152" cy="100584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04672" y="2587752"/>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2679192"/>
            <a:ext cx="365760" cy="274320"/>
          </a:xfrm>
          <a:prstGeom prst="rect">
            <a:avLst/>
          </a:prstGeom>
          <a:noFill/>
        </p:spPr>
        <p:txBody>
          <a:bodyPr wrap="square">
            <a:spAutoFit/>
          </a:bodyPr>
          <a:lstStyle/>
          <a:p>
            <a:pPr algn="l">
              <a:defRPr sz="1200" b="1">
                <a:solidFill>
                  <a:srgbClr val="1A1A2E"/>
                </a:solidFill>
                <a:latin typeface="Calibri"/>
              </a:defRPr>
            </a:pPr>
            <a:r>
              <a:t>#17</a:t>
            </a:r>
          </a:p>
        </p:txBody>
      </p:sp>
      <p:sp>
        <p:nvSpPr>
          <p:cNvPr id="18" name="TextBox 17"/>
          <p:cNvSpPr txBox="1"/>
          <p:nvPr/>
        </p:nvSpPr>
        <p:spPr>
          <a:xfrm>
            <a:off x="1371600" y="2679192"/>
            <a:ext cx="1828800" cy="822960"/>
          </a:xfrm>
          <a:prstGeom prst="rect">
            <a:avLst/>
          </a:prstGeom>
          <a:noFill/>
        </p:spPr>
        <p:txBody>
          <a:bodyPr wrap="square">
            <a:spAutoFit/>
          </a:bodyPr>
          <a:lstStyle/>
          <a:p>
            <a:pPr algn="l">
              <a:defRPr sz="1000" b="0">
                <a:solidFill>
                  <a:srgbClr val="374151"/>
                </a:solidFill>
                <a:latin typeface="Calibri"/>
              </a:defRPr>
            </a:pPr>
            <a:r>
              <a:t>Buy/Sell input</a:t>
            </a:r>
          </a:p>
        </p:txBody>
      </p:sp>
      <p:sp>
        <p:nvSpPr>
          <p:cNvPr id="19" name="Rounded Rectangle 18"/>
          <p:cNvSpPr/>
          <p:nvPr/>
        </p:nvSpPr>
        <p:spPr>
          <a:xfrm>
            <a:off x="3383280" y="2724912"/>
            <a:ext cx="777240" cy="256032"/>
          </a:xfrm>
          <a:prstGeom prst="roundRect">
            <a:avLst>
              <a:gd name="adj" fmla="val 2000"/>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MEDIUM</a:t>
            </a:r>
          </a:p>
        </p:txBody>
      </p:sp>
      <p:sp>
        <p:nvSpPr>
          <p:cNvPr id="20" name="TextBox 19"/>
          <p:cNvSpPr txBox="1"/>
          <p:nvPr/>
        </p:nvSpPr>
        <p:spPr>
          <a:xfrm>
            <a:off x="4297680" y="2660904"/>
            <a:ext cx="3931920" cy="868680"/>
          </a:xfrm>
          <a:prstGeom prst="rect">
            <a:avLst/>
          </a:prstGeom>
          <a:noFill/>
        </p:spPr>
        <p:txBody>
          <a:bodyPr wrap="square">
            <a:spAutoFit/>
          </a:bodyPr>
          <a:lstStyle/>
          <a:p>
            <a:pPr algn="l">
              <a:defRPr sz="1100" b="0">
                <a:solidFill>
                  <a:srgbClr val="1A1A2E"/>
                </a:solidFill>
                <a:latin typeface="Calibri"/>
              </a:defRPr>
            </a:pPr>
            <a:r>
              <a:t>The amount-to-quantity swap control (the vertical double-arrow between 'Investment amount' and 'Quantity to buy') has no label, button chrome, hover hint, or tooltip. It's unclear it's an interactive control that switches which field drives the calculation.</a:t>
            </a:r>
          </a:p>
        </p:txBody>
      </p:sp>
      <p:sp>
        <p:nvSpPr>
          <p:cNvPr id="21" name="TextBox 20"/>
          <p:cNvSpPr txBox="1"/>
          <p:nvPr/>
        </p:nvSpPr>
        <p:spPr>
          <a:xfrm>
            <a:off x="8412480" y="2660904"/>
            <a:ext cx="3291840" cy="868680"/>
          </a:xfrm>
          <a:prstGeom prst="rect">
            <a:avLst/>
          </a:prstGeom>
          <a:noFill/>
        </p:spPr>
        <p:txBody>
          <a:bodyPr wrap="square">
            <a:spAutoFit/>
          </a:bodyPr>
          <a:lstStyle/>
          <a:p>
            <a:pPr algn="l">
              <a:defRPr sz="1000" b="0">
                <a:solidFill>
                  <a:srgbClr val="6B7280"/>
                </a:solidFill>
                <a:latin typeface="Calibri"/>
              </a:defRPr>
            </a:pPr>
            <a:r>
              <a:t>Give the swap control a button container and tooltip ('Switch between amount and quantity') and a clear active/driver indication.</a:t>
            </a:r>
          </a:p>
        </p:txBody>
      </p:sp>
      <p:sp>
        <p:nvSpPr>
          <p:cNvPr id="22" name="Rectangle 21"/>
          <p:cNvSpPr/>
          <p:nvPr/>
        </p:nvSpPr>
        <p:spPr>
          <a:xfrm>
            <a:off x="731520" y="3666744"/>
            <a:ext cx="73152" cy="100584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3666744"/>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3758184"/>
            <a:ext cx="365760" cy="274320"/>
          </a:xfrm>
          <a:prstGeom prst="rect">
            <a:avLst/>
          </a:prstGeom>
          <a:noFill/>
        </p:spPr>
        <p:txBody>
          <a:bodyPr wrap="square">
            <a:spAutoFit/>
          </a:bodyPr>
          <a:lstStyle/>
          <a:p>
            <a:pPr algn="l">
              <a:defRPr sz="1200" b="1">
                <a:solidFill>
                  <a:srgbClr val="1A1A2E"/>
                </a:solidFill>
                <a:latin typeface="Calibri"/>
              </a:defRPr>
            </a:pPr>
            <a:r>
              <a:t>#18</a:t>
            </a:r>
          </a:p>
        </p:txBody>
      </p:sp>
      <p:sp>
        <p:nvSpPr>
          <p:cNvPr id="25" name="TextBox 24"/>
          <p:cNvSpPr txBox="1"/>
          <p:nvPr/>
        </p:nvSpPr>
        <p:spPr>
          <a:xfrm>
            <a:off x="1371600" y="3758184"/>
            <a:ext cx="1828800" cy="822960"/>
          </a:xfrm>
          <a:prstGeom prst="rect">
            <a:avLst/>
          </a:prstGeom>
          <a:noFill/>
        </p:spPr>
        <p:txBody>
          <a:bodyPr wrap="square">
            <a:spAutoFit/>
          </a:bodyPr>
          <a:lstStyle/>
          <a:p>
            <a:pPr algn="l">
              <a:defRPr sz="1000" b="0">
                <a:solidFill>
                  <a:srgbClr val="374151"/>
                </a:solidFill>
                <a:latin typeface="Calibri"/>
              </a:defRPr>
            </a:pPr>
            <a:r>
              <a:t>Buy input / T&amp;C modal</a:t>
            </a:r>
          </a:p>
        </p:txBody>
      </p:sp>
      <p:sp>
        <p:nvSpPr>
          <p:cNvPr id="26" name="Rounded Rectangle 25"/>
          <p:cNvSpPr/>
          <p:nvPr/>
        </p:nvSpPr>
        <p:spPr>
          <a:xfrm>
            <a:off x="3383280" y="3803904"/>
            <a:ext cx="777240" cy="256032"/>
          </a:xfrm>
          <a:prstGeom prst="roundRect">
            <a:avLst>
              <a:gd name="adj" fmla="val 2000"/>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MEDIUM</a:t>
            </a:r>
          </a:p>
        </p:txBody>
      </p:sp>
      <p:sp>
        <p:nvSpPr>
          <p:cNvPr id="27" name="TextBox 26"/>
          <p:cNvSpPr txBox="1"/>
          <p:nvPr/>
        </p:nvSpPr>
        <p:spPr>
          <a:xfrm>
            <a:off x="4297680" y="3739896"/>
            <a:ext cx="3931920" cy="868680"/>
          </a:xfrm>
          <a:prstGeom prst="rect">
            <a:avLst/>
          </a:prstGeom>
          <a:noFill/>
        </p:spPr>
        <p:txBody>
          <a:bodyPr wrap="square">
            <a:spAutoFit/>
          </a:bodyPr>
          <a:lstStyle/>
          <a:p>
            <a:pPr algn="l">
              <a:defRPr sz="1100" b="0">
                <a:solidFill>
                  <a:srgbClr val="1A1A2E"/>
                </a:solidFill>
                <a:latin typeface="Calibri"/>
              </a:defRPr>
            </a:pPr>
            <a:r>
              <a:t>Account creation is messaged twice and inconsistently: the buy input says 'New Gold (XAU) Account will be created with your order', while a separate first-time modal says 'a Gold (XAU) account will be created for you' — leaving it unclear when the account is actually opened.</a:t>
            </a:r>
          </a:p>
        </p:txBody>
      </p:sp>
      <p:sp>
        <p:nvSpPr>
          <p:cNvPr id="28" name="TextBox 27"/>
          <p:cNvSpPr txBox="1"/>
          <p:nvPr/>
        </p:nvSpPr>
        <p:spPr>
          <a:xfrm>
            <a:off x="8412480" y="3739896"/>
            <a:ext cx="3291840" cy="868680"/>
          </a:xfrm>
          <a:prstGeom prst="rect">
            <a:avLst/>
          </a:prstGeom>
          <a:noFill/>
        </p:spPr>
        <p:txBody>
          <a:bodyPr wrap="square">
            <a:spAutoFit/>
          </a:bodyPr>
          <a:lstStyle/>
          <a:p>
            <a:pPr algn="l">
              <a:defRPr sz="1000" b="0">
                <a:solidFill>
                  <a:srgbClr val="6B7280"/>
                </a:solidFill>
                <a:latin typeface="Calibri"/>
              </a:defRPr>
            </a:pPr>
            <a:r>
              <a:t>Use one clear, consistent account-creation message at a single, well-defined point in the flow.</a:t>
            </a:r>
          </a:p>
        </p:txBody>
      </p:sp>
      <p:sp>
        <p:nvSpPr>
          <p:cNvPr id="29" name="Rectangle 28"/>
          <p:cNvSpPr/>
          <p:nvPr/>
        </p:nvSpPr>
        <p:spPr>
          <a:xfrm>
            <a:off x="731520" y="4745736"/>
            <a:ext cx="73152" cy="100584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04672" y="4745736"/>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837176"/>
            <a:ext cx="365760" cy="274320"/>
          </a:xfrm>
          <a:prstGeom prst="rect">
            <a:avLst/>
          </a:prstGeom>
          <a:noFill/>
        </p:spPr>
        <p:txBody>
          <a:bodyPr wrap="square">
            <a:spAutoFit/>
          </a:bodyPr>
          <a:lstStyle/>
          <a:p>
            <a:pPr algn="l">
              <a:defRPr sz="1200" b="1">
                <a:solidFill>
                  <a:srgbClr val="1A1A2E"/>
                </a:solidFill>
                <a:latin typeface="Calibri"/>
              </a:defRPr>
            </a:pPr>
            <a:r>
              <a:t>#19</a:t>
            </a:r>
          </a:p>
        </p:txBody>
      </p:sp>
      <p:sp>
        <p:nvSpPr>
          <p:cNvPr id="32" name="TextBox 31"/>
          <p:cNvSpPr txBox="1"/>
          <p:nvPr/>
        </p:nvSpPr>
        <p:spPr>
          <a:xfrm>
            <a:off x="1371600" y="4837176"/>
            <a:ext cx="1828800" cy="822960"/>
          </a:xfrm>
          <a:prstGeom prst="rect">
            <a:avLst/>
          </a:prstGeom>
          <a:noFill/>
        </p:spPr>
        <p:txBody>
          <a:bodyPr wrap="square">
            <a:spAutoFit/>
          </a:bodyPr>
          <a:lstStyle/>
          <a:p>
            <a:pPr algn="l">
              <a:defRPr sz="1000" b="0">
                <a:solidFill>
                  <a:srgbClr val="374151"/>
                </a:solidFill>
                <a:latin typeface="Calibri"/>
              </a:defRPr>
            </a:pPr>
            <a:r>
              <a:t>Error specs</a:t>
            </a:r>
          </a:p>
        </p:txBody>
      </p:sp>
      <p:sp>
        <p:nvSpPr>
          <p:cNvPr id="33" name="Rounded Rectangle 32"/>
          <p:cNvSpPr/>
          <p:nvPr/>
        </p:nvSpPr>
        <p:spPr>
          <a:xfrm>
            <a:off x="3383280" y="4882896"/>
            <a:ext cx="777240" cy="256032"/>
          </a:xfrm>
          <a:prstGeom prst="roundRect">
            <a:avLst>
              <a:gd name="adj" fmla="val 2000"/>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MEDIUM</a:t>
            </a:r>
          </a:p>
        </p:txBody>
      </p:sp>
      <p:sp>
        <p:nvSpPr>
          <p:cNvPr id="34" name="TextBox 33"/>
          <p:cNvSpPr txBox="1"/>
          <p:nvPr/>
        </p:nvSpPr>
        <p:spPr>
          <a:xfrm>
            <a:off x="4297680" y="4818888"/>
            <a:ext cx="3931920" cy="868680"/>
          </a:xfrm>
          <a:prstGeom prst="rect">
            <a:avLst/>
          </a:prstGeom>
          <a:noFill/>
        </p:spPr>
        <p:txBody>
          <a:bodyPr wrap="square">
            <a:spAutoFit/>
          </a:bodyPr>
          <a:lstStyle/>
          <a:p>
            <a:pPr algn="l">
              <a:defRPr sz="1100" b="0">
                <a:solidFill>
                  <a:srgbClr val="1A1A2E"/>
                </a:solidFill>
                <a:latin typeface="Calibri"/>
              </a:defRPr>
            </a:pPr>
            <a:r>
              <a:t>Blocking errors (e.g. 'Insufficient balance') and soft warnings share an identical amber/triangle treatment, with no visual distinction between a hard block and a caution. Three banner variants also coexist (tight field banner, large padded container banner, and a page-level banner with a close ×).</a:t>
            </a:r>
          </a:p>
        </p:txBody>
      </p:sp>
      <p:sp>
        <p:nvSpPr>
          <p:cNvPr id="35" name="TextBox 34"/>
          <p:cNvSpPr txBox="1"/>
          <p:nvPr/>
        </p:nvSpPr>
        <p:spPr>
          <a:xfrm>
            <a:off x="8412480" y="4818888"/>
            <a:ext cx="3291840" cy="868680"/>
          </a:xfrm>
          <a:prstGeom prst="rect">
            <a:avLst/>
          </a:prstGeom>
          <a:noFill/>
        </p:spPr>
        <p:txBody>
          <a:bodyPr wrap="square">
            <a:spAutoFit/>
          </a:bodyPr>
          <a:lstStyle/>
          <a:p>
            <a:pPr algn="l">
              <a:defRPr sz="1000" b="0">
                <a:solidFill>
                  <a:srgbClr val="6B7280"/>
                </a:solidFill>
                <a:latin typeface="Calibri"/>
              </a:defRPr>
            </a:pPr>
            <a:r>
              <a:t>Introduce distinct error vs warning styles (colour/icon) and consolidate to one banner component with size variants.</a:t>
            </a:r>
          </a:p>
        </p:txBody>
      </p:sp>
      <p:sp>
        <p:nvSpPr>
          <p:cNvPr id="36" name="Rectangle 35"/>
          <p:cNvSpPr/>
          <p:nvPr/>
        </p:nvSpPr>
        <p:spPr>
          <a:xfrm>
            <a:off x="731520" y="5824728"/>
            <a:ext cx="73152" cy="100584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804672" y="5824728"/>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5916168"/>
            <a:ext cx="365760" cy="274320"/>
          </a:xfrm>
          <a:prstGeom prst="rect">
            <a:avLst/>
          </a:prstGeom>
          <a:noFill/>
        </p:spPr>
        <p:txBody>
          <a:bodyPr wrap="square">
            <a:spAutoFit/>
          </a:bodyPr>
          <a:lstStyle/>
          <a:p>
            <a:pPr algn="l">
              <a:defRPr sz="1200" b="1">
                <a:solidFill>
                  <a:srgbClr val="1A1A2E"/>
                </a:solidFill>
                <a:latin typeface="Calibri"/>
              </a:defRPr>
            </a:pPr>
            <a:r>
              <a:t>#20</a:t>
            </a:r>
          </a:p>
        </p:txBody>
      </p:sp>
      <p:sp>
        <p:nvSpPr>
          <p:cNvPr id="39" name="TextBox 38"/>
          <p:cNvSpPr txBox="1"/>
          <p:nvPr/>
        </p:nvSpPr>
        <p:spPr>
          <a:xfrm>
            <a:off x="1371600" y="5916168"/>
            <a:ext cx="1828800" cy="822960"/>
          </a:xfrm>
          <a:prstGeom prst="rect">
            <a:avLst/>
          </a:prstGeom>
          <a:noFill/>
        </p:spPr>
        <p:txBody>
          <a:bodyPr wrap="square">
            <a:spAutoFit/>
          </a:bodyPr>
          <a:lstStyle/>
          <a:p>
            <a:pPr algn="l">
              <a:defRPr sz="1000" b="0">
                <a:solidFill>
                  <a:srgbClr val="374151"/>
                </a:solidFill>
                <a:latin typeface="Calibri"/>
              </a:defRPr>
            </a:pPr>
            <a:r>
              <a:t>Buy input</a:t>
            </a:r>
          </a:p>
        </p:txBody>
      </p:sp>
      <p:sp>
        <p:nvSpPr>
          <p:cNvPr id="40" name="Rounded Rectangle 39"/>
          <p:cNvSpPr/>
          <p:nvPr/>
        </p:nvSpPr>
        <p:spPr>
          <a:xfrm>
            <a:off x="3383280" y="5961888"/>
            <a:ext cx="777240" cy="256032"/>
          </a:xfrm>
          <a:prstGeom prst="roundRect">
            <a:avLst>
              <a:gd name="adj" fmla="val 2000"/>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MEDIUM</a:t>
            </a:r>
          </a:p>
        </p:txBody>
      </p:sp>
      <p:sp>
        <p:nvSpPr>
          <p:cNvPr id="41" name="TextBox 40"/>
          <p:cNvSpPr txBox="1"/>
          <p:nvPr/>
        </p:nvSpPr>
        <p:spPr>
          <a:xfrm>
            <a:off x="4297680" y="5897880"/>
            <a:ext cx="3931920" cy="868680"/>
          </a:xfrm>
          <a:prstGeom prst="rect">
            <a:avLst/>
          </a:prstGeom>
          <a:noFill/>
        </p:spPr>
        <p:txBody>
          <a:bodyPr wrap="square">
            <a:spAutoFit/>
          </a:bodyPr>
          <a:lstStyle/>
          <a:p>
            <a:pPr algn="l">
              <a:defRPr sz="1100" b="0">
                <a:solidFill>
                  <a:srgbClr val="1A1A2E"/>
                </a:solidFill>
                <a:latin typeface="Calibri"/>
              </a:defRPr>
            </a:pPr>
            <a:r>
              <a:t>Field labels and helper text ('Investment amount', 'Quantity to buy', 'Minimum 24.59 SGD') are light grey inset on light-grey fills, with borderline contrast likely failing WCAG AA at ~11px. The empty-state '0.00' is rendered in the same dark weight a real value would use, so a placeholder is indistinguishable from an actual entered zero.</a:t>
            </a:r>
          </a:p>
        </p:txBody>
      </p:sp>
      <p:sp>
        <p:nvSpPr>
          <p:cNvPr id="42" name="TextBox 41"/>
          <p:cNvSpPr txBox="1"/>
          <p:nvPr/>
        </p:nvSpPr>
        <p:spPr>
          <a:xfrm>
            <a:off x="8412480" y="5897880"/>
            <a:ext cx="3291840" cy="868680"/>
          </a:xfrm>
          <a:prstGeom prst="rect">
            <a:avLst/>
          </a:prstGeom>
          <a:noFill/>
        </p:spPr>
        <p:txBody>
          <a:bodyPr wrap="square">
            <a:spAutoFit/>
          </a:bodyPr>
          <a:lstStyle/>
          <a:p>
            <a:pPr algn="l">
              <a:defRPr sz="1000" b="0">
                <a:solidFill>
                  <a:srgbClr val="6B7280"/>
                </a:solidFill>
                <a:latin typeface="Calibri"/>
              </a:defRPr>
            </a:pPr>
            <a:r>
              <a:t>Raise label/helper contrast to AA and visually distinguish placeholder from entered values (lighter placeholder, clear focus/filled states).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9144000" cy="548640"/>
          </a:xfrm>
          <a:prstGeom prst="rect">
            <a:avLst/>
          </a:prstGeom>
          <a:noFill/>
        </p:spPr>
        <p:txBody>
          <a:bodyPr wrap="square">
            <a:spAutoFit/>
          </a:bodyPr>
          <a:lstStyle/>
          <a:p>
            <a:pPr algn="l">
              <a:defRPr sz="2400" b="1">
                <a:solidFill>
                  <a:srgbClr val="1A1A2E"/>
                </a:solidFill>
                <a:latin typeface="Calibri"/>
              </a:defRPr>
            </a:pPr>
            <a:r>
              <a:t>Findings (5/6)</a:t>
            </a:r>
          </a:p>
        </p:txBody>
      </p:sp>
      <p:sp>
        <p:nvSpPr>
          <p:cNvPr id="3" name="TextBox 2"/>
          <p:cNvSpPr txBox="1"/>
          <p:nvPr/>
        </p:nvSpPr>
        <p:spPr>
          <a:xfrm>
            <a:off x="731520" y="1097280"/>
            <a:ext cx="457200" cy="365760"/>
          </a:xfrm>
          <a:prstGeom prst="rect">
            <a:avLst/>
          </a:prstGeom>
          <a:noFill/>
        </p:spPr>
        <p:txBody>
          <a:bodyPr wrap="square">
            <a:spAutoFit/>
          </a:bodyPr>
          <a:lstStyle/>
          <a:p>
            <a:pPr algn="l">
              <a:defRPr sz="900" b="1">
                <a:solidFill>
                  <a:srgbClr val="6B7280"/>
                </a:solidFill>
                <a:latin typeface="Calibri"/>
              </a:defRPr>
            </a:pPr>
            <a:r>
              <a:t>#</a:t>
            </a:r>
          </a:p>
        </p:txBody>
      </p:sp>
      <p:sp>
        <p:nvSpPr>
          <p:cNvPr id="4" name="TextBox 3"/>
          <p:cNvSpPr txBox="1"/>
          <p:nvPr/>
        </p:nvSpPr>
        <p:spPr>
          <a:xfrm>
            <a:off x="1188720" y="1097280"/>
            <a:ext cx="2011680" cy="365760"/>
          </a:xfrm>
          <a:prstGeom prst="rect">
            <a:avLst/>
          </a:prstGeom>
          <a:noFill/>
        </p:spPr>
        <p:txBody>
          <a:bodyPr wrap="square">
            <a:spAutoFit/>
          </a:bodyPr>
          <a:lstStyle/>
          <a:p>
            <a:pPr algn="l">
              <a:defRPr sz="900" b="1">
                <a:solidFill>
                  <a:srgbClr val="6B7280"/>
                </a:solidFill>
                <a:latin typeface="Calibri"/>
              </a:defRPr>
            </a:pPr>
            <a:r>
              <a:t>Screen</a:t>
            </a:r>
          </a:p>
        </p:txBody>
      </p:sp>
      <p:sp>
        <p:nvSpPr>
          <p:cNvPr id="5" name="TextBox 4"/>
          <p:cNvSpPr txBox="1"/>
          <p:nvPr/>
        </p:nvSpPr>
        <p:spPr>
          <a:xfrm>
            <a:off x="3200400" y="1097280"/>
            <a:ext cx="914400" cy="365760"/>
          </a:xfrm>
          <a:prstGeom prst="rect">
            <a:avLst/>
          </a:prstGeom>
          <a:noFill/>
        </p:spPr>
        <p:txBody>
          <a:bodyPr wrap="square">
            <a:spAutoFit/>
          </a:bodyPr>
          <a:lstStyle/>
          <a:p>
            <a:pPr algn="l">
              <a:defRPr sz="900" b="1">
                <a:solidFill>
                  <a:srgbClr val="6B7280"/>
                </a:solidFill>
                <a:latin typeface="Calibri"/>
              </a:defRPr>
            </a:pPr>
            <a:r>
              <a:t>Severity</a:t>
            </a:r>
          </a:p>
        </p:txBody>
      </p:sp>
      <p:sp>
        <p:nvSpPr>
          <p:cNvPr id="6" name="TextBox 5"/>
          <p:cNvSpPr txBox="1"/>
          <p:nvPr/>
        </p:nvSpPr>
        <p:spPr>
          <a:xfrm>
            <a:off x="4114800" y="1097280"/>
            <a:ext cx="4114800" cy="365760"/>
          </a:xfrm>
          <a:prstGeom prst="rect">
            <a:avLst/>
          </a:prstGeom>
          <a:noFill/>
        </p:spPr>
        <p:txBody>
          <a:bodyPr wrap="square">
            <a:spAutoFit/>
          </a:bodyPr>
          <a:lstStyle/>
          <a:p>
            <a:pPr algn="l">
              <a:defRPr sz="900" b="1">
                <a:solidFill>
                  <a:srgbClr val="6B7280"/>
                </a:solidFill>
                <a:latin typeface="Calibri"/>
              </a:defRPr>
            </a:pPr>
            <a:r>
              <a:t>Finding</a:t>
            </a:r>
          </a:p>
        </p:txBody>
      </p:sp>
      <p:sp>
        <p:nvSpPr>
          <p:cNvPr id="7" name="TextBox 6"/>
          <p:cNvSpPr txBox="1"/>
          <p:nvPr/>
        </p:nvSpPr>
        <p:spPr>
          <a:xfrm>
            <a:off x="8229600" y="1097280"/>
            <a:ext cx="3474720" cy="365760"/>
          </a:xfrm>
          <a:prstGeom prst="rect">
            <a:avLst/>
          </a:prstGeom>
          <a:noFill/>
        </p:spPr>
        <p:txBody>
          <a:bodyPr wrap="square">
            <a:spAutoFit/>
          </a:bodyPr>
          <a:lstStyle/>
          <a:p>
            <a:pPr algn="l">
              <a:defRPr sz="900" b="1">
                <a:solidFill>
                  <a:srgbClr val="6B7280"/>
                </a:solidFill>
                <a:latin typeface="Calibri"/>
              </a:defRPr>
            </a:pPr>
            <a:r>
              <a:t>Recommendation</a:t>
            </a:r>
          </a:p>
        </p:txBody>
      </p:sp>
      <p:sp>
        <p:nvSpPr>
          <p:cNvPr id="8" name="Rectangle 7"/>
          <p:cNvSpPr/>
          <p:nvPr/>
        </p:nvSpPr>
        <p:spPr>
          <a:xfrm>
            <a:off x="731520" y="1508760"/>
            <a:ext cx="73152" cy="100584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04672" y="1508760"/>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600200"/>
            <a:ext cx="365760" cy="274320"/>
          </a:xfrm>
          <a:prstGeom prst="rect">
            <a:avLst/>
          </a:prstGeom>
          <a:noFill/>
        </p:spPr>
        <p:txBody>
          <a:bodyPr wrap="square">
            <a:spAutoFit/>
          </a:bodyPr>
          <a:lstStyle/>
          <a:p>
            <a:pPr algn="l">
              <a:defRPr sz="1200" b="1">
                <a:solidFill>
                  <a:srgbClr val="1A1A2E"/>
                </a:solidFill>
                <a:latin typeface="Calibri"/>
              </a:defRPr>
            </a:pPr>
            <a:r>
              <a:t>#21</a:t>
            </a:r>
          </a:p>
        </p:txBody>
      </p:sp>
      <p:sp>
        <p:nvSpPr>
          <p:cNvPr id="11" name="TextBox 10"/>
          <p:cNvSpPr txBox="1"/>
          <p:nvPr/>
        </p:nvSpPr>
        <p:spPr>
          <a:xfrm>
            <a:off x="1371600" y="1600200"/>
            <a:ext cx="1828800" cy="822960"/>
          </a:xfrm>
          <a:prstGeom prst="rect">
            <a:avLst/>
          </a:prstGeom>
          <a:noFill/>
        </p:spPr>
        <p:txBody>
          <a:bodyPr wrap="square">
            <a:spAutoFit/>
          </a:bodyPr>
          <a:lstStyle/>
          <a:p>
            <a:pPr algn="l">
              <a:defRPr sz="1000" b="0">
                <a:solidFill>
                  <a:srgbClr val="374151"/>
                </a:solidFill>
                <a:latin typeface="Calibri"/>
              </a:defRPr>
            </a:pPr>
            <a:r>
              <a:t>Trade detail / Confirmation</a:t>
            </a:r>
          </a:p>
        </p:txBody>
      </p:sp>
      <p:sp>
        <p:nvSpPr>
          <p:cNvPr id="12" name="Rounded Rectangle 11"/>
          <p:cNvSpPr/>
          <p:nvPr/>
        </p:nvSpPr>
        <p:spPr>
          <a:xfrm>
            <a:off x="3383280" y="1645920"/>
            <a:ext cx="777240" cy="256032"/>
          </a:xfrm>
          <a:prstGeom prst="roundRect">
            <a:avLst>
              <a:gd name="adj" fmla="val 2000"/>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MEDIUM</a:t>
            </a:r>
          </a:p>
        </p:txBody>
      </p:sp>
      <p:sp>
        <p:nvSpPr>
          <p:cNvPr id="13" name="TextBox 12"/>
          <p:cNvSpPr txBox="1"/>
          <p:nvPr/>
        </p:nvSpPr>
        <p:spPr>
          <a:xfrm>
            <a:off x="4297680" y="1581912"/>
            <a:ext cx="3931920" cy="868680"/>
          </a:xfrm>
          <a:prstGeom prst="rect">
            <a:avLst/>
          </a:prstGeom>
          <a:noFill/>
        </p:spPr>
        <p:txBody>
          <a:bodyPr wrap="square">
            <a:spAutoFit/>
          </a:bodyPr>
          <a:lstStyle/>
          <a:p>
            <a:pPr algn="l">
              <a:defRPr sz="1100" b="0">
                <a:solidFill>
                  <a:srgbClr val="1A1A2E"/>
                </a:solidFill>
                <a:latin typeface="Calibri"/>
              </a:defRPr>
            </a:pPr>
            <a:r>
              <a:t>The trade-detail screen is a dead end (only 'Back'), with no 'Sell this holding', 'Download receipt', or 'Set an alert' — the obvious next actions. The success screen offers only 'Back to overview' and 'View order' with no 'Place another trade', despite this being a repeat-action product.</a:t>
            </a:r>
          </a:p>
        </p:txBody>
      </p:sp>
      <p:sp>
        <p:nvSpPr>
          <p:cNvPr id="14" name="TextBox 13"/>
          <p:cNvSpPr txBox="1"/>
          <p:nvPr/>
        </p:nvSpPr>
        <p:spPr>
          <a:xfrm>
            <a:off x="8412480" y="1581912"/>
            <a:ext cx="3291840" cy="868680"/>
          </a:xfrm>
          <a:prstGeom prst="rect">
            <a:avLst/>
          </a:prstGeom>
          <a:noFill/>
        </p:spPr>
        <p:txBody>
          <a:bodyPr wrap="square">
            <a:spAutoFit/>
          </a:bodyPr>
          <a:lstStyle/>
          <a:p>
            <a:pPr algn="l">
              <a:defRPr sz="1000" b="0">
                <a:solidFill>
                  <a:srgbClr val="6B7280"/>
                </a:solidFill>
                <a:latin typeface="Calibri"/>
              </a:defRPr>
            </a:pPr>
            <a:r>
              <a:t>Add contextual next-actions on trade detail (sell, download, set alert) and a 'Place another trade' shortcut on success.</a:t>
            </a:r>
          </a:p>
        </p:txBody>
      </p:sp>
      <p:sp>
        <p:nvSpPr>
          <p:cNvPr id="15" name="Rectangle 14"/>
          <p:cNvSpPr/>
          <p:nvPr/>
        </p:nvSpPr>
        <p:spPr>
          <a:xfrm>
            <a:off x="731520" y="2587752"/>
            <a:ext cx="73152" cy="100584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04672" y="2587752"/>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2679192"/>
            <a:ext cx="365760" cy="274320"/>
          </a:xfrm>
          <a:prstGeom prst="rect">
            <a:avLst/>
          </a:prstGeom>
          <a:noFill/>
        </p:spPr>
        <p:txBody>
          <a:bodyPr wrap="square">
            <a:spAutoFit/>
          </a:bodyPr>
          <a:lstStyle/>
          <a:p>
            <a:pPr algn="l">
              <a:defRPr sz="1200" b="1">
                <a:solidFill>
                  <a:srgbClr val="1A1A2E"/>
                </a:solidFill>
                <a:latin typeface="Calibri"/>
              </a:defRPr>
            </a:pPr>
            <a:r>
              <a:t>#22</a:t>
            </a:r>
          </a:p>
        </p:txBody>
      </p:sp>
      <p:sp>
        <p:nvSpPr>
          <p:cNvPr id="18" name="TextBox 17"/>
          <p:cNvSpPr txBox="1"/>
          <p:nvPr/>
        </p:nvSpPr>
        <p:spPr>
          <a:xfrm>
            <a:off x="1371600" y="2679192"/>
            <a:ext cx="1828800" cy="822960"/>
          </a:xfrm>
          <a:prstGeom prst="rect">
            <a:avLst/>
          </a:prstGeom>
          <a:noFill/>
        </p:spPr>
        <p:txBody>
          <a:bodyPr wrap="square">
            <a:spAutoFit/>
          </a:bodyPr>
          <a:lstStyle/>
          <a:p>
            <a:pPr algn="l">
              <a:defRPr sz="1000" b="0">
                <a:solidFill>
                  <a:srgbClr val="374151"/>
                </a:solidFill>
                <a:latin typeface="Calibri"/>
              </a:defRPr>
            </a:pPr>
            <a:r>
              <a:t>Trade history / multiple</a:t>
            </a:r>
          </a:p>
        </p:txBody>
      </p:sp>
      <p:sp>
        <p:nvSpPr>
          <p:cNvPr id="19" name="Rounded Rectangle 18"/>
          <p:cNvSpPr/>
          <p:nvPr/>
        </p:nvSpPr>
        <p:spPr>
          <a:xfrm>
            <a:off x="3383280" y="2724912"/>
            <a:ext cx="777240" cy="256032"/>
          </a:xfrm>
          <a:prstGeom prst="roundRect">
            <a:avLst>
              <a:gd name="adj" fmla="val 2000"/>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MEDIUM</a:t>
            </a:r>
          </a:p>
        </p:txBody>
      </p:sp>
      <p:sp>
        <p:nvSpPr>
          <p:cNvPr id="20" name="TextBox 19"/>
          <p:cNvSpPr txBox="1"/>
          <p:nvPr/>
        </p:nvSpPr>
        <p:spPr>
          <a:xfrm>
            <a:off x="4297680" y="2660904"/>
            <a:ext cx="3931920" cy="868680"/>
          </a:xfrm>
          <a:prstGeom prst="rect">
            <a:avLst/>
          </a:prstGeom>
          <a:noFill/>
        </p:spPr>
        <p:txBody>
          <a:bodyPr wrap="square">
            <a:spAutoFit/>
          </a:bodyPr>
          <a:lstStyle/>
          <a:p>
            <a:pPr algn="l">
              <a:defRPr sz="1100" b="0">
                <a:solidFill>
                  <a:srgbClr val="1A1A2E"/>
                </a:solidFill>
                <a:latin typeface="Calibri"/>
              </a:defRPr>
            </a:pPr>
            <a:r>
              <a:t>Number, unit and account formatting drift across screens: 'ounce' (singular) vs 'ounces'; account numbers as '410-212232-201 - XAU' vs 'XAU-410-212232-201' vs '647561400225-SGD' (no hyphens); unit phrasing 'SGD/ounce' vs 'SGD / ounce'; and the card label 'Holdings details' vs 'Holding details'.</a:t>
            </a:r>
          </a:p>
        </p:txBody>
      </p:sp>
      <p:sp>
        <p:nvSpPr>
          <p:cNvPr id="21" name="TextBox 20"/>
          <p:cNvSpPr txBox="1"/>
          <p:nvPr/>
        </p:nvSpPr>
        <p:spPr>
          <a:xfrm>
            <a:off x="8412480" y="2660904"/>
            <a:ext cx="3291840" cy="868680"/>
          </a:xfrm>
          <a:prstGeom prst="rect">
            <a:avLst/>
          </a:prstGeom>
          <a:noFill/>
        </p:spPr>
        <p:txBody>
          <a:bodyPr wrap="square">
            <a:spAutoFit/>
          </a:bodyPr>
          <a:lstStyle/>
          <a:p>
            <a:pPr algn="l">
              <a:defRPr sz="1000" b="0">
                <a:solidFill>
                  <a:srgbClr val="6B7280"/>
                </a:solidFill>
                <a:latin typeface="Calibri"/>
              </a:defRPr>
            </a:pPr>
            <a:r>
              <a:t>Define and enforce one formatting standard for currency units, account numbers, pluralisation, and shared labels.</a:t>
            </a:r>
          </a:p>
        </p:txBody>
      </p:sp>
      <p:sp>
        <p:nvSpPr>
          <p:cNvPr id="22" name="Rectangle 21"/>
          <p:cNvSpPr/>
          <p:nvPr/>
        </p:nvSpPr>
        <p:spPr>
          <a:xfrm>
            <a:off x="731520" y="3666744"/>
            <a:ext cx="73152" cy="100584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3666744"/>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3758184"/>
            <a:ext cx="365760" cy="274320"/>
          </a:xfrm>
          <a:prstGeom prst="rect">
            <a:avLst/>
          </a:prstGeom>
          <a:noFill/>
        </p:spPr>
        <p:txBody>
          <a:bodyPr wrap="square">
            <a:spAutoFit/>
          </a:bodyPr>
          <a:lstStyle/>
          <a:p>
            <a:pPr algn="l">
              <a:defRPr sz="1200" b="1">
                <a:solidFill>
                  <a:srgbClr val="1A1A2E"/>
                </a:solidFill>
                <a:latin typeface="Calibri"/>
              </a:defRPr>
            </a:pPr>
            <a:r>
              <a:t>#23</a:t>
            </a:r>
          </a:p>
        </p:txBody>
      </p:sp>
      <p:sp>
        <p:nvSpPr>
          <p:cNvPr id="25" name="TextBox 24"/>
          <p:cNvSpPr txBox="1"/>
          <p:nvPr/>
        </p:nvSpPr>
        <p:spPr>
          <a:xfrm>
            <a:off x="1371600" y="3758184"/>
            <a:ext cx="1828800" cy="822960"/>
          </a:xfrm>
          <a:prstGeom prst="rect">
            <a:avLst/>
          </a:prstGeom>
          <a:noFill/>
        </p:spPr>
        <p:txBody>
          <a:bodyPr wrap="square">
            <a:spAutoFit/>
          </a:bodyPr>
          <a:lstStyle/>
          <a:p>
            <a:pPr algn="l">
              <a:defRPr sz="1000" b="0">
                <a:solidFill>
                  <a:srgbClr val="374151"/>
                </a:solidFill>
                <a:latin typeface="Calibri"/>
              </a:defRPr>
            </a:pPr>
            <a:r>
              <a:t>Review</a:t>
            </a:r>
          </a:p>
        </p:txBody>
      </p:sp>
      <p:sp>
        <p:nvSpPr>
          <p:cNvPr id="26" name="Rounded Rectangle 25"/>
          <p:cNvSpPr/>
          <p:nvPr/>
        </p:nvSpPr>
        <p:spPr>
          <a:xfrm>
            <a:off x="3383280" y="3803904"/>
            <a:ext cx="777240" cy="256032"/>
          </a:xfrm>
          <a:prstGeom prst="roundRect">
            <a:avLst>
              <a:gd name="adj" fmla="val 2000"/>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MEDIUM</a:t>
            </a:r>
          </a:p>
        </p:txBody>
      </p:sp>
      <p:sp>
        <p:nvSpPr>
          <p:cNvPr id="27" name="TextBox 26"/>
          <p:cNvSpPr txBox="1"/>
          <p:nvPr/>
        </p:nvSpPr>
        <p:spPr>
          <a:xfrm>
            <a:off x="4297680" y="3739896"/>
            <a:ext cx="3931920" cy="868680"/>
          </a:xfrm>
          <a:prstGeom prst="rect">
            <a:avLst/>
          </a:prstGeom>
          <a:noFill/>
        </p:spPr>
        <p:txBody>
          <a:bodyPr wrap="square">
            <a:spAutoFit/>
          </a:bodyPr>
          <a:lstStyle/>
          <a:p>
            <a:pPr algn="l">
              <a:defRPr sz="1100" b="0">
                <a:solidFill>
                  <a:srgbClr val="1A1A2E"/>
                </a:solidFill>
                <a:latin typeface="Calibri"/>
              </a:defRPr>
            </a:pPr>
            <a:r>
              <a:t>The 'Back' button on Review is unlabeled as to consequence — it is unclear whether it discards the order or returns to edit inputs. In a money-moving flow, an ambiguous back action is a trust gap.</a:t>
            </a:r>
          </a:p>
        </p:txBody>
      </p:sp>
      <p:sp>
        <p:nvSpPr>
          <p:cNvPr id="28" name="TextBox 27"/>
          <p:cNvSpPr txBox="1"/>
          <p:nvPr/>
        </p:nvSpPr>
        <p:spPr>
          <a:xfrm>
            <a:off x="8412480" y="3739896"/>
            <a:ext cx="3291840" cy="868680"/>
          </a:xfrm>
          <a:prstGeom prst="rect">
            <a:avLst/>
          </a:prstGeom>
          <a:noFill/>
        </p:spPr>
        <p:txBody>
          <a:bodyPr wrap="square">
            <a:spAutoFit/>
          </a:bodyPr>
          <a:lstStyle/>
          <a:p>
            <a:pPr algn="l">
              <a:defRPr sz="1000" b="0">
                <a:solidFill>
                  <a:srgbClr val="6B7280"/>
                </a:solidFill>
                <a:latin typeface="Calibri"/>
              </a:defRPr>
            </a:pPr>
            <a:r>
              <a:t>Label the intent ('Edit order' vs 'Cancel') and confirm before any destructive discard.</a:t>
            </a:r>
          </a:p>
        </p:txBody>
      </p:sp>
      <p:sp>
        <p:nvSpPr>
          <p:cNvPr id="29" name="Rectangle 28"/>
          <p:cNvSpPr/>
          <p:nvPr/>
        </p:nvSpPr>
        <p:spPr>
          <a:xfrm>
            <a:off x="731520" y="4745736"/>
            <a:ext cx="73152" cy="1005840"/>
          </a:xfrm>
          <a:prstGeom prst="rect">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04672" y="4745736"/>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837176"/>
            <a:ext cx="365760" cy="274320"/>
          </a:xfrm>
          <a:prstGeom prst="rect">
            <a:avLst/>
          </a:prstGeom>
          <a:noFill/>
        </p:spPr>
        <p:txBody>
          <a:bodyPr wrap="square">
            <a:spAutoFit/>
          </a:bodyPr>
          <a:lstStyle/>
          <a:p>
            <a:pPr algn="l">
              <a:defRPr sz="1200" b="1">
                <a:solidFill>
                  <a:srgbClr val="1A1A2E"/>
                </a:solidFill>
                <a:latin typeface="Calibri"/>
              </a:defRPr>
            </a:pPr>
            <a:r>
              <a:t>#24</a:t>
            </a:r>
          </a:p>
        </p:txBody>
      </p:sp>
      <p:sp>
        <p:nvSpPr>
          <p:cNvPr id="32" name="TextBox 31"/>
          <p:cNvSpPr txBox="1"/>
          <p:nvPr/>
        </p:nvSpPr>
        <p:spPr>
          <a:xfrm>
            <a:off x="1371600" y="4837176"/>
            <a:ext cx="1828800" cy="822960"/>
          </a:xfrm>
          <a:prstGeom prst="rect">
            <a:avLst/>
          </a:prstGeom>
          <a:noFill/>
        </p:spPr>
        <p:txBody>
          <a:bodyPr wrap="square">
            <a:spAutoFit/>
          </a:bodyPr>
          <a:lstStyle/>
          <a:p>
            <a:pPr algn="l">
              <a:defRPr sz="1000" b="0">
                <a:solidFill>
                  <a:srgbClr val="374151"/>
                </a:solidFill>
                <a:latin typeface="Calibri"/>
              </a:defRPr>
            </a:pPr>
            <a:r>
              <a:t>Confirmation / Trade detail</a:t>
            </a:r>
          </a:p>
        </p:txBody>
      </p:sp>
      <p:sp>
        <p:nvSpPr>
          <p:cNvPr id="33" name="Rounded Rectangle 32"/>
          <p:cNvSpPr/>
          <p:nvPr/>
        </p:nvSpPr>
        <p:spPr>
          <a:xfrm>
            <a:off x="3383280" y="4882896"/>
            <a:ext cx="777240" cy="256032"/>
          </a:xfrm>
          <a:prstGeom prst="roundRect">
            <a:avLst>
              <a:gd name="adj" fmla="val 2000"/>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MEDIUM</a:t>
            </a:r>
          </a:p>
        </p:txBody>
      </p:sp>
      <p:sp>
        <p:nvSpPr>
          <p:cNvPr id="34" name="TextBox 33"/>
          <p:cNvSpPr txBox="1"/>
          <p:nvPr/>
        </p:nvSpPr>
        <p:spPr>
          <a:xfrm>
            <a:off x="4297680" y="4818888"/>
            <a:ext cx="3931920" cy="868680"/>
          </a:xfrm>
          <a:prstGeom prst="rect">
            <a:avLst/>
          </a:prstGeom>
          <a:noFill/>
        </p:spPr>
        <p:txBody>
          <a:bodyPr wrap="square">
            <a:spAutoFit/>
          </a:bodyPr>
          <a:lstStyle/>
          <a:p>
            <a:pPr algn="l">
              <a:defRPr sz="1100" b="0">
                <a:solidFill>
                  <a:srgbClr val="1A1A2E"/>
                </a:solidFill>
                <a:latin typeface="Calibri"/>
              </a:defRPr>
            </a:pPr>
            <a:r>
              <a:t>The primary-button system is not systematised: slate-grey is the de-facto primary while OCBC red is never used for a primary action; the same 'Back' action appears as a blue text-link on the success screen but an outlined button on trade-detail and review. Two near-identical confirmation screens also use different backgrounds (grey page + white card vs white page, no card).</a:t>
            </a:r>
          </a:p>
        </p:txBody>
      </p:sp>
      <p:sp>
        <p:nvSpPr>
          <p:cNvPr id="35" name="TextBox 34"/>
          <p:cNvSpPr txBox="1"/>
          <p:nvPr/>
        </p:nvSpPr>
        <p:spPr>
          <a:xfrm>
            <a:off x="8412480" y="4818888"/>
            <a:ext cx="3291840" cy="868680"/>
          </a:xfrm>
          <a:prstGeom prst="rect">
            <a:avLst/>
          </a:prstGeom>
          <a:noFill/>
        </p:spPr>
        <p:txBody>
          <a:bodyPr wrap="square">
            <a:spAutoFit/>
          </a:bodyPr>
          <a:lstStyle/>
          <a:p>
            <a:pPr algn="l">
              <a:defRPr sz="1000" b="0">
                <a:solidFill>
                  <a:srgbClr val="6B7280"/>
                </a:solidFill>
                <a:latin typeface="Calibri"/>
              </a:defRPr>
            </a:pPr>
            <a:r>
              <a:t>Define one primary, one secondary, and one tertiary button treatment and apply consistently; unify the two confirmation layouts.</a:t>
            </a:r>
          </a:p>
        </p:txBody>
      </p:sp>
      <p:sp>
        <p:nvSpPr>
          <p:cNvPr id="36" name="Rectangle 35"/>
          <p:cNvSpPr/>
          <p:nvPr/>
        </p:nvSpPr>
        <p:spPr>
          <a:xfrm>
            <a:off x="731520" y="5824728"/>
            <a:ext cx="73152" cy="100584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804672" y="5824728"/>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5916168"/>
            <a:ext cx="365760" cy="274320"/>
          </a:xfrm>
          <a:prstGeom prst="rect">
            <a:avLst/>
          </a:prstGeom>
          <a:noFill/>
        </p:spPr>
        <p:txBody>
          <a:bodyPr wrap="square">
            <a:spAutoFit/>
          </a:bodyPr>
          <a:lstStyle/>
          <a:p>
            <a:pPr algn="l">
              <a:defRPr sz="1200" b="1">
                <a:solidFill>
                  <a:srgbClr val="1A1A2E"/>
                </a:solidFill>
                <a:latin typeface="Calibri"/>
              </a:defRPr>
            </a:pPr>
            <a:r>
              <a:t>#25</a:t>
            </a:r>
          </a:p>
        </p:txBody>
      </p:sp>
      <p:sp>
        <p:nvSpPr>
          <p:cNvPr id="39" name="TextBox 38"/>
          <p:cNvSpPr txBox="1"/>
          <p:nvPr/>
        </p:nvSpPr>
        <p:spPr>
          <a:xfrm>
            <a:off x="1371600" y="5916168"/>
            <a:ext cx="1828800" cy="822960"/>
          </a:xfrm>
          <a:prstGeom prst="rect">
            <a:avLst/>
          </a:prstGeom>
          <a:noFill/>
        </p:spPr>
        <p:txBody>
          <a:bodyPr wrap="square">
            <a:spAutoFit/>
          </a:bodyPr>
          <a:lstStyle/>
          <a:p>
            <a:pPr algn="l">
              <a:defRPr sz="1000" b="0">
                <a:solidFill>
                  <a:srgbClr val="374151"/>
                </a:solidFill>
                <a:latin typeface="Calibri"/>
              </a:defRPr>
            </a:pPr>
            <a:r>
              <a:t>Dashboard / global</a:t>
            </a:r>
          </a:p>
        </p:txBody>
      </p:sp>
      <p:sp>
        <p:nvSpPr>
          <p:cNvPr id="40" name="Rounded Rectangle 39"/>
          <p:cNvSpPr/>
          <p:nvPr/>
        </p:nvSpPr>
        <p:spPr>
          <a:xfrm>
            <a:off x="3383280" y="5961888"/>
            <a:ext cx="777240" cy="256032"/>
          </a:xfrm>
          <a:prstGeom prst="roundRect">
            <a:avLst>
              <a:gd name="adj" fmla="val 2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LOW</a:t>
            </a:r>
          </a:p>
        </p:txBody>
      </p:sp>
      <p:sp>
        <p:nvSpPr>
          <p:cNvPr id="41" name="TextBox 40"/>
          <p:cNvSpPr txBox="1"/>
          <p:nvPr/>
        </p:nvSpPr>
        <p:spPr>
          <a:xfrm>
            <a:off x="4297680" y="5897880"/>
            <a:ext cx="3931920" cy="868680"/>
          </a:xfrm>
          <a:prstGeom prst="rect">
            <a:avLst/>
          </a:prstGeom>
          <a:noFill/>
        </p:spPr>
        <p:txBody>
          <a:bodyPr wrap="square">
            <a:spAutoFit/>
          </a:bodyPr>
          <a:lstStyle/>
          <a:p>
            <a:pPr algn="l">
              <a:defRPr sz="1100" b="0">
                <a:solidFill>
                  <a:srgbClr val="1A1A2E"/>
                </a:solidFill>
                <a:latin typeface="Calibri"/>
              </a:defRPr>
            </a:pPr>
            <a:r>
              <a:t>Global chrome drifts across captures: the top nav reads 'FX and Investment' on most screens but 'FX and treasury' on a dashboard variant, and some screens show a Search pill and help '?' icon that others lack. Design-spec frames (error banners, alert input) are also mixed into the product set on peach/grey artboards rather than shown integrated.</a:t>
            </a:r>
          </a:p>
        </p:txBody>
      </p:sp>
      <p:sp>
        <p:nvSpPr>
          <p:cNvPr id="42" name="TextBox 41"/>
          <p:cNvSpPr txBox="1"/>
          <p:nvPr/>
        </p:nvSpPr>
        <p:spPr>
          <a:xfrm>
            <a:off x="8412480" y="5897880"/>
            <a:ext cx="3291840" cy="868680"/>
          </a:xfrm>
          <a:prstGeom prst="rect">
            <a:avLst/>
          </a:prstGeom>
          <a:noFill/>
        </p:spPr>
        <p:txBody>
          <a:bodyPr wrap="square">
            <a:spAutoFit/>
          </a:bodyPr>
          <a:lstStyle/>
          <a:p>
            <a:pPr algn="l">
              <a:defRPr sz="1000" b="0">
                <a:solidFill>
                  <a:srgbClr val="6B7280"/>
                </a:solidFill>
                <a:latin typeface="Calibri"/>
              </a:defRPr>
            </a:pPr>
            <a:r>
              <a:t>Reconcile to one nav taxonomy and one header chrome; keep spec frames out of the production flow or render error states in-context.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9144000" cy="548640"/>
          </a:xfrm>
          <a:prstGeom prst="rect">
            <a:avLst/>
          </a:prstGeom>
          <a:noFill/>
        </p:spPr>
        <p:txBody>
          <a:bodyPr wrap="square">
            <a:spAutoFit/>
          </a:bodyPr>
          <a:lstStyle/>
          <a:p>
            <a:pPr algn="l">
              <a:defRPr sz="2400" b="1">
                <a:solidFill>
                  <a:srgbClr val="1A1A2E"/>
                </a:solidFill>
                <a:latin typeface="Calibri"/>
              </a:defRPr>
            </a:pPr>
            <a:r>
              <a:t>Findings (6/6)</a:t>
            </a:r>
          </a:p>
        </p:txBody>
      </p:sp>
      <p:sp>
        <p:nvSpPr>
          <p:cNvPr id="3" name="TextBox 2"/>
          <p:cNvSpPr txBox="1"/>
          <p:nvPr/>
        </p:nvSpPr>
        <p:spPr>
          <a:xfrm>
            <a:off x="731520" y="1097280"/>
            <a:ext cx="457200" cy="365760"/>
          </a:xfrm>
          <a:prstGeom prst="rect">
            <a:avLst/>
          </a:prstGeom>
          <a:noFill/>
        </p:spPr>
        <p:txBody>
          <a:bodyPr wrap="square">
            <a:spAutoFit/>
          </a:bodyPr>
          <a:lstStyle/>
          <a:p>
            <a:pPr algn="l">
              <a:defRPr sz="900" b="1">
                <a:solidFill>
                  <a:srgbClr val="6B7280"/>
                </a:solidFill>
                <a:latin typeface="Calibri"/>
              </a:defRPr>
            </a:pPr>
            <a:r>
              <a:t>#</a:t>
            </a:r>
          </a:p>
        </p:txBody>
      </p:sp>
      <p:sp>
        <p:nvSpPr>
          <p:cNvPr id="4" name="TextBox 3"/>
          <p:cNvSpPr txBox="1"/>
          <p:nvPr/>
        </p:nvSpPr>
        <p:spPr>
          <a:xfrm>
            <a:off x="1188720" y="1097280"/>
            <a:ext cx="2011680" cy="365760"/>
          </a:xfrm>
          <a:prstGeom prst="rect">
            <a:avLst/>
          </a:prstGeom>
          <a:noFill/>
        </p:spPr>
        <p:txBody>
          <a:bodyPr wrap="square">
            <a:spAutoFit/>
          </a:bodyPr>
          <a:lstStyle/>
          <a:p>
            <a:pPr algn="l">
              <a:defRPr sz="900" b="1">
                <a:solidFill>
                  <a:srgbClr val="6B7280"/>
                </a:solidFill>
                <a:latin typeface="Calibri"/>
              </a:defRPr>
            </a:pPr>
            <a:r>
              <a:t>Screen</a:t>
            </a:r>
          </a:p>
        </p:txBody>
      </p:sp>
      <p:sp>
        <p:nvSpPr>
          <p:cNvPr id="5" name="TextBox 4"/>
          <p:cNvSpPr txBox="1"/>
          <p:nvPr/>
        </p:nvSpPr>
        <p:spPr>
          <a:xfrm>
            <a:off x="3200400" y="1097280"/>
            <a:ext cx="914400" cy="365760"/>
          </a:xfrm>
          <a:prstGeom prst="rect">
            <a:avLst/>
          </a:prstGeom>
          <a:noFill/>
        </p:spPr>
        <p:txBody>
          <a:bodyPr wrap="square">
            <a:spAutoFit/>
          </a:bodyPr>
          <a:lstStyle/>
          <a:p>
            <a:pPr algn="l">
              <a:defRPr sz="900" b="1">
                <a:solidFill>
                  <a:srgbClr val="6B7280"/>
                </a:solidFill>
                <a:latin typeface="Calibri"/>
              </a:defRPr>
            </a:pPr>
            <a:r>
              <a:t>Severity</a:t>
            </a:r>
          </a:p>
        </p:txBody>
      </p:sp>
      <p:sp>
        <p:nvSpPr>
          <p:cNvPr id="6" name="TextBox 5"/>
          <p:cNvSpPr txBox="1"/>
          <p:nvPr/>
        </p:nvSpPr>
        <p:spPr>
          <a:xfrm>
            <a:off x="4114800" y="1097280"/>
            <a:ext cx="4114800" cy="365760"/>
          </a:xfrm>
          <a:prstGeom prst="rect">
            <a:avLst/>
          </a:prstGeom>
          <a:noFill/>
        </p:spPr>
        <p:txBody>
          <a:bodyPr wrap="square">
            <a:spAutoFit/>
          </a:bodyPr>
          <a:lstStyle/>
          <a:p>
            <a:pPr algn="l">
              <a:defRPr sz="900" b="1">
                <a:solidFill>
                  <a:srgbClr val="6B7280"/>
                </a:solidFill>
                <a:latin typeface="Calibri"/>
              </a:defRPr>
            </a:pPr>
            <a:r>
              <a:t>Finding</a:t>
            </a:r>
          </a:p>
        </p:txBody>
      </p:sp>
      <p:sp>
        <p:nvSpPr>
          <p:cNvPr id="7" name="TextBox 6"/>
          <p:cNvSpPr txBox="1"/>
          <p:nvPr/>
        </p:nvSpPr>
        <p:spPr>
          <a:xfrm>
            <a:off x="8229600" y="1097280"/>
            <a:ext cx="3474720" cy="365760"/>
          </a:xfrm>
          <a:prstGeom prst="rect">
            <a:avLst/>
          </a:prstGeom>
          <a:noFill/>
        </p:spPr>
        <p:txBody>
          <a:bodyPr wrap="square">
            <a:spAutoFit/>
          </a:bodyPr>
          <a:lstStyle/>
          <a:p>
            <a:pPr algn="l">
              <a:defRPr sz="900" b="1">
                <a:solidFill>
                  <a:srgbClr val="6B7280"/>
                </a:solidFill>
                <a:latin typeface="Calibri"/>
              </a:defRPr>
            </a:pPr>
            <a:r>
              <a:t>Recommendation</a:t>
            </a:r>
          </a:p>
        </p:txBody>
      </p:sp>
      <p:sp>
        <p:nvSpPr>
          <p:cNvPr id="8" name="Rectangle 7"/>
          <p:cNvSpPr/>
          <p:nvPr/>
        </p:nvSpPr>
        <p:spPr>
          <a:xfrm>
            <a:off x="731520" y="1508760"/>
            <a:ext cx="73152" cy="100584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04672" y="1508760"/>
            <a:ext cx="10515600" cy="1005840"/>
          </a:xfrm>
          <a:prstGeom prst="roundRect">
            <a:avLst>
              <a:gd name="adj" fmla="val 2000"/>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600200"/>
            <a:ext cx="365760" cy="274320"/>
          </a:xfrm>
          <a:prstGeom prst="rect">
            <a:avLst/>
          </a:prstGeom>
          <a:noFill/>
        </p:spPr>
        <p:txBody>
          <a:bodyPr wrap="square">
            <a:spAutoFit/>
          </a:bodyPr>
          <a:lstStyle/>
          <a:p>
            <a:pPr algn="l">
              <a:defRPr sz="1200" b="1">
                <a:solidFill>
                  <a:srgbClr val="1A1A2E"/>
                </a:solidFill>
                <a:latin typeface="Calibri"/>
              </a:defRPr>
            </a:pPr>
            <a:r>
              <a:t>#26</a:t>
            </a:r>
          </a:p>
        </p:txBody>
      </p:sp>
      <p:sp>
        <p:nvSpPr>
          <p:cNvPr id="11" name="TextBox 10"/>
          <p:cNvSpPr txBox="1"/>
          <p:nvPr/>
        </p:nvSpPr>
        <p:spPr>
          <a:xfrm>
            <a:off x="1371600" y="1600200"/>
            <a:ext cx="1828800" cy="822960"/>
          </a:xfrm>
          <a:prstGeom prst="rect">
            <a:avLst/>
          </a:prstGeom>
          <a:noFill/>
        </p:spPr>
        <p:txBody>
          <a:bodyPr wrap="square">
            <a:spAutoFit/>
          </a:bodyPr>
          <a:lstStyle/>
          <a:p>
            <a:pPr algn="l">
              <a:defRPr sz="1000" b="0">
                <a:solidFill>
                  <a:srgbClr val="374151"/>
                </a:solidFill>
                <a:latin typeface="Calibri"/>
              </a:defRPr>
            </a:pPr>
            <a:r>
              <a:t>Confirmation</a:t>
            </a:r>
          </a:p>
        </p:txBody>
      </p:sp>
      <p:sp>
        <p:nvSpPr>
          <p:cNvPr id="12" name="Rounded Rectangle 11"/>
          <p:cNvSpPr/>
          <p:nvPr/>
        </p:nvSpPr>
        <p:spPr>
          <a:xfrm>
            <a:off x="3383280" y="1645920"/>
            <a:ext cx="777240" cy="256032"/>
          </a:xfrm>
          <a:prstGeom prst="roundRect">
            <a:avLst>
              <a:gd name="adj" fmla="val 2000"/>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Calibri"/>
              </a:defRPr>
            </a:pPr>
            <a:r>
              <a:t>LOW</a:t>
            </a:r>
          </a:p>
        </p:txBody>
      </p:sp>
      <p:sp>
        <p:nvSpPr>
          <p:cNvPr id="13" name="TextBox 12"/>
          <p:cNvSpPr txBox="1"/>
          <p:nvPr/>
        </p:nvSpPr>
        <p:spPr>
          <a:xfrm>
            <a:off x="4297680" y="1581912"/>
            <a:ext cx="3931920" cy="868680"/>
          </a:xfrm>
          <a:prstGeom prst="rect">
            <a:avLst/>
          </a:prstGeom>
          <a:noFill/>
        </p:spPr>
        <p:txBody>
          <a:bodyPr wrap="square">
            <a:spAutoFit/>
          </a:bodyPr>
          <a:lstStyle/>
          <a:p>
            <a:pPr algn="l">
              <a:defRPr sz="1100" b="0">
                <a:solidFill>
                  <a:srgbClr val="1A1A2E"/>
                </a:solidFill>
                <a:latin typeface="Calibri"/>
              </a:defRPr>
            </a:pPr>
            <a:r>
              <a:t>On the success screen the confirming sentence ('Buy order for Gold (XAU) has been filled successfully') is set in lighter mid-grey, smaller than the figures beneath it; the green check carries all the visual weight. The most important message on a success screen should be its strongest text element.</a:t>
            </a:r>
          </a:p>
        </p:txBody>
      </p:sp>
      <p:sp>
        <p:nvSpPr>
          <p:cNvPr id="14" name="TextBox 13"/>
          <p:cNvSpPr txBox="1"/>
          <p:nvPr/>
        </p:nvSpPr>
        <p:spPr>
          <a:xfrm>
            <a:off x="8412480" y="1581912"/>
            <a:ext cx="3291840" cy="868680"/>
          </a:xfrm>
          <a:prstGeom prst="rect">
            <a:avLst/>
          </a:prstGeom>
          <a:noFill/>
        </p:spPr>
        <p:txBody>
          <a:bodyPr wrap="square">
            <a:spAutoFit/>
          </a:bodyPr>
          <a:lstStyle/>
          <a:p>
            <a:pPr algn="l">
              <a:defRPr sz="1000" b="0">
                <a:solidFill>
                  <a:srgbClr val="6B7280"/>
                </a:solidFill>
                <a:latin typeface="Calibri"/>
              </a:defRPr>
            </a:pPr>
            <a:r>
              <a:t>Promote the success sentence to the strongest text on the screen (size/weight/contrast).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7315200" cy="457200"/>
          </a:xfrm>
          <a:prstGeom prst="rect">
            <a:avLst/>
          </a:prstGeom>
          <a:noFill/>
        </p:spPr>
        <p:txBody>
          <a:bodyPr wrap="square">
            <a:spAutoFit/>
          </a:bodyPr>
          <a:lstStyle/>
          <a:p>
            <a:pPr algn="l">
              <a:defRPr sz="2400" b="1">
                <a:solidFill>
                  <a:srgbClr val="1A1A2E"/>
                </a:solidFill>
                <a:latin typeface="Calibri"/>
              </a:defRPr>
            </a:pPr>
            <a:r>
              <a:t>01 Landing Overview Sgd</a:t>
            </a:r>
          </a:p>
        </p:txBody>
      </p:sp>
      <p:pic>
        <p:nvPicPr>
          <p:cNvPr id="3" name="Picture 2" descr="01-landing-overview-sgd-annotated.png"/>
          <p:cNvPicPr>
            <a:picLocks noChangeAspect="1"/>
          </p:cNvPicPr>
          <p:nvPr/>
        </p:nvPicPr>
        <p:blipFill>
          <a:blip r:embed="rId2"/>
          <a:stretch>
            <a:fillRect/>
          </a:stretch>
        </p:blipFill>
        <p:spPr>
          <a:xfrm>
            <a:off x="274320" y="914400"/>
            <a:ext cx="4530893" cy="5669280"/>
          </a:xfrm>
          <a:prstGeom prst="rect">
            <a:avLst/>
          </a:prstGeom>
        </p:spPr>
      </p:pic>
      <p:sp>
        <p:nvSpPr>
          <p:cNvPr id="4" name="TextBox 3"/>
          <p:cNvSpPr txBox="1"/>
          <p:nvPr/>
        </p:nvSpPr>
        <p:spPr>
          <a:xfrm>
            <a:off x="7498079" y="914400"/>
            <a:ext cx="4389120" cy="365760"/>
          </a:xfrm>
          <a:prstGeom prst="rect">
            <a:avLst/>
          </a:prstGeom>
          <a:noFill/>
        </p:spPr>
        <p:txBody>
          <a:bodyPr wrap="square">
            <a:spAutoFit/>
          </a:bodyPr>
          <a:lstStyle/>
          <a:p>
            <a:pPr algn="l">
              <a:defRPr sz="1200" b="1">
                <a:solidFill>
                  <a:srgbClr val="374151"/>
                </a:solidFill>
                <a:latin typeface="Calibri"/>
              </a:defRPr>
            </a:pPr>
            <a:r>
              <a:t>Findings on this screen:</a:t>
            </a:r>
          </a:p>
        </p:txBody>
      </p:sp>
      <p:sp>
        <p:nvSpPr>
          <p:cNvPr id="5" name="Oval 4"/>
          <p:cNvSpPr/>
          <p:nvPr/>
        </p:nvSpPr>
        <p:spPr>
          <a:xfrm>
            <a:off x="7498079" y="1417320"/>
            <a:ext cx="201168" cy="201168"/>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4</a:t>
            </a:r>
          </a:p>
        </p:txBody>
      </p:sp>
      <p:sp>
        <p:nvSpPr>
          <p:cNvPr id="6" name="TextBox 5"/>
          <p:cNvSpPr txBox="1"/>
          <p:nvPr/>
        </p:nvSpPr>
        <p:spPr>
          <a:xfrm>
            <a:off x="7772399" y="1371600"/>
            <a:ext cx="4114800" cy="201168"/>
          </a:xfrm>
          <a:prstGeom prst="rect">
            <a:avLst/>
          </a:prstGeom>
          <a:noFill/>
        </p:spPr>
        <p:txBody>
          <a:bodyPr wrap="square">
            <a:spAutoFit/>
          </a:bodyPr>
          <a:lstStyle/>
          <a:p>
            <a:pPr algn="l">
              <a:defRPr sz="900" b="0">
                <a:solidFill>
                  <a:srgbClr val="EA580C"/>
                </a:solidFill>
                <a:latin typeface="Calibri"/>
              </a:defRPr>
            </a:pPr>
            <a:r>
              <a:t>[HIGH] Landing marketing copy is upside-only: 'Buy paper bullion to diversify your portfolio, hedge against inflation, and access a globally recognised store of value.' There is no balancing 'the value of precious metals can fall as well as rise' statement before the call to action.</a:t>
            </a:r>
          </a:p>
        </p:txBody>
      </p:sp>
      <p:sp>
        <p:nvSpPr>
          <p:cNvPr id="7" name="TextBox 6"/>
          <p:cNvSpPr txBox="1"/>
          <p:nvPr/>
        </p:nvSpPr>
        <p:spPr>
          <a:xfrm>
            <a:off x="7772399" y="1572768"/>
            <a:ext cx="4114800" cy="365760"/>
          </a:xfrm>
          <a:prstGeom prst="rect">
            <a:avLst/>
          </a:prstGeom>
          <a:noFill/>
        </p:spPr>
        <p:txBody>
          <a:bodyPr wrap="square">
            <a:spAutoFit/>
          </a:bodyPr>
          <a:lstStyle/>
          <a:p>
            <a:pPr algn="l">
              <a:defRPr sz="800" b="0">
                <a:solidFill>
                  <a:srgbClr val="6B7280"/>
                </a:solidFill>
                <a:latin typeface="Calibri"/>
              </a:defRPr>
            </a:pPr>
            <a:r>
              <a:t>→ Add a concise, equally-weighted risk statement adjacent to the value proposition on the landing (not only in a collapsed FAQ).</a:t>
            </a:r>
          </a:p>
        </p:txBody>
      </p:sp>
      <p:sp>
        <p:nvSpPr>
          <p:cNvPr id="8" name="Oval 7"/>
          <p:cNvSpPr/>
          <p:nvPr/>
        </p:nvSpPr>
        <p:spPr>
          <a:xfrm>
            <a:off x="7498079" y="2057400"/>
            <a:ext cx="201168" cy="201168"/>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5</a:t>
            </a:r>
          </a:p>
        </p:txBody>
      </p:sp>
      <p:sp>
        <p:nvSpPr>
          <p:cNvPr id="9" name="TextBox 8"/>
          <p:cNvSpPr txBox="1"/>
          <p:nvPr/>
        </p:nvSpPr>
        <p:spPr>
          <a:xfrm>
            <a:off x="7772399" y="2011680"/>
            <a:ext cx="4114800" cy="201168"/>
          </a:xfrm>
          <a:prstGeom prst="rect">
            <a:avLst/>
          </a:prstGeom>
          <a:noFill/>
        </p:spPr>
        <p:txBody>
          <a:bodyPr wrap="square">
            <a:spAutoFit/>
          </a:bodyPr>
          <a:lstStyle/>
          <a:p>
            <a:pPr algn="l">
              <a:defRPr sz="900" b="0">
                <a:solidFill>
                  <a:srgbClr val="EA580C"/>
                </a:solidFill>
                <a:latin typeface="Calibri"/>
              </a:defRPr>
            </a:pPr>
            <a:r>
              <a:t>[HIGH] The only risk-bearing content ('Things to look out for') is a collapsed FAQ accordion, below the fold, positioned after 'Reason to invest' and after the 'Start trading' CTA, and softened with a euphemistic label.</a:t>
            </a:r>
          </a:p>
        </p:txBody>
      </p:sp>
      <p:sp>
        <p:nvSpPr>
          <p:cNvPr id="10" name="TextBox 9"/>
          <p:cNvSpPr txBox="1"/>
          <p:nvPr/>
        </p:nvSpPr>
        <p:spPr>
          <a:xfrm>
            <a:off x="7772399" y="2212848"/>
            <a:ext cx="4114800" cy="365760"/>
          </a:xfrm>
          <a:prstGeom prst="rect">
            <a:avLst/>
          </a:prstGeom>
          <a:noFill/>
        </p:spPr>
        <p:txBody>
          <a:bodyPr wrap="square">
            <a:spAutoFit/>
          </a:bodyPr>
          <a:lstStyle/>
          <a:p>
            <a:pPr algn="l">
              <a:defRPr sz="800" b="0">
                <a:solidFill>
                  <a:srgbClr val="6B7280"/>
                </a:solidFill>
                <a:latin typeface="Calibri"/>
              </a:defRPr>
            </a:pPr>
            <a:r>
              <a:t>→ Rename to 'Risks', surface key risks above the fold or inline near the CTA, and expand by default for first-time users.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7315200" cy="457200"/>
          </a:xfrm>
          <a:prstGeom prst="rect">
            <a:avLst/>
          </a:prstGeom>
          <a:noFill/>
        </p:spPr>
        <p:txBody>
          <a:bodyPr wrap="square">
            <a:spAutoFit/>
          </a:bodyPr>
          <a:lstStyle/>
          <a:p>
            <a:pPr algn="l">
              <a:defRPr sz="2400" b="1">
                <a:solidFill>
                  <a:srgbClr val="1A1A2E"/>
                </a:solidFill>
                <a:latin typeface="Calibri"/>
              </a:defRPr>
            </a:pPr>
            <a:r>
              <a:t>02 Landing Overview Usd</a:t>
            </a:r>
          </a:p>
        </p:txBody>
      </p:sp>
      <p:pic>
        <p:nvPicPr>
          <p:cNvPr id="3" name="Picture 2" descr="02-landing-overview-usd-annotated.png"/>
          <p:cNvPicPr>
            <a:picLocks noChangeAspect="1"/>
          </p:cNvPicPr>
          <p:nvPr/>
        </p:nvPicPr>
        <p:blipFill>
          <a:blip r:embed="rId2"/>
          <a:stretch>
            <a:fillRect/>
          </a:stretch>
        </p:blipFill>
        <p:spPr>
          <a:xfrm>
            <a:off x="274320" y="914400"/>
            <a:ext cx="4530893" cy="5669280"/>
          </a:xfrm>
          <a:prstGeom prst="rect">
            <a:avLst/>
          </a:prstGeom>
        </p:spPr>
      </p:pic>
      <p:sp>
        <p:nvSpPr>
          <p:cNvPr id="4" name="TextBox 3"/>
          <p:cNvSpPr txBox="1"/>
          <p:nvPr/>
        </p:nvSpPr>
        <p:spPr>
          <a:xfrm>
            <a:off x="7498079" y="914400"/>
            <a:ext cx="4389120" cy="365760"/>
          </a:xfrm>
          <a:prstGeom prst="rect">
            <a:avLst/>
          </a:prstGeom>
          <a:noFill/>
        </p:spPr>
        <p:txBody>
          <a:bodyPr wrap="square">
            <a:spAutoFit/>
          </a:bodyPr>
          <a:lstStyle/>
          <a:p>
            <a:pPr algn="l">
              <a:defRPr sz="1200" b="1">
                <a:solidFill>
                  <a:srgbClr val="374151"/>
                </a:solidFill>
                <a:latin typeface="Calibri"/>
              </a:defRPr>
            </a:pPr>
            <a:r>
              <a:t>Findings on this screen:</a:t>
            </a:r>
          </a:p>
        </p:txBody>
      </p:sp>
      <p:sp>
        <p:nvSpPr>
          <p:cNvPr id="5" name="Oval 4"/>
          <p:cNvSpPr/>
          <p:nvPr/>
        </p:nvSpPr>
        <p:spPr>
          <a:xfrm>
            <a:off x="7498079" y="1417320"/>
            <a:ext cx="201168" cy="201168"/>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11</a:t>
            </a:r>
          </a:p>
        </p:txBody>
      </p:sp>
      <p:sp>
        <p:nvSpPr>
          <p:cNvPr id="6" name="TextBox 5"/>
          <p:cNvSpPr txBox="1"/>
          <p:nvPr/>
        </p:nvSpPr>
        <p:spPr>
          <a:xfrm>
            <a:off x="7772399" y="1371600"/>
            <a:ext cx="4114800" cy="201168"/>
          </a:xfrm>
          <a:prstGeom prst="rect">
            <a:avLst/>
          </a:prstGeom>
          <a:noFill/>
        </p:spPr>
        <p:txBody>
          <a:bodyPr wrap="square">
            <a:spAutoFit/>
          </a:bodyPr>
          <a:lstStyle/>
          <a:p>
            <a:pPr algn="l">
              <a:defRPr sz="900" b="0">
                <a:solidFill>
                  <a:srgbClr val="EA580C"/>
                </a:solidFill>
                <a:latin typeface="Calibri"/>
              </a:defRPr>
            </a:pPr>
            <a:r>
              <a:t>[HIGH] Currency context can shift silently. Overview toggles SGD/ounce vs USD/ounce, trade history mixes SGD, USD and EUR rows, and alerts mix SGD/USD. A user can read a price in one currency and transact in another without noticing the unit change.</a:t>
            </a:r>
          </a:p>
        </p:txBody>
      </p:sp>
      <p:sp>
        <p:nvSpPr>
          <p:cNvPr id="7" name="TextBox 6"/>
          <p:cNvSpPr txBox="1"/>
          <p:nvPr/>
        </p:nvSpPr>
        <p:spPr>
          <a:xfrm>
            <a:off x="7772399" y="1572768"/>
            <a:ext cx="4114800" cy="365760"/>
          </a:xfrm>
          <a:prstGeom prst="rect">
            <a:avLst/>
          </a:prstGeom>
          <a:noFill/>
        </p:spPr>
        <p:txBody>
          <a:bodyPr wrap="square">
            <a:spAutoFit/>
          </a:bodyPr>
          <a:lstStyle/>
          <a:p>
            <a:pPr algn="l">
              <a:defRPr sz="800" b="0">
                <a:solidFill>
                  <a:srgbClr val="6B7280"/>
                </a:solidFill>
                <a:latin typeface="Calibri"/>
              </a:defRPr>
            </a:pPr>
            <a:r>
              <a:t>→ Make the active currency a persistent, prominent indicator across all screens; warn on currency switch; align overview, history and alert currencies or label each row's currency unambiguously.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7315200" cy="457200"/>
          </a:xfrm>
          <a:prstGeom prst="rect">
            <a:avLst/>
          </a:prstGeom>
          <a:noFill/>
        </p:spPr>
        <p:txBody>
          <a:bodyPr wrap="square">
            <a:spAutoFit/>
          </a:bodyPr>
          <a:lstStyle/>
          <a:p>
            <a:pPr algn="l">
              <a:defRPr sz="2400" b="1">
                <a:solidFill>
                  <a:srgbClr val="1A1A2E"/>
                </a:solidFill>
                <a:latin typeface="Calibri"/>
              </a:defRPr>
            </a:pPr>
            <a:r>
              <a:t>03 Buy Trade Input</a:t>
            </a:r>
          </a:p>
        </p:txBody>
      </p:sp>
      <p:pic>
        <p:nvPicPr>
          <p:cNvPr id="3" name="Picture 2" descr="03-buy-trade-input-annotated.png"/>
          <p:cNvPicPr>
            <a:picLocks noChangeAspect="1"/>
          </p:cNvPicPr>
          <p:nvPr/>
        </p:nvPicPr>
        <p:blipFill>
          <a:blip r:embed="rId2"/>
          <a:stretch>
            <a:fillRect/>
          </a:stretch>
        </p:blipFill>
        <p:spPr>
          <a:xfrm>
            <a:off x="274320" y="914400"/>
            <a:ext cx="5882521" cy="5669280"/>
          </a:xfrm>
          <a:prstGeom prst="rect">
            <a:avLst/>
          </a:prstGeom>
        </p:spPr>
      </p:pic>
      <p:sp>
        <p:nvSpPr>
          <p:cNvPr id="4" name="TextBox 3"/>
          <p:cNvSpPr txBox="1"/>
          <p:nvPr/>
        </p:nvSpPr>
        <p:spPr>
          <a:xfrm>
            <a:off x="7498079" y="914400"/>
            <a:ext cx="4389120" cy="365760"/>
          </a:xfrm>
          <a:prstGeom prst="rect">
            <a:avLst/>
          </a:prstGeom>
          <a:noFill/>
        </p:spPr>
        <p:txBody>
          <a:bodyPr wrap="square">
            <a:spAutoFit/>
          </a:bodyPr>
          <a:lstStyle/>
          <a:p>
            <a:pPr algn="l">
              <a:defRPr sz="1200" b="1">
                <a:solidFill>
                  <a:srgbClr val="374151"/>
                </a:solidFill>
                <a:latin typeface="Calibri"/>
              </a:defRPr>
            </a:pPr>
            <a:r>
              <a:t>Findings on this screen:</a:t>
            </a:r>
          </a:p>
        </p:txBody>
      </p:sp>
      <p:sp>
        <p:nvSpPr>
          <p:cNvPr id="5" name="Oval 4"/>
          <p:cNvSpPr/>
          <p:nvPr/>
        </p:nvSpPr>
        <p:spPr>
          <a:xfrm>
            <a:off x="7498079" y="1417320"/>
            <a:ext cx="201168" cy="201168"/>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2</a:t>
            </a:r>
          </a:p>
        </p:txBody>
      </p:sp>
      <p:sp>
        <p:nvSpPr>
          <p:cNvPr id="6" name="TextBox 5"/>
          <p:cNvSpPr txBox="1"/>
          <p:nvPr/>
        </p:nvSpPr>
        <p:spPr>
          <a:xfrm>
            <a:off x="7772399" y="1371600"/>
            <a:ext cx="4114800" cy="201168"/>
          </a:xfrm>
          <a:prstGeom prst="rect">
            <a:avLst/>
          </a:prstGeom>
          <a:noFill/>
        </p:spPr>
        <p:txBody>
          <a:bodyPr wrap="square">
            <a:spAutoFit/>
          </a:bodyPr>
          <a:lstStyle/>
          <a:p>
            <a:pPr algn="l">
              <a:defRPr sz="900" b="0">
                <a:solidFill>
                  <a:srgbClr val="DC2626"/>
                </a:solidFill>
                <a:latin typeface="Calibri"/>
              </a:defRPr>
            </a:pPr>
            <a:r>
              <a:t>[CRITICAL] Inline validation and error states exist only as isolated spec frames (insufficient balance, below-minimum, exceed-market-value) and are not rendered on the live Buy/Sell trade screen. No error border, no inline message anchored to a field, and validation timing / CTA-gating cannot be confirmed. For a money-moving flow the on-screen error state is mandatory and appears undesigned/uninstrumented.</a:t>
            </a:r>
          </a:p>
        </p:txBody>
      </p:sp>
      <p:sp>
        <p:nvSpPr>
          <p:cNvPr id="7" name="TextBox 6"/>
          <p:cNvSpPr txBox="1"/>
          <p:nvPr/>
        </p:nvSpPr>
        <p:spPr>
          <a:xfrm>
            <a:off x="7772399" y="1572768"/>
            <a:ext cx="4114800" cy="365760"/>
          </a:xfrm>
          <a:prstGeom prst="rect">
            <a:avLst/>
          </a:prstGeom>
          <a:noFill/>
        </p:spPr>
        <p:txBody>
          <a:bodyPr wrap="square">
            <a:spAutoFit/>
          </a:bodyPr>
          <a:lstStyle/>
          <a:p>
            <a:pPr algn="l">
              <a:defRPr sz="800" b="0">
                <a:solidFill>
                  <a:srgbClr val="6B7280"/>
                </a:solidFill>
                <a:latin typeface="Calibri"/>
              </a:defRPr>
            </a:pPr>
            <a:r>
              <a:t>→ Integrate the spec'd error/warning states into the actual trade screen with field-anchored inline messages, on-blur validation, and a CTA that gates with a stated reason. Specify hover/focus/active/loading states too.</a:t>
            </a:r>
          </a:p>
        </p:txBody>
      </p:sp>
      <p:sp>
        <p:nvSpPr>
          <p:cNvPr id="8" name="Oval 7"/>
          <p:cNvSpPr/>
          <p:nvPr/>
        </p:nvSpPr>
        <p:spPr>
          <a:xfrm>
            <a:off x="7498079" y="2057400"/>
            <a:ext cx="201168" cy="201168"/>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7</a:t>
            </a:r>
          </a:p>
        </p:txBody>
      </p:sp>
      <p:sp>
        <p:nvSpPr>
          <p:cNvPr id="9" name="TextBox 8"/>
          <p:cNvSpPr txBox="1"/>
          <p:nvPr/>
        </p:nvSpPr>
        <p:spPr>
          <a:xfrm>
            <a:off x="7772399" y="2011680"/>
            <a:ext cx="4114800" cy="201168"/>
          </a:xfrm>
          <a:prstGeom prst="rect">
            <a:avLst/>
          </a:prstGeom>
          <a:noFill/>
        </p:spPr>
        <p:txBody>
          <a:bodyPr wrap="square">
            <a:spAutoFit/>
          </a:bodyPr>
          <a:lstStyle/>
          <a:p>
            <a:pPr algn="l">
              <a:defRPr sz="900" b="0">
                <a:solidFill>
                  <a:srgbClr val="EA580C"/>
                </a:solidFill>
                <a:latin typeface="Calibri"/>
              </a:defRPr>
            </a:pPr>
            <a:r>
              <a:t>[HIGH] Price freshness is not communicated for a live-priced commodity. The overview says 'Last updated 23 April 2026, 11:30 AM (UTC+08:00)' while the trade-panel chart says 'Last updated 28 Apr 2026, 2:00 PM SGT' — a ~5-day discrepancy within the same product. There is no auto-refresh, countdown, or 'price expires in / refresh' affordance.</a:t>
            </a:r>
          </a:p>
        </p:txBody>
      </p:sp>
      <p:sp>
        <p:nvSpPr>
          <p:cNvPr id="10" name="TextBox 9"/>
          <p:cNvSpPr txBox="1"/>
          <p:nvPr/>
        </p:nvSpPr>
        <p:spPr>
          <a:xfrm>
            <a:off x="7772399" y="2212848"/>
            <a:ext cx="4114800" cy="365760"/>
          </a:xfrm>
          <a:prstGeom prst="rect">
            <a:avLst/>
          </a:prstGeom>
          <a:noFill/>
        </p:spPr>
        <p:txBody>
          <a:bodyPr wrap="square">
            <a:spAutoFit/>
          </a:bodyPr>
          <a:lstStyle/>
          <a:p>
            <a:pPr algn="l">
              <a:defRPr sz="800" b="0">
                <a:solidFill>
                  <a:srgbClr val="6B7280"/>
                </a:solidFill>
                <a:latin typeface="Calibri"/>
              </a:defRPr>
            </a:pPr>
            <a:r>
              <a:t>→ Show a single live timestamp, auto-refresh the indicative price with a visible countdown/refresh control, and reconcile the conflicting timestamps.</a:t>
            </a:r>
          </a:p>
        </p:txBody>
      </p:sp>
      <p:sp>
        <p:nvSpPr>
          <p:cNvPr id="11" name="Oval 10"/>
          <p:cNvSpPr/>
          <p:nvPr/>
        </p:nvSpPr>
        <p:spPr>
          <a:xfrm>
            <a:off x="7498079" y="2697480"/>
            <a:ext cx="201168" cy="201168"/>
          </a:xfrm>
          <a:prstGeom prst="ellipse">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14</a:t>
            </a:r>
          </a:p>
        </p:txBody>
      </p:sp>
      <p:sp>
        <p:nvSpPr>
          <p:cNvPr id="12" name="TextBox 11"/>
          <p:cNvSpPr txBox="1"/>
          <p:nvPr/>
        </p:nvSpPr>
        <p:spPr>
          <a:xfrm>
            <a:off x="7772399" y="2651760"/>
            <a:ext cx="4114800" cy="201168"/>
          </a:xfrm>
          <a:prstGeom prst="rect">
            <a:avLst/>
          </a:prstGeom>
          <a:noFill/>
        </p:spPr>
        <p:txBody>
          <a:bodyPr wrap="square">
            <a:spAutoFit/>
          </a:bodyPr>
          <a:lstStyle/>
          <a:p>
            <a:pPr algn="l">
              <a:defRPr sz="900" b="0">
                <a:solidFill>
                  <a:srgbClr val="CA8A04"/>
                </a:solidFill>
                <a:latin typeface="Calibri"/>
              </a:defRPr>
            </a:pPr>
            <a:r>
              <a:t>[MEDIUM] The primary CTA is weak and buried: 'Review buy order' sits bottom-right below a full-width divider, rendered in slate-grey, and when disabled is nearly invisible with no hint of what's missing to enable it. Meanwhile the visually richest element (the line chart) is decision-support, not the task, pulling the eye away from the form.</a:t>
            </a:r>
          </a:p>
        </p:txBody>
      </p:sp>
      <p:sp>
        <p:nvSpPr>
          <p:cNvPr id="13" name="TextBox 12"/>
          <p:cNvSpPr txBox="1"/>
          <p:nvPr/>
        </p:nvSpPr>
        <p:spPr>
          <a:xfrm>
            <a:off x="7772399" y="2852928"/>
            <a:ext cx="4114800" cy="365760"/>
          </a:xfrm>
          <a:prstGeom prst="rect">
            <a:avLst/>
          </a:prstGeom>
          <a:noFill/>
        </p:spPr>
        <p:txBody>
          <a:bodyPr wrap="square">
            <a:spAutoFit/>
          </a:bodyPr>
          <a:lstStyle/>
          <a:p>
            <a:pPr algn="l">
              <a:defRPr sz="800" b="0">
                <a:solidFill>
                  <a:srgbClr val="6B7280"/>
                </a:solidFill>
                <a:latin typeface="Calibri"/>
              </a:defRPr>
            </a:pPr>
            <a:r>
              <a:t>→ Elevate the primary CTA (consistent treatment, stronger weight, clear enabled/disabled), and pair the disabled state with a reason ('Enter an amount to continue').</a:t>
            </a:r>
          </a:p>
        </p:txBody>
      </p:sp>
      <p:sp>
        <p:nvSpPr>
          <p:cNvPr id="14" name="Oval 13"/>
          <p:cNvSpPr/>
          <p:nvPr/>
        </p:nvSpPr>
        <p:spPr>
          <a:xfrm>
            <a:off x="7498079" y="3337560"/>
            <a:ext cx="201168" cy="201168"/>
          </a:xfrm>
          <a:prstGeom prst="ellipse">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17</a:t>
            </a:r>
          </a:p>
        </p:txBody>
      </p:sp>
      <p:sp>
        <p:nvSpPr>
          <p:cNvPr id="15" name="TextBox 14"/>
          <p:cNvSpPr txBox="1"/>
          <p:nvPr/>
        </p:nvSpPr>
        <p:spPr>
          <a:xfrm>
            <a:off x="7772399" y="3291840"/>
            <a:ext cx="4114800" cy="201168"/>
          </a:xfrm>
          <a:prstGeom prst="rect">
            <a:avLst/>
          </a:prstGeom>
          <a:noFill/>
        </p:spPr>
        <p:txBody>
          <a:bodyPr wrap="square">
            <a:spAutoFit/>
          </a:bodyPr>
          <a:lstStyle/>
          <a:p>
            <a:pPr algn="l">
              <a:defRPr sz="900" b="0">
                <a:solidFill>
                  <a:srgbClr val="CA8A04"/>
                </a:solidFill>
                <a:latin typeface="Calibri"/>
              </a:defRPr>
            </a:pPr>
            <a:r>
              <a:t>[MEDIUM] The amount-to-quantity swap control (the vertical double-arrow between 'Investment amount' and 'Quantity to buy') has no label, button chrome, hover hint, or tooltip. It's unclear it's an interactive control that switches which field drives the calculation.</a:t>
            </a:r>
          </a:p>
        </p:txBody>
      </p:sp>
      <p:sp>
        <p:nvSpPr>
          <p:cNvPr id="16" name="TextBox 15"/>
          <p:cNvSpPr txBox="1"/>
          <p:nvPr/>
        </p:nvSpPr>
        <p:spPr>
          <a:xfrm>
            <a:off x="7772399" y="3493008"/>
            <a:ext cx="4114800" cy="365760"/>
          </a:xfrm>
          <a:prstGeom prst="rect">
            <a:avLst/>
          </a:prstGeom>
          <a:noFill/>
        </p:spPr>
        <p:txBody>
          <a:bodyPr wrap="square">
            <a:spAutoFit/>
          </a:bodyPr>
          <a:lstStyle/>
          <a:p>
            <a:pPr algn="l">
              <a:defRPr sz="800" b="0">
                <a:solidFill>
                  <a:srgbClr val="6B7280"/>
                </a:solidFill>
                <a:latin typeface="Calibri"/>
              </a:defRPr>
            </a:pPr>
            <a:r>
              <a:t>→ Give the swap control a button container and tooltip ('Switch between amount and quantity') and a clear active/driver indication.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7315200" cy="457200"/>
          </a:xfrm>
          <a:prstGeom prst="rect">
            <a:avLst/>
          </a:prstGeom>
          <a:noFill/>
        </p:spPr>
        <p:txBody>
          <a:bodyPr wrap="square">
            <a:spAutoFit/>
          </a:bodyPr>
          <a:lstStyle/>
          <a:p>
            <a:pPr algn="l">
              <a:defRPr sz="2400" b="1">
                <a:solidFill>
                  <a:srgbClr val="1A1A2E"/>
                </a:solidFill>
                <a:latin typeface="Calibri"/>
              </a:defRPr>
            </a:pPr>
            <a:r>
              <a:t>04 Review Buy Order</a:t>
            </a:r>
          </a:p>
        </p:txBody>
      </p:sp>
      <p:pic>
        <p:nvPicPr>
          <p:cNvPr id="3" name="Picture 2" descr="04-review-buy-order-annotated.png"/>
          <p:cNvPicPr>
            <a:picLocks noChangeAspect="1"/>
          </p:cNvPicPr>
          <p:nvPr/>
        </p:nvPicPr>
        <p:blipFill>
          <a:blip r:embed="rId2"/>
          <a:stretch>
            <a:fillRect/>
          </a:stretch>
        </p:blipFill>
        <p:spPr>
          <a:xfrm>
            <a:off x="274320" y="914400"/>
            <a:ext cx="6858000" cy="4877752"/>
          </a:xfrm>
          <a:prstGeom prst="rect">
            <a:avLst/>
          </a:prstGeom>
        </p:spPr>
      </p:pic>
      <p:sp>
        <p:nvSpPr>
          <p:cNvPr id="4" name="TextBox 3"/>
          <p:cNvSpPr txBox="1"/>
          <p:nvPr/>
        </p:nvSpPr>
        <p:spPr>
          <a:xfrm>
            <a:off x="7498079" y="914400"/>
            <a:ext cx="4389120" cy="365760"/>
          </a:xfrm>
          <a:prstGeom prst="rect">
            <a:avLst/>
          </a:prstGeom>
          <a:noFill/>
        </p:spPr>
        <p:txBody>
          <a:bodyPr wrap="square">
            <a:spAutoFit/>
          </a:bodyPr>
          <a:lstStyle/>
          <a:p>
            <a:pPr algn="l">
              <a:defRPr sz="1200" b="1">
                <a:solidFill>
                  <a:srgbClr val="374151"/>
                </a:solidFill>
                <a:latin typeface="Calibri"/>
              </a:defRPr>
            </a:pPr>
            <a:r>
              <a:t>Findings on this screen:</a:t>
            </a:r>
          </a:p>
        </p:txBody>
      </p:sp>
      <p:sp>
        <p:nvSpPr>
          <p:cNvPr id="5" name="Oval 4"/>
          <p:cNvSpPr/>
          <p:nvPr/>
        </p:nvSpPr>
        <p:spPr>
          <a:xfrm>
            <a:off x="7498079" y="1417320"/>
            <a:ext cx="201168" cy="201168"/>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9</a:t>
            </a:r>
          </a:p>
        </p:txBody>
      </p:sp>
      <p:sp>
        <p:nvSpPr>
          <p:cNvPr id="6" name="TextBox 5"/>
          <p:cNvSpPr txBox="1"/>
          <p:nvPr/>
        </p:nvSpPr>
        <p:spPr>
          <a:xfrm>
            <a:off x="7772399" y="1371600"/>
            <a:ext cx="4114800" cy="201168"/>
          </a:xfrm>
          <a:prstGeom prst="rect">
            <a:avLst/>
          </a:prstGeom>
          <a:noFill/>
        </p:spPr>
        <p:txBody>
          <a:bodyPr wrap="square">
            <a:spAutoFit/>
          </a:bodyPr>
          <a:lstStyle/>
          <a:p>
            <a:pPr algn="l">
              <a:defRPr sz="900" b="0">
                <a:solidFill>
                  <a:srgbClr val="EA580C"/>
                </a:solidFill>
                <a:latin typeface="Calibri"/>
              </a:defRPr>
            </a:pPr>
            <a:r>
              <a:t>[HIGH] The Review screen (pre-commit) and the Trade-detail screen (already executed) are near-identical in layout and content; the only differentiators are the small kicker (REVIEW vs TRADE DETAILS) and the buttons. A user landing mid-flow cannot tell whether money has already moved.</a:t>
            </a:r>
          </a:p>
        </p:txBody>
      </p:sp>
      <p:sp>
        <p:nvSpPr>
          <p:cNvPr id="7" name="TextBox 6"/>
          <p:cNvSpPr txBox="1"/>
          <p:nvPr/>
        </p:nvSpPr>
        <p:spPr>
          <a:xfrm>
            <a:off x="7772399" y="1572768"/>
            <a:ext cx="4114800" cy="365760"/>
          </a:xfrm>
          <a:prstGeom prst="rect">
            <a:avLst/>
          </a:prstGeom>
          <a:noFill/>
        </p:spPr>
        <p:txBody>
          <a:bodyPr wrap="square">
            <a:spAutoFit/>
          </a:bodyPr>
          <a:lstStyle/>
          <a:p>
            <a:pPr algn="l">
              <a:defRPr sz="800" b="0">
                <a:solidFill>
                  <a:srgbClr val="6B7280"/>
                </a:solidFill>
                <a:latin typeface="Calibri"/>
              </a:defRPr>
            </a:pPr>
            <a:r>
              <a:t>→ Visually differentiate the two: distinct headers, a clear status banner ('Not yet submitted' vs 'Completed · Filled'), and a step indicator. Make the pre-commit state unmistakable.</a:t>
            </a:r>
          </a:p>
        </p:txBody>
      </p:sp>
      <p:sp>
        <p:nvSpPr>
          <p:cNvPr id="8" name="Oval 7"/>
          <p:cNvSpPr/>
          <p:nvPr/>
        </p:nvSpPr>
        <p:spPr>
          <a:xfrm>
            <a:off x="7498079" y="2057400"/>
            <a:ext cx="201168" cy="201168"/>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3</a:t>
            </a:r>
          </a:p>
        </p:txBody>
      </p:sp>
      <p:sp>
        <p:nvSpPr>
          <p:cNvPr id="9" name="TextBox 8"/>
          <p:cNvSpPr txBox="1"/>
          <p:nvPr/>
        </p:nvSpPr>
        <p:spPr>
          <a:xfrm>
            <a:off x="7772399" y="2011680"/>
            <a:ext cx="4114800" cy="201168"/>
          </a:xfrm>
          <a:prstGeom prst="rect">
            <a:avLst/>
          </a:prstGeom>
          <a:noFill/>
        </p:spPr>
        <p:txBody>
          <a:bodyPr wrap="square">
            <a:spAutoFit/>
          </a:bodyPr>
          <a:lstStyle/>
          <a:p>
            <a:pPr algn="l">
              <a:defRPr sz="900" b="0">
                <a:solidFill>
                  <a:srgbClr val="EA580C"/>
                </a:solidFill>
                <a:latin typeface="Calibri"/>
              </a:defRPr>
            </a:pPr>
            <a:r>
              <a:t>[HIGH] The gap between the displayed 'Indicative price' and the actual execution price is never disclosed. The quoted indicative price is 6,581.85 SGD/ounce, but the completed trade detail shows an actual 'Purchase price 6,128.50 SGD/ounce' — a materially different number. Nothing warns that the price can move between input and settlement.</a:t>
            </a:r>
          </a:p>
        </p:txBody>
      </p:sp>
      <p:sp>
        <p:nvSpPr>
          <p:cNvPr id="10" name="TextBox 9"/>
          <p:cNvSpPr txBox="1"/>
          <p:nvPr/>
        </p:nvSpPr>
        <p:spPr>
          <a:xfrm>
            <a:off x="7772399" y="2212848"/>
            <a:ext cx="4114800" cy="365760"/>
          </a:xfrm>
          <a:prstGeom prst="rect">
            <a:avLst/>
          </a:prstGeom>
          <a:noFill/>
        </p:spPr>
        <p:txBody>
          <a:bodyPr wrap="square">
            <a:spAutoFit/>
          </a:bodyPr>
          <a:lstStyle/>
          <a:p>
            <a:pPr algn="l">
              <a:defRPr sz="800" b="0">
                <a:solidFill>
                  <a:srgbClr val="6B7280"/>
                </a:solidFill>
                <a:latin typeface="Calibri"/>
              </a:defRPr>
            </a:pPr>
            <a:r>
              <a:t>→ Add an 'Indicative price' tooltip and an execution caveat at input and review: 'Final price is set at execution and may differ from the indicative price shown.' Show the executed price prominently on confirmation.</a:t>
            </a:r>
          </a:p>
        </p:txBody>
      </p:sp>
      <p:sp>
        <p:nvSpPr>
          <p:cNvPr id="11" name="Oval 10"/>
          <p:cNvSpPr/>
          <p:nvPr/>
        </p:nvSpPr>
        <p:spPr>
          <a:xfrm>
            <a:off x="7498079" y="2697480"/>
            <a:ext cx="201168" cy="201168"/>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12</a:t>
            </a:r>
          </a:p>
        </p:txBody>
      </p:sp>
      <p:sp>
        <p:nvSpPr>
          <p:cNvPr id="12" name="TextBox 11"/>
          <p:cNvSpPr txBox="1"/>
          <p:nvPr/>
        </p:nvSpPr>
        <p:spPr>
          <a:xfrm>
            <a:off x="7772399" y="2651760"/>
            <a:ext cx="4114800" cy="201168"/>
          </a:xfrm>
          <a:prstGeom prst="rect">
            <a:avLst/>
          </a:prstGeom>
          <a:noFill/>
        </p:spPr>
        <p:txBody>
          <a:bodyPr wrap="square">
            <a:spAutoFit/>
          </a:bodyPr>
          <a:lstStyle/>
          <a:p>
            <a:pPr algn="l">
              <a:defRPr sz="900" b="0">
                <a:solidFill>
                  <a:srgbClr val="EA580C"/>
                </a:solidFill>
                <a:latin typeface="Calibri"/>
              </a:defRPr>
            </a:pPr>
            <a:r>
              <a:t>[HIGH] At the highest-anxiety moment — confirming a 30,642.50 SGD order — the only copy is a cold liability declaration: 'Declarations which are found to be untrue or inaccurate may result in the delay or rejection of your investment, without recourse to OCBC Bank.' There is no reassurance (e.g. 'funds are only debited on settlement', security signal, or 'you can review before it's final').</a:t>
            </a:r>
          </a:p>
        </p:txBody>
      </p:sp>
      <p:sp>
        <p:nvSpPr>
          <p:cNvPr id="13" name="TextBox 12"/>
          <p:cNvSpPr txBox="1"/>
          <p:nvPr/>
        </p:nvSpPr>
        <p:spPr>
          <a:xfrm>
            <a:off x="7772399" y="2852928"/>
            <a:ext cx="4114800" cy="365760"/>
          </a:xfrm>
          <a:prstGeom prst="rect">
            <a:avLst/>
          </a:prstGeom>
          <a:noFill/>
        </p:spPr>
        <p:txBody>
          <a:bodyPr wrap="square">
            <a:spAutoFit/>
          </a:bodyPr>
          <a:lstStyle/>
          <a:p>
            <a:pPr algn="l">
              <a:defRPr sz="800" b="0">
                <a:solidFill>
                  <a:srgbClr val="6B7280"/>
                </a:solidFill>
                <a:latin typeface="Calibri"/>
              </a:defRPr>
            </a:pPr>
            <a:r>
              <a:t>→ Pair the legal declaration with plain-language reassurance about what happens next (debit/settlement timing, security), and keep the legal text secondary.</a:t>
            </a:r>
          </a:p>
        </p:txBody>
      </p:sp>
      <p:sp>
        <p:nvSpPr>
          <p:cNvPr id="14" name="Oval 13"/>
          <p:cNvSpPr/>
          <p:nvPr/>
        </p:nvSpPr>
        <p:spPr>
          <a:xfrm>
            <a:off x="7498079" y="3337560"/>
            <a:ext cx="201168" cy="201168"/>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8</a:t>
            </a:r>
          </a:p>
        </p:txBody>
      </p:sp>
      <p:sp>
        <p:nvSpPr>
          <p:cNvPr id="15" name="TextBox 14"/>
          <p:cNvSpPr txBox="1"/>
          <p:nvPr/>
        </p:nvSpPr>
        <p:spPr>
          <a:xfrm>
            <a:off x="7772399" y="3291840"/>
            <a:ext cx="4114800" cy="201168"/>
          </a:xfrm>
          <a:prstGeom prst="rect">
            <a:avLst/>
          </a:prstGeom>
          <a:noFill/>
        </p:spPr>
        <p:txBody>
          <a:bodyPr wrap="square">
            <a:spAutoFit/>
          </a:bodyPr>
          <a:lstStyle/>
          <a:p>
            <a:pPr algn="l">
              <a:defRPr sz="900" b="0">
                <a:solidFill>
                  <a:srgbClr val="EA580C"/>
                </a:solidFill>
                <a:latin typeface="Calibri"/>
              </a:defRPr>
            </a:pPr>
            <a:r>
              <a:t>[HIGH] No loading/processing state exists between 'Confirm buy order' and the success screen. Order submission, price lock, and account creation all involve latency, but there is no spinner, skeleton, or 'Submitting order…' state — risking double submission and user uncertainty at the most critical moment.</a:t>
            </a:r>
          </a:p>
        </p:txBody>
      </p:sp>
      <p:sp>
        <p:nvSpPr>
          <p:cNvPr id="16" name="TextBox 15"/>
          <p:cNvSpPr txBox="1"/>
          <p:nvPr/>
        </p:nvSpPr>
        <p:spPr>
          <a:xfrm>
            <a:off x="7772399" y="3493008"/>
            <a:ext cx="4114800" cy="365760"/>
          </a:xfrm>
          <a:prstGeom prst="rect">
            <a:avLst/>
          </a:prstGeom>
          <a:noFill/>
        </p:spPr>
        <p:txBody>
          <a:bodyPr wrap="square">
            <a:spAutoFit/>
          </a:bodyPr>
          <a:lstStyle/>
          <a:p>
            <a:pPr algn="l">
              <a:defRPr sz="800" b="0">
                <a:solidFill>
                  <a:srgbClr val="6B7280"/>
                </a:solidFill>
                <a:latin typeface="Calibri"/>
              </a:defRPr>
            </a:pPr>
            <a:r>
              <a:t>→ Add an explicit processing state that disables the button, shows progress, and prevents resubmission until the server responds.</a:t>
            </a:r>
          </a:p>
        </p:txBody>
      </p:sp>
      <p:sp>
        <p:nvSpPr>
          <p:cNvPr id="17" name="Oval 16"/>
          <p:cNvSpPr/>
          <p:nvPr/>
        </p:nvSpPr>
        <p:spPr>
          <a:xfrm>
            <a:off x="7498079" y="3977640"/>
            <a:ext cx="201168" cy="201168"/>
          </a:xfrm>
          <a:prstGeom prst="ellipse">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16</a:t>
            </a:r>
          </a:p>
        </p:txBody>
      </p:sp>
      <p:sp>
        <p:nvSpPr>
          <p:cNvPr id="18" name="TextBox 17"/>
          <p:cNvSpPr txBox="1"/>
          <p:nvPr/>
        </p:nvSpPr>
        <p:spPr>
          <a:xfrm>
            <a:off x="7772399" y="3931920"/>
            <a:ext cx="4114800" cy="201168"/>
          </a:xfrm>
          <a:prstGeom prst="rect">
            <a:avLst/>
          </a:prstGeom>
          <a:noFill/>
        </p:spPr>
        <p:txBody>
          <a:bodyPr wrap="square">
            <a:spAutoFit/>
          </a:bodyPr>
          <a:lstStyle/>
          <a:p>
            <a:pPr algn="l">
              <a:defRPr sz="900" b="0">
                <a:solidFill>
                  <a:srgbClr val="CA8A04"/>
                </a:solidFill>
                <a:latin typeface="Calibri"/>
              </a:defRPr>
            </a:pPr>
            <a:r>
              <a:t>[MEDIUM] The header/eyebrow system is not standardised: the kicker appears inline top-left on some screens, in the left gutter with a red rule on others, and is absent (only an H2) on the overview. There is no consistent page-title anchor and no step indicator ('Step 2 of 3') in a multi-step money flow.</a:t>
            </a:r>
          </a:p>
        </p:txBody>
      </p:sp>
      <p:sp>
        <p:nvSpPr>
          <p:cNvPr id="19" name="TextBox 18"/>
          <p:cNvSpPr txBox="1"/>
          <p:nvPr/>
        </p:nvSpPr>
        <p:spPr>
          <a:xfrm>
            <a:off x="7772399" y="4133088"/>
            <a:ext cx="4114800" cy="365760"/>
          </a:xfrm>
          <a:prstGeom prst="rect">
            <a:avLst/>
          </a:prstGeom>
          <a:noFill/>
        </p:spPr>
        <p:txBody>
          <a:bodyPr wrap="square">
            <a:spAutoFit/>
          </a:bodyPr>
          <a:lstStyle/>
          <a:p>
            <a:pPr algn="l">
              <a:defRPr sz="800" b="0">
                <a:solidFill>
                  <a:srgbClr val="6B7280"/>
                </a:solidFill>
                <a:latin typeface="Calibri"/>
              </a:defRPr>
            </a:pPr>
            <a:r>
              <a:t>→ Standardise one eyebrow+H1 pattern across all screens and add a step indicator to the buy/sell flow.</a:t>
            </a:r>
          </a:p>
        </p:txBody>
      </p:sp>
      <p:sp>
        <p:nvSpPr>
          <p:cNvPr id="20" name="Oval 19"/>
          <p:cNvSpPr/>
          <p:nvPr/>
        </p:nvSpPr>
        <p:spPr>
          <a:xfrm>
            <a:off x="7498079" y="4617720"/>
            <a:ext cx="201168" cy="201168"/>
          </a:xfrm>
          <a:prstGeom prst="ellipse">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23</a:t>
            </a:r>
          </a:p>
        </p:txBody>
      </p:sp>
      <p:sp>
        <p:nvSpPr>
          <p:cNvPr id="21" name="TextBox 20"/>
          <p:cNvSpPr txBox="1"/>
          <p:nvPr/>
        </p:nvSpPr>
        <p:spPr>
          <a:xfrm>
            <a:off x="7772399" y="4572000"/>
            <a:ext cx="4114800" cy="201168"/>
          </a:xfrm>
          <a:prstGeom prst="rect">
            <a:avLst/>
          </a:prstGeom>
          <a:noFill/>
        </p:spPr>
        <p:txBody>
          <a:bodyPr wrap="square">
            <a:spAutoFit/>
          </a:bodyPr>
          <a:lstStyle/>
          <a:p>
            <a:pPr algn="l">
              <a:defRPr sz="900" b="0">
                <a:solidFill>
                  <a:srgbClr val="CA8A04"/>
                </a:solidFill>
                <a:latin typeface="Calibri"/>
              </a:defRPr>
            </a:pPr>
            <a:r>
              <a:t>[MEDIUM] The 'Back' button on Review is unlabeled as to consequence — it is unclear whether it discards the order or returns to edit inputs. In a money-moving flow, an ambiguous back action is a trust gap.</a:t>
            </a:r>
          </a:p>
        </p:txBody>
      </p:sp>
      <p:sp>
        <p:nvSpPr>
          <p:cNvPr id="22" name="TextBox 21"/>
          <p:cNvSpPr txBox="1"/>
          <p:nvPr/>
        </p:nvSpPr>
        <p:spPr>
          <a:xfrm>
            <a:off x="7772399" y="4773168"/>
            <a:ext cx="4114800" cy="365760"/>
          </a:xfrm>
          <a:prstGeom prst="rect">
            <a:avLst/>
          </a:prstGeom>
          <a:noFill/>
        </p:spPr>
        <p:txBody>
          <a:bodyPr wrap="square">
            <a:spAutoFit/>
          </a:bodyPr>
          <a:lstStyle/>
          <a:p>
            <a:pPr algn="l">
              <a:defRPr sz="800" b="0">
                <a:solidFill>
                  <a:srgbClr val="6B7280"/>
                </a:solidFill>
                <a:latin typeface="Calibri"/>
              </a:defRPr>
            </a:pPr>
            <a:r>
              <a:t>→ Label the intent ('Edit order' vs 'Cancel') and confirm before any destructive discard.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7315200" cy="457200"/>
          </a:xfrm>
          <a:prstGeom prst="rect">
            <a:avLst/>
          </a:prstGeom>
          <a:noFill/>
        </p:spPr>
        <p:txBody>
          <a:bodyPr wrap="square">
            <a:spAutoFit/>
          </a:bodyPr>
          <a:lstStyle/>
          <a:p>
            <a:pPr algn="l">
              <a:defRPr sz="2400" b="1">
                <a:solidFill>
                  <a:srgbClr val="1A1A2E"/>
                </a:solidFill>
                <a:latin typeface="Calibri"/>
              </a:defRPr>
            </a:pPr>
            <a:r>
              <a:t>05 Trade Detail Confirmation</a:t>
            </a:r>
          </a:p>
        </p:txBody>
      </p:sp>
      <p:pic>
        <p:nvPicPr>
          <p:cNvPr id="3" name="Picture 2" descr="05-trade-detail-confirmation-annotated.png"/>
          <p:cNvPicPr>
            <a:picLocks noChangeAspect="1"/>
          </p:cNvPicPr>
          <p:nvPr/>
        </p:nvPicPr>
        <p:blipFill>
          <a:blip r:embed="rId2"/>
          <a:stretch>
            <a:fillRect/>
          </a:stretch>
        </p:blipFill>
        <p:spPr>
          <a:xfrm>
            <a:off x="274320" y="914400"/>
            <a:ext cx="6858000" cy="5611477"/>
          </a:xfrm>
          <a:prstGeom prst="rect">
            <a:avLst/>
          </a:prstGeom>
        </p:spPr>
      </p:pic>
      <p:sp>
        <p:nvSpPr>
          <p:cNvPr id="4" name="TextBox 3"/>
          <p:cNvSpPr txBox="1"/>
          <p:nvPr/>
        </p:nvSpPr>
        <p:spPr>
          <a:xfrm>
            <a:off x="7498079" y="914400"/>
            <a:ext cx="4389120" cy="365760"/>
          </a:xfrm>
          <a:prstGeom prst="rect">
            <a:avLst/>
          </a:prstGeom>
          <a:noFill/>
        </p:spPr>
        <p:txBody>
          <a:bodyPr wrap="square">
            <a:spAutoFit/>
          </a:bodyPr>
          <a:lstStyle/>
          <a:p>
            <a:pPr algn="l">
              <a:defRPr sz="1200" b="1">
                <a:solidFill>
                  <a:srgbClr val="374151"/>
                </a:solidFill>
                <a:latin typeface="Calibri"/>
              </a:defRPr>
            </a:pPr>
            <a:r>
              <a:t>Findings on this screen:</a:t>
            </a:r>
          </a:p>
        </p:txBody>
      </p:sp>
      <p:sp>
        <p:nvSpPr>
          <p:cNvPr id="5" name="Oval 4"/>
          <p:cNvSpPr/>
          <p:nvPr/>
        </p:nvSpPr>
        <p:spPr>
          <a:xfrm>
            <a:off x="7498079" y="1417320"/>
            <a:ext cx="201168" cy="201168"/>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9</a:t>
            </a:r>
          </a:p>
        </p:txBody>
      </p:sp>
      <p:sp>
        <p:nvSpPr>
          <p:cNvPr id="6" name="TextBox 5"/>
          <p:cNvSpPr txBox="1"/>
          <p:nvPr/>
        </p:nvSpPr>
        <p:spPr>
          <a:xfrm>
            <a:off x="7772399" y="1371600"/>
            <a:ext cx="4114800" cy="201168"/>
          </a:xfrm>
          <a:prstGeom prst="rect">
            <a:avLst/>
          </a:prstGeom>
          <a:noFill/>
        </p:spPr>
        <p:txBody>
          <a:bodyPr wrap="square">
            <a:spAutoFit/>
          </a:bodyPr>
          <a:lstStyle/>
          <a:p>
            <a:pPr algn="l">
              <a:defRPr sz="900" b="0">
                <a:solidFill>
                  <a:srgbClr val="EA580C"/>
                </a:solidFill>
                <a:latin typeface="Calibri"/>
              </a:defRPr>
            </a:pPr>
            <a:r>
              <a:t>[HIGH] The Review screen (pre-commit) and the Trade-detail screen (already executed) are near-identical in layout and content; the only differentiators are the small kicker (REVIEW vs TRADE DETAILS) and the buttons. A user landing mid-flow cannot tell whether money has already moved.</a:t>
            </a:r>
          </a:p>
        </p:txBody>
      </p:sp>
      <p:sp>
        <p:nvSpPr>
          <p:cNvPr id="7" name="TextBox 6"/>
          <p:cNvSpPr txBox="1"/>
          <p:nvPr/>
        </p:nvSpPr>
        <p:spPr>
          <a:xfrm>
            <a:off x="7772399" y="1572768"/>
            <a:ext cx="4114800" cy="365760"/>
          </a:xfrm>
          <a:prstGeom prst="rect">
            <a:avLst/>
          </a:prstGeom>
          <a:noFill/>
        </p:spPr>
        <p:txBody>
          <a:bodyPr wrap="square">
            <a:spAutoFit/>
          </a:bodyPr>
          <a:lstStyle/>
          <a:p>
            <a:pPr algn="l">
              <a:defRPr sz="800" b="0">
                <a:solidFill>
                  <a:srgbClr val="6B7280"/>
                </a:solidFill>
                <a:latin typeface="Calibri"/>
              </a:defRPr>
            </a:pPr>
            <a:r>
              <a:t>→ Visually differentiate the two: distinct headers, a clear status banner ('Not yet submitted' vs 'Completed · Filled'), and a step indicator. Make the pre-commit state unmistakable.</a:t>
            </a:r>
          </a:p>
        </p:txBody>
      </p:sp>
      <p:sp>
        <p:nvSpPr>
          <p:cNvPr id="8" name="Oval 7"/>
          <p:cNvSpPr/>
          <p:nvPr/>
        </p:nvSpPr>
        <p:spPr>
          <a:xfrm>
            <a:off x="7498079" y="2057400"/>
            <a:ext cx="201168" cy="201168"/>
          </a:xfrm>
          <a:prstGeom prst="ellipse">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15</a:t>
            </a:r>
          </a:p>
        </p:txBody>
      </p:sp>
      <p:sp>
        <p:nvSpPr>
          <p:cNvPr id="9" name="TextBox 8"/>
          <p:cNvSpPr txBox="1"/>
          <p:nvPr/>
        </p:nvSpPr>
        <p:spPr>
          <a:xfrm>
            <a:off x="7772399" y="2011680"/>
            <a:ext cx="4114800" cy="201168"/>
          </a:xfrm>
          <a:prstGeom prst="rect">
            <a:avLst/>
          </a:prstGeom>
          <a:noFill/>
        </p:spPr>
        <p:txBody>
          <a:bodyPr wrap="square">
            <a:spAutoFit/>
          </a:bodyPr>
          <a:lstStyle/>
          <a:p>
            <a:pPr algn="l">
              <a:defRPr sz="900" b="0">
                <a:solidFill>
                  <a:srgbClr val="CA8A04"/>
                </a:solidFill>
                <a:latin typeface="Calibri"/>
              </a:defRPr>
            </a:pPr>
            <a:r>
              <a:t>[MEDIUM] Novice-hostile terms are used without inline explanation: ISO codes 'XAU/XAG' (never expanded on first use), 'ounce' (never stated as troy ounce), 'Indicative price', 'Credit account'/'Debit account' (a buy's 'Credit account - Gold (XAU)' reads as being given credit), 'Order status: Filled', and 'Market value (Indicative)'. The only glossary is the FAQ on the Overview tab — absent from the input, review, detail and sell screens where the jargon actually appears.</a:t>
            </a:r>
          </a:p>
        </p:txBody>
      </p:sp>
      <p:sp>
        <p:nvSpPr>
          <p:cNvPr id="10" name="TextBox 9"/>
          <p:cNvSpPr txBox="1"/>
          <p:nvPr/>
        </p:nvSpPr>
        <p:spPr>
          <a:xfrm>
            <a:off x="7772399" y="2212848"/>
            <a:ext cx="4114800" cy="365760"/>
          </a:xfrm>
          <a:prstGeom prst="rect">
            <a:avLst/>
          </a:prstGeom>
          <a:noFill/>
        </p:spPr>
        <p:txBody>
          <a:bodyPr wrap="square">
            <a:spAutoFit/>
          </a:bodyPr>
          <a:lstStyle/>
          <a:p>
            <a:pPr algn="l">
              <a:defRPr sz="800" b="0">
                <a:solidFill>
                  <a:srgbClr val="6B7280"/>
                </a:solidFill>
                <a:latin typeface="Calibri"/>
              </a:defRPr>
            </a:pPr>
            <a:r>
              <a:t>→ Add inline tooltips/glosses on first use ('troy ounce', 'Filled = completed', define XAU/XAG, clarify Credit/Debit account), and carry FAQ definitions onto transactional screens via progressive disclosure so experts aren't slowed.</a:t>
            </a:r>
          </a:p>
        </p:txBody>
      </p:sp>
      <p:sp>
        <p:nvSpPr>
          <p:cNvPr id="11" name="Oval 10"/>
          <p:cNvSpPr/>
          <p:nvPr/>
        </p:nvSpPr>
        <p:spPr>
          <a:xfrm>
            <a:off x="7498079" y="2697480"/>
            <a:ext cx="201168" cy="201168"/>
          </a:xfrm>
          <a:prstGeom prst="ellipse">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21</a:t>
            </a:r>
          </a:p>
        </p:txBody>
      </p:sp>
      <p:sp>
        <p:nvSpPr>
          <p:cNvPr id="12" name="TextBox 11"/>
          <p:cNvSpPr txBox="1"/>
          <p:nvPr/>
        </p:nvSpPr>
        <p:spPr>
          <a:xfrm>
            <a:off x="7772399" y="2651760"/>
            <a:ext cx="4114800" cy="201168"/>
          </a:xfrm>
          <a:prstGeom prst="rect">
            <a:avLst/>
          </a:prstGeom>
          <a:noFill/>
        </p:spPr>
        <p:txBody>
          <a:bodyPr wrap="square">
            <a:spAutoFit/>
          </a:bodyPr>
          <a:lstStyle/>
          <a:p>
            <a:pPr algn="l">
              <a:defRPr sz="900" b="0">
                <a:solidFill>
                  <a:srgbClr val="CA8A04"/>
                </a:solidFill>
                <a:latin typeface="Calibri"/>
              </a:defRPr>
            </a:pPr>
            <a:r>
              <a:t>[MEDIUM] The trade-detail screen is a dead end (only 'Back'), with no 'Sell this holding', 'Download receipt', or 'Set an alert' — the obvious next actions. The success screen offers only 'Back to overview' and 'View order' with no 'Place another trade', despite this being a repeat-action product.</a:t>
            </a:r>
          </a:p>
        </p:txBody>
      </p:sp>
      <p:sp>
        <p:nvSpPr>
          <p:cNvPr id="13" name="TextBox 12"/>
          <p:cNvSpPr txBox="1"/>
          <p:nvPr/>
        </p:nvSpPr>
        <p:spPr>
          <a:xfrm>
            <a:off x="7772399" y="2852928"/>
            <a:ext cx="4114800" cy="365760"/>
          </a:xfrm>
          <a:prstGeom prst="rect">
            <a:avLst/>
          </a:prstGeom>
          <a:noFill/>
        </p:spPr>
        <p:txBody>
          <a:bodyPr wrap="square">
            <a:spAutoFit/>
          </a:bodyPr>
          <a:lstStyle/>
          <a:p>
            <a:pPr algn="l">
              <a:defRPr sz="800" b="0">
                <a:solidFill>
                  <a:srgbClr val="6B7280"/>
                </a:solidFill>
                <a:latin typeface="Calibri"/>
              </a:defRPr>
            </a:pPr>
            <a:r>
              <a:t>→ Add contextual next-actions on trade detail (sell, download, set alert) and a 'Place another trade' shortcut on success.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7315200" cy="457200"/>
          </a:xfrm>
          <a:prstGeom prst="rect">
            <a:avLst/>
          </a:prstGeom>
          <a:noFill/>
        </p:spPr>
        <p:txBody>
          <a:bodyPr wrap="square">
            <a:spAutoFit/>
          </a:bodyPr>
          <a:lstStyle/>
          <a:p>
            <a:pPr algn="l">
              <a:defRPr sz="2400" b="1">
                <a:solidFill>
                  <a:srgbClr val="1A1A2E"/>
                </a:solidFill>
                <a:latin typeface="Calibri"/>
              </a:defRPr>
            </a:pPr>
            <a:r>
              <a:t>06 Trade History</a:t>
            </a:r>
          </a:p>
        </p:txBody>
      </p:sp>
      <p:pic>
        <p:nvPicPr>
          <p:cNvPr id="3" name="Picture 2" descr="06-trade-history-annotated.png"/>
          <p:cNvPicPr>
            <a:picLocks noChangeAspect="1"/>
          </p:cNvPicPr>
          <p:nvPr/>
        </p:nvPicPr>
        <p:blipFill>
          <a:blip r:embed="rId2"/>
          <a:stretch>
            <a:fillRect/>
          </a:stretch>
        </p:blipFill>
        <p:spPr>
          <a:xfrm>
            <a:off x="274320" y="914400"/>
            <a:ext cx="5932536" cy="5669280"/>
          </a:xfrm>
          <a:prstGeom prst="rect">
            <a:avLst/>
          </a:prstGeom>
        </p:spPr>
      </p:pic>
      <p:sp>
        <p:nvSpPr>
          <p:cNvPr id="4" name="TextBox 3"/>
          <p:cNvSpPr txBox="1"/>
          <p:nvPr/>
        </p:nvSpPr>
        <p:spPr>
          <a:xfrm>
            <a:off x="7498079" y="914400"/>
            <a:ext cx="4389120" cy="365760"/>
          </a:xfrm>
          <a:prstGeom prst="rect">
            <a:avLst/>
          </a:prstGeom>
          <a:noFill/>
        </p:spPr>
        <p:txBody>
          <a:bodyPr wrap="square">
            <a:spAutoFit/>
          </a:bodyPr>
          <a:lstStyle/>
          <a:p>
            <a:pPr algn="l">
              <a:defRPr sz="1200" b="1">
                <a:solidFill>
                  <a:srgbClr val="374151"/>
                </a:solidFill>
                <a:latin typeface="Calibri"/>
              </a:defRPr>
            </a:pPr>
            <a:r>
              <a:t>Findings on this screen:</a:t>
            </a:r>
          </a:p>
        </p:txBody>
      </p:sp>
      <p:sp>
        <p:nvSpPr>
          <p:cNvPr id="5" name="Oval 4"/>
          <p:cNvSpPr/>
          <p:nvPr/>
        </p:nvSpPr>
        <p:spPr>
          <a:xfrm>
            <a:off x="7498079" y="1417320"/>
            <a:ext cx="201168" cy="201168"/>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11</a:t>
            </a:r>
          </a:p>
        </p:txBody>
      </p:sp>
      <p:sp>
        <p:nvSpPr>
          <p:cNvPr id="6" name="TextBox 5"/>
          <p:cNvSpPr txBox="1"/>
          <p:nvPr/>
        </p:nvSpPr>
        <p:spPr>
          <a:xfrm>
            <a:off x="7772399" y="1371600"/>
            <a:ext cx="4114800" cy="201168"/>
          </a:xfrm>
          <a:prstGeom prst="rect">
            <a:avLst/>
          </a:prstGeom>
          <a:noFill/>
        </p:spPr>
        <p:txBody>
          <a:bodyPr wrap="square">
            <a:spAutoFit/>
          </a:bodyPr>
          <a:lstStyle/>
          <a:p>
            <a:pPr algn="l">
              <a:defRPr sz="900" b="0">
                <a:solidFill>
                  <a:srgbClr val="EA580C"/>
                </a:solidFill>
                <a:latin typeface="Calibri"/>
              </a:defRPr>
            </a:pPr>
            <a:r>
              <a:t>[HIGH] Currency context can shift silently. Overview toggles SGD/ounce vs USD/ounce, trade history mixes SGD, USD and EUR rows, and alerts mix SGD/USD. A user can read a price in one currency and transact in another without noticing the unit change.</a:t>
            </a:r>
          </a:p>
        </p:txBody>
      </p:sp>
      <p:sp>
        <p:nvSpPr>
          <p:cNvPr id="7" name="TextBox 6"/>
          <p:cNvSpPr txBox="1"/>
          <p:nvPr/>
        </p:nvSpPr>
        <p:spPr>
          <a:xfrm>
            <a:off x="7772399" y="1572768"/>
            <a:ext cx="4114800" cy="365760"/>
          </a:xfrm>
          <a:prstGeom prst="rect">
            <a:avLst/>
          </a:prstGeom>
          <a:noFill/>
        </p:spPr>
        <p:txBody>
          <a:bodyPr wrap="square">
            <a:spAutoFit/>
          </a:bodyPr>
          <a:lstStyle/>
          <a:p>
            <a:pPr algn="l">
              <a:defRPr sz="800" b="0">
                <a:solidFill>
                  <a:srgbClr val="6B7280"/>
                </a:solidFill>
                <a:latin typeface="Calibri"/>
              </a:defRPr>
            </a:pPr>
            <a:r>
              <a:t>→ Make the active currency a persistent, prominent indicator across all screens; warn on currency switch; align overview, history and alert currencies or label each row's currency unambiguously.</a:t>
            </a:r>
          </a:p>
        </p:txBody>
      </p:sp>
      <p:sp>
        <p:nvSpPr>
          <p:cNvPr id="8" name="Oval 7"/>
          <p:cNvSpPr/>
          <p:nvPr/>
        </p:nvSpPr>
        <p:spPr>
          <a:xfrm>
            <a:off x="7498079" y="2057400"/>
            <a:ext cx="201168" cy="201168"/>
          </a:xfrm>
          <a:prstGeom prst="ellipse">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22</a:t>
            </a:r>
          </a:p>
        </p:txBody>
      </p:sp>
      <p:sp>
        <p:nvSpPr>
          <p:cNvPr id="9" name="TextBox 8"/>
          <p:cNvSpPr txBox="1"/>
          <p:nvPr/>
        </p:nvSpPr>
        <p:spPr>
          <a:xfrm>
            <a:off x="7772399" y="2011680"/>
            <a:ext cx="4114800" cy="201168"/>
          </a:xfrm>
          <a:prstGeom prst="rect">
            <a:avLst/>
          </a:prstGeom>
          <a:noFill/>
        </p:spPr>
        <p:txBody>
          <a:bodyPr wrap="square">
            <a:spAutoFit/>
          </a:bodyPr>
          <a:lstStyle/>
          <a:p>
            <a:pPr algn="l">
              <a:defRPr sz="900" b="0">
                <a:solidFill>
                  <a:srgbClr val="CA8A04"/>
                </a:solidFill>
                <a:latin typeface="Calibri"/>
              </a:defRPr>
            </a:pPr>
            <a:r>
              <a:t>[MEDIUM] Number, unit and account formatting drift across screens: 'ounce' (singular) vs 'ounces'; account numbers as '410-212232-201 - XAU' vs 'XAU-410-212232-201' vs '647561400225-SGD' (no hyphens); unit phrasing 'SGD/ounce' vs 'SGD / ounce'; and the card label 'Holdings details' vs 'Holding details'.</a:t>
            </a:r>
          </a:p>
        </p:txBody>
      </p:sp>
      <p:sp>
        <p:nvSpPr>
          <p:cNvPr id="10" name="TextBox 9"/>
          <p:cNvSpPr txBox="1"/>
          <p:nvPr/>
        </p:nvSpPr>
        <p:spPr>
          <a:xfrm>
            <a:off x="7772399" y="2212848"/>
            <a:ext cx="4114800" cy="365760"/>
          </a:xfrm>
          <a:prstGeom prst="rect">
            <a:avLst/>
          </a:prstGeom>
          <a:noFill/>
        </p:spPr>
        <p:txBody>
          <a:bodyPr wrap="square">
            <a:spAutoFit/>
          </a:bodyPr>
          <a:lstStyle/>
          <a:p>
            <a:pPr algn="l">
              <a:defRPr sz="800" b="0">
                <a:solidFill>
                  <a:srgbClr val="6B7280"/>
                </a:solidFill>
                <a:latin typeface="Calibri"/>
              </a:defRPr>
            </a:pPr>
            <a:r>
              <a:t>→ Define and enforce one formatting standard for currency units, account numbers, pluralisation, and shared labels.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7315200" cy="457200"/>
          </a:xfrm>
          <a:prstGeom prst="rect">
            <a:avLst/>
          </a:prstGeom>
          <a:noFill/>
        </p:spPr>
        <p:txBody>
          <a:bodyPr wrap="square">
            <a:spAutoFit/>
          </a:bodyPr>
          <a:lstStyle/>
          <a:p>
            <a:pPr algn="l">
              <a:defRPr sz="2400" b="1">
                <a:solidFill>
                  <a:srgbClr val="1A1A2E"/>
                </a:solidFill>
                <a:latin typeface="Calibri"/>
              </a:defRPr>
            </a:pPr>
            <a:r>
              <a:t>07 Dashboard Holdings</a:t>
            </a:r>
          </a:p>
        </p:txBody>
      </p:sp>
      <p:pic>
        <p:nvPicPr>
          <p:cNvPr id="3" name="Picture 2" descr="07-dashboard-holdings-annotated.png"/>
          <p:cNvPicPr>
            <a:picLocks noChangeAspect="1"/>
          </p:cNvPicPr>
          <p:nvPr/>
        </p:nvPicPr>
        <p:blipFill>
          <a:blip r:embed="rId2"/>
          <a:stretch>
            <a:fillRect/>
          </a:stretch>
        </p:blipFill>
        <p:spPr>
          <a:xfrm>
            <a:off x="274320" y="914400"/>
            <a:ext cx="5952000" cy="5669280"/>
          </a:xfrm>
          <a:prstGeom prst="rect">
            <a:avLst/>
          </a:prstGeom>
        </p:spPr>
      </p:pic>
      <p:sp>
        <p:nvSpPr>
          <p:cNvPr id="4" name="TextBox 3"/>
          <p:cNvSpPr txBox="1"/>
          <p:nvPr/>
        </p:nvSpPr>
        <p:spPr>
          <a:xfrm>
            <a:off x="7498079" y="914400"/>
            <a:ext cx="4389120" cy="365760"/>
          </a:xfrm>
          <a:prstGeom prst="rect">
            <a:avLst/>
          </a:prstGeom>
          <a:noFill/>
        </p:spPr>
        <p:txBody>
          <a:bodyPr wrap="square">
            <a:spAutoFit/>
          </a:bodyPr>
          <a:lstStyle/>
          <a:p>
            <a:pPr algn="l">
              <a:defRPr sz="1200" b="1">
                <a:solidFill>
                  <a:srgbClr val="374151"/>
                </a:solidFill>
                <a:latin typeface="Calibri"/>
              </a:defRPr>
            </a:pPr>
            <a:r>
              <a:t>Findings on this screen:</a:t>
            </a:r>
          </a:p>
        </p:txBody>
      </p:sp>
      <p:sp>
        <p:nvSpPr>
          <p:cNvPr id="5" name="Oval 4"/>
          <p:cNvSpPr/>
          <p:nvPr/>
        </p:nvSpPr>
        <p:spPr>
          <a:xfrm>
            <a:off x="7498079" y="1417320"/>
            <a:ext cx="201168" cy="201168"/>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13</a:t>
            </a:r>
          </a:p>
        </p:txBody>
      </p:sp>
      <p:sp>
        <p:nvSpPr>
          <p:cNvPr id="6" name="TextBox 5"/>
          <p:cNvSpPr txBox="1"/>
          <p:nvPr/>
        </p:nvSpPr>
        <p:spPr>
          <a:xfrm>
            <a:off x="7772399" y="1371600"/>
            <a:ext cx="4114800" cy="201168"/>
          </a:xfrm>
          <a:prstGeom prst="rect">
            <a:avLst/>
          </a:prstGeom>
          <a:noFill/>
        </p:spPr>
        <p:txBody>
          <a:bodyPr wrap="square">
            <a:spAutoFit/>
          </a:bodyPr>
          <a:lstStyle/>
          <a:p>
            <a:pPr algn="l">
              <a:defRPr sz="900" b="0">
                <a:solidFill>
                  <a:srgbClr val="EA580C"/>
                </a:solidFill>
                <a:latin typeface="Calibri"/>
              </a:defRPr>
            </a:pPr>
            <a:r>
              <a:t>[HIGH] The alert list filter counter and the table disagree: the 'All (5)' pill is shown while the table renders 7 rows with different target prices/dates across the two captured states — a correctness/trust bug.</a:t>
            </a:r>
          </a:p>
        </p:txBody>
      </p:sp>
      <p:sp>
        <p:nvSpPr>
          <p:cNvPr id="7" name="TextBox 6"/>
          <p:cNvSpPr txBox="1"/>
          <p:nvPr/>
        </p:nvSpPr>
        <p:spPr>
          <a:xfrm>
            <a:off x="7772399" y="1572768"/>
            <a:ext cx="4114800" cy="365760"/>
          </a:xfrm>
          <a:prstGeom prst="rect">
            <a:avLst/>
          </a:prstGeom>
          <a:noFill/>
        </p:spPr>
        <p:txBody>
          <a:bodyPr wrap="square">
            <a:spAutoFit/>
          </a:bodyPr>
          <a:lstStyle/>
          <a:p>
            <a:pPr algn="l">
              <a:defRPr sz="800" b="0">
                <a:solidFill>
                  <a:srgbClr val="6B7280"/>
                </a:solidFill>
                <a:latin typeface="Calibri"/>
              </a:defRPr>
            </a:pPr>
            <a:r>
              <a:t>→ Reconcile the filter counts with the rendered rows; treat as a data-integrity defect, not cosmetic.</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7315200" cy="457200"/>
          </a:xfrm>
          <a:prstGeom prst="rect">
            <a:avLst/>
          </a:prstGeom>
          <a:noFill/>
        </p:spPr>
        <p:txBody>
          <a:bodyPr wrap="square">
            <a:spAutoFit/>
          </a:bodyPr>
          <a:lstStyle/>
          <a:p>
            <a:pPr algn="l">
              <a:defRPr sz="2400" b="1">
                <a:solidFill>
                  <a:srgbClr val="1A1A2E"/>
                </a:solidFill>
                <a:latin typeface="Calibri"/>
              </a:defRPr>
            </a:pPr>
            <a:r>
              <a:t>08 Dashboard Default</a:t>
            </a:r>
          </a:p>
        </p:txBody>
      </p:sp>
      <p:pic>
        <p:nvPicPr>
          <p:cNvPr id="3" name="Picture 2" descr="08-dashboard-default-annotated.png"/>
          <p:cNvPicPr>
            <a:picLocks noChangeAspect="1"/>
          </p:cNvPicPr>
          <p:nvPr/>
        </p:nvPicPr>
        <p:blipFill>
          <a:blip r:embed="rId2"/>
          <a:stretch>
            <a:fillRect/>
          </a:stretch>
        </p:blipFill>
        <p:spPr>
          <a:xfrm>
            <a:off x="274320" y="914400"/>
            <a:ext cx="6858000" cy="4856321"/>
          </a:xfrm>
          <a:prstGeom prst="rect">
            <a:avLst/>
          </a:prstGeom>
        </p:spPr>
      </p:pic>
      <p:sp>
        <p:nvSpPr>
          <p:cNvPr id="4" name="TextBox 3"/>
          <p:cNvSpPr txBox="1"/>
          <p:nvPr/>
        </p:nvSpPr>
        <p:spPr>
          <a:xfrm>
            <a:off x="7498079" y="914400"/>
            <a:ext cx="4389120" cy="365760"/>
          </a:xfrm>
          <a:prstGeom prst="rect">
            <a:avLst/>
          </a:prstGeom>
          <a:noFill/>
        </p:spPr>
        <p:txBody>
          <a:bodyPr wrap="square">
            <a:spAutoFit/>
          </a:bodyPr>
          <a:lstStyle/>
          <a:p>
            <a:pPr algn="l">
              <a:defRPr sz="1200" b="1">
                <a:solidFill>
                  <a:srgbClr val="374151"/>
                </a:solidFill>
                <a:latin typeface="Calibri"/>
              </a:defRPr>
            </a:pPr>
            <a:r>
              <a:t>Findings on this screen:</a:t>
            </a:r>
          </a:p>
        </p:txBody>
      </p:sp>
      <p:sp>
        <p:nvSpPr>
          <p:cNvPr id="5" name="Oval 4"/>
          <p:cNvSpPr/>
          <p:nvPr/>
        </p:nvSpPr>
        <p:spPr>
          <a:xfrm>
            <a:off x="7498079" y="1417320"/>
            <a:ext cx="201168" cy="201168"/>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25</a:t>
            </a:r>
          </a:p>
        </p:txBody>
      </p:sp>
      <p:sp>
        <p:nvSpPr>
          <p:cNvPr id="6" name="TextBox 5"/>
          <p:cNvSpPr txBox="1"/>
          <p:nvPr/>
        </p:nvSpPr>
        <p:spPr>
          <a:xfrm>
            <a:off x="7772399" y="1371600"/>
            <a:ext cx="4114800" cy="201168"/>
          </a:xfrm>
          <a:prstGeom prst="rect">
            <a:avLst/>
          </a:prstGeom>
          <a:noFill/>
        </p:spPr>
        <p:txBody>
          <a:bodyPr wrap="square">
            <a:spAutoFit/>
          </a:bodyPr>
          <a:lstStyle/>
          <a:p>
            <a:pPr algn="l">
              <a:defRPr sz="900" b="0">
                <a:solidFill>
                  <a:srgbClr val="16A34A"/>
                </a:solidFill>
                <a:latin typeface="Calibri"/>
              </a:defRPr>
            </a:pPr>
            <a:r>
              <a:t>[LOW] Global chrome drifts across captures: the top nav reads 'FX and Investment' on most screens but 'FX and treasury' on a dashboard variant, and some screens show a Search pill and help '?' icon that others lack. Design-spec frames (error banners, alert input) are also mixed into the product set on peach/grey artboards rather than shown integrated.</a:t>
            </a:r>
          </a:p>
        </p:txBody>
      </p:sp>
      <p:sp>
        <p:nvSpPr>
          <p:cNvPr id="7" name="TextBox 6"/>
          <p:cNvSpPr txBox="1"/>
          <p:nvPr/>
        </p:nvSpPr>
        <p:spPr>
          <a:xfrm>
            <a:off x="7772399" y="1572768"/>
            <a:ext cx="4114800" cy="365760"/>
          </a:xfrm>
          <a:prstGeom prst="rect">
            <a:avLst/>
          </a:prstGeom>
          <a:noFill/>
        </p:spPr>
        <p:txBody>
          <a:bodyPr wrap="square">
            <a:spAutoFit/>
          </a:bodyPr>
          <a:lstStyle/>
          <a:p>
            <a:pPr algn="l">
              <a:defRPr sz="800" b="0">
                <a:solidFill>
                  <a:srgbClr val="6B7280"/>
                </a:solidFill>
                <a:latin typeface="Calibri"/>
              </a:defRPr>
            </a:pPr>
            <a:r>
              <a:t>→ Reconcile to one nav taxonomy and one header chrome; keep spec frames out of the production flow or render error states in-context.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7315200" cy="457200"/>
          </a:xfrm>
          <a:prstGeom prst="rect">
            <a:avLst/>
          </a:prstGeom>
          <a:noFill/>
        </p:spPr>
        <p:txBody>
          <a:bodyPr wrap="square">
            <a:spAutoFit/>
          </a:bodyPr>
          <a:lstStyle/>
          <a:p>
            <a:pPr algn="l">
              <a:defRPr sz="2400" b="1">
                <a:solidFill>
                  <a:srgbClr val="1A1A2E"/>
                </a:solidFill>
                <a:latin typeface="Calibri"/>
              </a:defRPr>
            </a:pPr>
            <a:r>
              <a:t>10 Modal Acknowledgement</a:t>
            </a:r>
          </a:p>
        </p:txBody>
      </p:sp>
      <p:pic>
        <p:nvPicPr>
          <p:cNvPr id="3" name="Picture 2" descr="10-modal-acknowledgement-annotated.png"/>
          <p:cNvPicPr>
            <a:picLocks noChangeAspect="1"/>
          </p:cNvPicPr>
          <p:nvPr/>
        </p:nvPicPr>
        <p:blipFill>
          <a:blip r:embed="rId2"/>
          <a:stretch>
            <a:fillRect/>
          </a:stretch>
        </p:blipFill>
        <p:spPr>
          <a:xfrm>
            <a:off x="274320" y="914400"/>
            <a:ext cx="6858000" cy="4629150"/>
          </a:xfrm>
          <a:prstGeom prst="rect">
            <a:avLst/>
          </a:prstGeom>
        </p:spPr>
      </p:pic>
      <p:sp>
        <p:nvSpPr>
          <p:cNvPr id="4" name="TextBox 3"/>
          <p:cNvSpPr txBox="1"/>
          <p:nvPr/>
        </p:nvSpPr>
        <p:spPr>
          <a:xfrm>
            <a:off x="7498079" y="914400"/>
            <a:ext cx="4389120" cy="365760"/>
          </a:xfrm>
          <a:prstGeom prst="rect">
            <a:avLst/>
          </a:prstGeom>
          <a:noFill/>
        </p:spPr>
        <p:txBody>
          <a:bodyPr wrap="square">
            <a:spAutoFit/>
          </a:bodyPr>
          <a:lstStyle/>
          <a:p>
            <a:pPr algn="l">
              <a:defRPr sz="1200" b="1">
                <a:solidFill>
                  <a:srgbClr val="374151"/>
                </a:solidFill>
                <a:latin typeface="Calibri"/>
              </a:defRPr>
            </a:pPr>
            <a:r>
              <a:t>Findings on this screen:</a:t>
            </a:r>
          </a:p>
        </p:txBody>
      </p:sp>
      <p:sp>
        <p:nvSpPr>
          <p:cNvPr id="5" name="Oval 4"/>
          <p:cNvSpPr/>
          <p:nvPr/>
        </p:nvSpPr>
        <p:spPr>
          <a:xfrm>
            <a:off x="7498079" y="1417320"/>
            <a:ext cx="201168" cy="201168"/>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6</a:t>
            </a:r>
          </a:p>
        </p:txBody>
      </p:sp>
      <p:sp>
        <p:nvSpPr>
          <p:cNvPr id="6" name="TextBox 5"/>
          <p:cNvSpPr txBox="1"/>
          <p:nvPr/>
        </p:nvSpPr>
        <p:spPr>
          <a:xfrm>
            <a:off x="7772399" y="1371600"/>
            <a:ext cx="4114800" cy="201168"/>
          </a:xfrm>
          <a:prstGeom prst="rect">
            <a:avLst/>
          </a:prstGeom>
          <a:noFill/>
        </p:spPr>
        <p:txBody>
          <a:bodyPr wrap="square">
            <a:spAutoFit/>
          </a:bodyPr>
          <a:lstStyle/>
          <a:p>
            <a:pPr algn="l">
              <a:defRPr sz="900" b="0">
                <a:solidFill>
                  <a:srgbClr val="EA580C"/>
                </a:solidFill>
                <a:latin typeface="Calibri"/>
              </a:defRPr>
            </a:pPr>
            <a:r>
              <a:t>[HIGH] Unfilled template artifacts are shipped into customer-facing surfaces: maintenance modal shows '[6:00 AM SGT]' and '[6:00 AM]' bracket tokens (and the two phrasings disagree on timezone); the confirmation email shows 'Dear &lt;Salutation&gt; &lt;Surname&gt;' and a '&lt;Name&gt; / &lt;Designation/rank&gt; / &lt;Department name&gt;' signature plus a stale '© Copyright 2024'; the push notification leaks delimiters '&lt;7,000.00 SGD/ounce&gt;'.</a:t>
            </a:r>
          </a:p>
        </p:txBody>
      </p:sp>
      <p:sp>
        <p:nvSpPr>
          <p:cNvPr id="7" name="TextBox 6"/>
          <p:cNvSpPr txBox="1"/>
          <p:nvPr/>
        </p:nvSpPr>
        <p:spPr>
          <a:xfrm>
            <a:off x="7772399" y="1572768"/>
            <a:ext cx="4114800" cy="365760"/>
          </a:xfrm>
          <a:prstGeom prst="rect">
            <a:avLst/>
          </a:prstGeom>
          <a:noFill/>
        </p:spPr>
        <p:txBody>
          <a:bodyPr wrap="square">
            <a:spAutoFit/>
          </a:bodyPr>
          <a:lstStyle/>
          <a:p>
            <a:pPr algn="l">
              <a:defRPr sz="800" b="0">
                <a:solidFill>
                  <a:srgbClr val="6B7280"/>
                </a:solidFill>
                <a:latin typeface="Calibri"/>
              </a:defRPr>
            </a:pPr>
            <a:r>
              <a:t>→ Purge all merge-field/placeholder tokens, fill the maintenance time dynamically with a single consistent timezone format, and correct the copyright year.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7315200" cy="457200"/>
          </a:xfrm>
          <a:prstGeom prst="rect">
            <a:avLst/>
          </a:prstGeom>
          <a:noFill/>
        </p:spPr>
        <p:txBody>
          <a:bodyPr wrap="square">
            <a:spAutoFit/>
          </a:bodyPr>
          <a:lstStyle/>
          <a:p>
            <a:pPr algn="l">
              <a:defRPr sz="2400" b="1">
                <a:solidFill>
                  <a:srgbClr val="1A1A2E"/>
                </a:solidFill>
                <a:latin typeface="Calibri"/>
              </a:defRPr>
            </a:pPr>
            <a:r>
              <a:t>11 Error Banner Specs</a:t>
            </a:r>
          </a:p>
        </p:txBody>
      </p:sp>
      <p:pic>
        <p:nvPicPr>
          <p:cNvPr id="3" name="Picture 2" descr="11-error-banner-specs-annotated.png"/>
          <p:cNvPicPr>
            <a:picLocks noChangeAspect="1"/>
          </p:cNvPicPr>
          <p:nvPr/>
        </p:nvPicPr>
        <p:blipFill>
          <a:blip r:embed="rId2"/>
          <a:stretch>
            <a:fillRect/>
          </a:stretch>
        </p:blipFill>
        <p:spPr>
          <a:xfrm>
            <a:off x="274320" y="914400"/>
            <a:ext cx="6858000" cy="5492944"/>
          </a:xfrm>
          <a:prstGeom prst="rect">
            <a:avLst/>
          </a:prstGeom>
        </p:spPr>
      </p:pic>
      <p:sp>
        <p:nvSpPr>
          <p:cNvPr id="4" name="TextBox 3"/>
          <p:cNvSpPr txBox="1"/>
          <p:nvPr/>
        </p:nvSpPr>
        <p:spPr>
          <a:xfrm>
            <a:off x="7498079" y="914400"/>
            <a:ext cx="4389120" cy="365760"/>
          </a:xfrm>
          <a:prstGeom prst="rect">
            <a:avLst/>
          </a:prstGeom>
          <a:noFill/>
        </p:spPr>
        <p:txBody>
          <a:bodyPr wrap="square">
            <a:spAutoFit/>
          </a:bodyPr>
          <a:lstStyle/>
          <a:p>
            <a:pPr algn="l">
              <a:defRPr sz="1200" b="1">
                <a:solidFill>
                  <a:srgbClr val="374151"/>
                </a:solidFill>
                <a:latin typeface="Calibri"/>
              </a:defRPr>
            </a:pPr>
            <a:r>
              <a:t>Findings on this screen:</a:t>
            </a:r>
          </a:p>
        </p:txBody>
      </p:sp>
      <p:sp>
        <p:nvSpPr>
          <p:cNvPr id="5" name="Oval 4"/>
          <p:cNvSpPr/>
          <p:nvPr/>
        </p:nvSpPr>
        <p:spPr>
          <a:xfrm>
            <a:off x="7498079" y="1417320"/>
            <a:ext cx="201168" cy="201168"/>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2</a:t>
            </a:r>
          </a:p>
        </p:txBody>
      </p:sp>
      <p:sp>
        <p:nvSpPr>
          <p:cNvPr id="6" name="TextBox 5"/>
          <p:cNvSpPr txBox="1"/>
          <p:nvPr/>
        </p:nvSpPr>
        <p:spPr>
          <a:xfrm>
            <a:off x="7772399" y="1371600"/>
            <a:ext cx="4114800" cy="201168"/>
          </a:xfrm>
          <a:prstGeom prst="rect">
            <a:avLst/>
          </a:prstGeom>
          <a:noFill/>
        </p:spPr>
        <p:txBody>
          <a:bodyPr wrap="square">
            <a:spAutoFit/>
          </a:bodyPr>
          <a:lstStyle/>
          <a:p>
            <a:pPr algn="l">
              <a:defRPr sz="900" b="0">
                <a:solidFill>
                  <a:srgbClr val="DC2626"/>
                </a:solidFill>
                <a:latin typeface="Calibri"/>
              </a:defRPr>
            </a:pPr>
            <a:r>
              <a:t>[CRITICAL] Inline validation and error states exist only as isolated spec frames (insufficient balance, below-minimum, exceed-market-value) and are not rendered on the live Buy/Sell trade screen. No error border, no inline message anchored to a field, and validation timing / CTA-gating cannot be confirmed. For a money-moving flow the on-screen error state is mandatory and appears undesigned/uninstrumented.</a:t>
            </a:r>
          </a:p>
        </p:txBody>
      </p:sp>
      <p:sp>
        <p:nvSpPr>
          <p:cNvPr id="7" name="TextBox 6"/>
          <p:cNvSpPr txBox="1"/>
          <p:nvPr/>
        </p:nvSpPr>
        <p:spPr>
          <a:xfrm>
            <a:off x="7772399" y="1572768"/>
            <a:ext cx="4114800" cy="365760"/>
          </a:xfrm>
          <a:prstGeom prst="rect">
            <a:avLst/>
          </a:prstGeom>
          <a:noFill/>
        </p:spPr>
        <p:txBody>
          <a:bodyPr wrap="square">
            <a:spAutoFit/>
          </a:bodyPr>
          <a:lstStyle/>
          <a:p>
            <a:pPr algn="l">
              <a:defRPr sz="800" b="0">
                <a:solidFill>
                  <a:srgbClr val="6B7280"/>
                </a:solidFill>
                <a:latin typeface="Calibri"/>
              </a:defRPr>
            </a:pPr>
            <a:r>
              <a:t>→ Integrate the spec'd error/warning states into the actual trade screen with field-anchored inline messages, on-blur validation, and a CTA that gates with a stated reason. Specify hover/focus/active/loading states too.</a:t>
            </a:r>
          </a:p>
        </p:txBody>
      </p:sp>
      <p:sp>
        <p:nvSpPr>
          <p:cNvPr id="8" name="Oval 7"/>
          <p:cNvSpPr/>
          <p:nvPr/>
        </p:nvSpPr>
        <p:spPr>
          <a:xfrm>
            <a:off x="7498079" y="2057400"/>
            <a:ext cx="201168" cy="201168"/>
          </a:xfrm>
          <a:prstGeom prst="ellipse">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19</a:t>
            </a:r>
          </a:p>
        </p:txBody>
      </p:sp>
      <p:sp>
        <p:nvSpPr>
          <p:cNvPr id="9" name="TextBox 8"/>
          <p:cNvSpPr txBox="1"/>
          <p:nvPr/>
        </p:nvSpPr>
        <p:spPr>
          <a:xfrm>
            <a:off x="7772399" y="2011680"/>
            <a:ext cx="4114800" cy="201168"/>
          </a:xfrm>
          <a:prstGeom prst="rect">
            <a:avLst/>
          </a:prstGeom>
          <a:noFill/>
        </p:spPr>
        <p:txBody>
          <a:bodyPr wrap="square">
            <a:spAutoFit/>
          </a:bodyPr>
          <a:lstStyle/>
          <a:p>
            <a:pPr algn="l">
              <a:defRPr sz="900" b="0">
                <a:solidFill>
                  <a:srgbClr val="CA8A04"/>
                </a:solidFill>
                <a:latin typeface="Calibri"/>
              </a:defRPr>
            </a:pPr>
            <a:r>
              <a:t>[MEDIUM] Blocking errors (e.g. 'Insufficient balance') and soft warnings share an identical amber/triangle treatment, with no visual distinction between a hard block and a caution. Three banner variants also coexist (tight field banner, large padded container banner, and a page-level banner with a close ×).</a:t>
            </a:r>
          </a:p>
        </p:txBody>
      </p:sp>
      <p:sp>
        <p:nvSpPr>
          <p:cNvPr id="10" name="TextBox 9"/>
          <p:cNvSpPr txBox="1"/>
          <p:nvPr/>
        </p:nvSpPr>
        <p:spPr>
          <a:xfrm>
            <a:off x="7772399" y="2212848"/>
            <a:ext cx="4114800" cy="365760"/>
          </a:xfrm>
          <a:prstGeom prst="rect">
            <a:avLst/>
          </a:prstGeom>
          <a:noFill/>
        </p:spPr>
        <p:txBody>
          <a:bodyPr wrap="square">
            <a:spAutoFit/>
          </a:bodyPr>
          <a:lstStyle/>
          <a:p>
            <a:pPr algn="l">
              <a:defRPr sz="800" b="0">
                <a:solidFill>
                  <a:srgbClr val="6B7280"/>
                </a:solidFill>
                <a:latin typeface="Calibri"/>
              </a:defRPr>
            </a:pPr>
            <a:r>
              <a:t>→ Introduce distinct error vs warning styles (colour/icon) and consolidate to one banner component with size variants.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7315200" cy="457200"/>
          </a:xfrm>
          <a:prstGeom prst="rect">
            <a:avLst/>
          </a:prstGeom>
          <a:noFill/>
        </p:spPr>
        <p:txBody>
          <a:bodyPr wrap="square">
            <a:spAutoFit/>
          </a:bodyPr>
          <a:lstStyle/>
          <a:p>
            <a:pPr algn="l">
              <a:defRPr sz="2400" b="1">
                <a:solidFill>
                  <a:srgbClr val="1A1A2E"/>
                </a:solidFill>
                <a:latin typeface="Calibri"/>
              </a:defRPr>
            </a:pPr>
            <a:r>
              <a:t>12 Push Noti Rate Reached</a:t>
            </a:r>
          </a:p>
        </p:txBody>
      </p:sp>
      <p:pic>
        <p:nvPicPr>
          <p:cNvPr id="3" name="Picture 2" descr="12-push-noti-rate-reached-annotated.png"/>
          <p:cNvPicPr>
            <a:picLocks noChangeAspect="1"/>
          </p:cNvPicPr>
          <p:nvPr/>
        </p:nvPicPr>
        <p:blipFill>
          <a:blip r:embed="rId2"/>
          <a:stretch>
            <a:fillRect/>
          </a:stretch>
        </p:blipFill>
        <p:spPr>
          <a:xfrm>
            <a:off x="274320" y="914400"/>
            <a:ext cx="2449285" cy="5669280"/>
          </a:xfrm>
          <a:prstGeom prst="rect">
            <a:avLst/>
          </a:prstGeom>
        </p:spPr>
      </p:pic>
      <p:sp>
        <p:nvSpPr>
          <p:cNvPr id="4" name="TextBox 3"/>
          <p:cNvSpPr txBox="1"/>
          <p:nvPr/>
        </p:nvSpPr>
        <p:spPr>
          <a:xfrm>
            <a:off x="7498079" y="914400"/>
            <a:ext cx="4389120" cy="365760"/>
          </a:xfrm>
          <a:prstGeom prst="rect">
            <a:avLst/>
          </a:prstGeom>
          <a:noFill/>
        </p:spPr>
        <p:txBody>
          <a:bodyPr wrap="square">
            <a:spAutoFit/>
          </a:bodyPr>
          <a:lstStyle/>
          <a:p>
            <a:pPr algn="l">
              <a:defRPr sz="1200" b="1">
                <a:solidFill>
                  <a:srgbClr val="374151"/>
                </a:solidFill>
                <a:latin typeface="Calibri"/>
              </a:defRPr>
            </a:pPr>
            <a:r>
              <a:t>Findings on this screen:</a:t>
            </a:r>
          </a:p>
        </p:txBody>
      </p:sp>
      <p:sp>
        <p:nvSpPr>
          <p:cNvPr id="5" name="Oval 4"/>
          <p:cNvSpPr/>
          <p:nvPr/>
        </p:nvSpPr>
        <p:spPr>
          <a:xfrm>
            <a:off x="7498079" y="1417320"/>
            <a:ext cx="201168" cy="201168"/>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6</a:t>
            </a:r>
          </a:p>
        </p:txBody>
      </p:sp>
      <p:sp>
        <p:nvSpPr>
          <p:cNvPr id="6" name="TextBox 5"/>
          <p:cNvSpPr txBox="1"/>
          <p:nvPr/>
        </p:nvSpPr>
        <p:spPr>
          <a:xfrm>
            <a:off x="7772399" y="1371600"/>
            <a:ext cx="4114800" cy="201168"/>
          </a:xfrm>
          <a:prstGeom prst="rect">
            <a:avLst/>
          </a:prstGeom>
          <a:noFill/>
        </p:spPr>
        <p:txBody>
          <a:bodyPr wrap="square">
            <a:spAutoFit/>
          </a:bodyPr>
          <a:lstStyle/>
          <a:p>
            <a:pPr algn="l">
              <a:defRPr sz="900" b="0">
                <a:solidFill>
                  <a:srgbClr val="EA580C"/>
                </a:solidFill>
                <a:latin typeface="Calibri"/>
              </a:defRPr>
            </a:pPr>
            <a:r>
              <a:t>[HIGH] Unfilled template artifacts are shipped into customer-facing surfaces: maintenance modal shows '[6:00 AM SGT]' and '[6:00 AM]' bracket tokens (and the two phrasings disagree on timezone); the confirmation email shows 'Dear &lt;Salutation&gt; &lt;Surname&gt;' and a '&lt;Name&gt; / &lt;Designation/rank&gt; / &lt;Department name&gt;' signature plus a stale '© Copyright 2024'; the push notification leaks delimiters '&lt;7,000.00 SGD/ounce&gt;'.</a:t>
            </a:r>
          </a:p>
        </p:txBody>
      </p:sp>
      <p:sp>
        <p:nvSpPr>
          <p:cNvPr id="7" name="TextBox 6"/>
          <p:cNvSpPr txBox="1"/>
          <p:nvPr/>
        </p:nvSpPr>
        <p:spPr>
          <a:xfrm>
            <a:off x="7772399" y="1572768"/>
            <a:ext cx="4114800" cy="365760"/>
          </a:xfrm>
          <a:prstGeom prst="rect">
            <a:avLst/>
          </a:prstGeom>
          <a:noFill/>
        </p:spPr>
        <p:txBody>
          <a:bodyPr wrap="square">
            <a:spAutoFit/>
          </a:bodyPr>
          <a:lstStyle/>
          <a:p>
            <a:pPr algn="l">
              <a:defRPr sz="800" b="0">
                <a:solidFill>
                  <a:srgbClr val="6B7280"/>
                </a:solidFill>
                <a:latin typeface="Calibri"/>
              </a:defRPr>
            </a:pPr>
            <a:r>
              <a:t>→ Purge all merge-field/placeholder tokens, fill the maintenance time dynamically with a single consistent timezone format, and correct the copyright year.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7315200" cy="457200"/>
          </a:xfrm>
          <a:prstGeom prst="rect">
            <a:avLst/>
          </a:prstGeom>
          <a:noFill/>
        </p:spPr>
        <p:txBody>
          <a:bodyPr wrap="square">
            <a:spAutoFit/>
          </a:bodyPr>
          <a:lstStyle/>
          <a:p>
            <a:pPr algn="l">
              <a:defRPr sz="2400" b="1">
                <a:solidFill>
                  <a:srgbClr val="1A1A2E"/>
                </a:solidFill>
                <a:latin typeface="Calibri"/>
              </a:defRPr>
            </a:pPr>
            <a:r>
              <a:t>13 Email Noti</a:t>
            </a:r>
          </a:p>
        </p:txBody>
      </p:sp>
      <p:pic>
        <p:nvPicPr>
          <p:cNvPr id="3" name="Picture 2" descr="13-email-noti-annotated.png"/>
          <p:cNvPicPr>
            <a:picLocks noChangeAspect="1"/>
          </p:cNvPicPr>
          <p:nvPr/>
        </p:nvPicPr>
        <p:blipFill>
          <a:blip r:embed="rId2"/>
          <a:stretch>
            <a:fillRect/>
          </a:stretch>
        </p:blipFill>
        <p:spPr>
          <a:xfrm>
            <a:off x="274320" y="914400"/>
            <a:ext cx="3168658" cy="5669280"/>
          </a:xfrm>
          <a:prstGeom prst="rect">
            <a:avLst/>
          </a:prstGeom>
        </p:spPr>
      </p:pic>
      <p:sp>
        <p:nvSpPr>
          <p:cNvPr id="4" name="TextBox 3"/>
          <p:cNvSpPr txBox="1"/>
          <p:nvPr/>
        </p:nvSpPr>
        <p:spPr>
          <a:xfrm>
            <a:off x="7498079" y="914400"/>
            <a:ext cx="4389120" cy="365760"/>
          </a:xfrm>
          <a:prstGeom prst="rect">
            <a:avLst/>
          </a:prstGeom>
          <a:noFill/>
        </p:spPr>
        <p:txBody>
          <a:bodyPr wrap="square">
            <a:spAutoFit/>
          </a:bodyPr>
          <a:lstStyle/>
          <a:p>
            <a:pPr algn="l">
              <a:defRPr sz="1200" b="1">
                <a:solidFill>
                  <a:srgbClr val="374151"/>
                </a:solidFill>
                <a:latin typeface="Calibri"/>
              </a:defRPr>
            </a:pPr>
            <a:r>
              <a:t>Findings on this screen:</a:t>
            </a:r>
          </a:p>
        </p:txBody>
      </p:sp>
      <p:sp>
        <p:nvSpPr>
          <p:cNvPr id="5" name="Oval 4"/>
          <p:cNvSpPr/>
          <p:nvPr/>
        </p:nvSpPr>
        <p:spPr>
          <a:xfrm>
            <a:off x="7498079" y="1417320"/>
            <a:ext cx="201168" cy="201168"/>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6</a:t>
            </a:r>
          </a:p>
        </p:txBody>
      </p:sp>
      <p:sp>
        <p:nvSpPr>
          <p:cNvPr id="6" name="TextBox 5"/>
          <p:cNvSpPr txBox="1"/>
          <p:nvPr/>
        </p:nvSpPr>
        <p:spPr>
          <a:xfrm>
            <a:off x="7772399" y="1371600"/>
            <a:ext cx="4114800" cy="201168"/>
          </a:xfrm>
          <a:prstGeom prst="rect">
            <a:avLst/>
          </a:prstGeom>
          <a:noFill/>
        </p:spPr>
        <p:txBody>
          <a:bodyPr wrap="square">
            <a:spAutoFit/>
          </a:bodyPr>
          <a:lstStyle/>
          <a:p>
            <a:pPr algn="l">
              <a:defRPr sz="900" b="0">
                <a:solidFill>
                  <a:srgbClr val="EA580C"/>
                </a:solidFill>
                <a:latin typeface="Calibri"/>
              </a:defRPr>
            </a:pPr>
            <a:r>
              <a:t>[HIGH] Unfilled template artifacts are shipped into customer-facing surfaces: maintenance modal shows '[6:00 AM SGT]' and '[6:00 AM]' bracket tokens (and the two phrasings disagree on timezone); the confirmation email shows 'Dear &lt;Salutation&gt; &lt;Surname&gt;' and a '&lt;Name&gt; / &lt;Designation/rank&gt; / &lt;Department name&gt;' signature plus a stale '© Copyright 2024'; the push notification leaks delimiters '&lt;7,000.00 SGD/ounce&gt;'.</a:t>
            </a:r>
          </a:p>
        </p:txBody>
      </p:sp>
      <p:sp>
        <p:nvSpPr>
          <p:cNvPr id="7" name="TextBox 6"/>
          <p:cNvSpPr txBox="1"/>
          <p:nvPr/>
        </p:nvSpPr>
        <p:spPr>
          <a:xfrm>
            <a:off x="7772399" y="1572768"/>
            <a:ext cx="4114800" cy="365760"/>
          </a:xfrm>
          <a:prstGeom prst="rect">
            <a:avLst/>
          </a:prstGeom>
          <a:noFill/>
        </p:spPr>
        <p:txBody>
          <a:bodyPr wrap="square">
            <a:spAutoFit/>
          </a:bodyPr>
          <a:lstStyle/>
          <a:p>
            <a:pPr algn="l">
              <a:defRPr sz="800" b="0">
                <a:solidFill>
                  <a:srgbClr val="6B7280"/>
                </a:solidFill>
                <a:latin typeface="Calibri"/>
              </a:defRPr>
            </a:pPr>
            <a:r>
              <a:t>→ Purge all merge-field/placeholder tokens, fill the maintenance time dynamically with a single consistent timezone format, and correct the copyright year.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7315200" cy="457200"/>
          </a:xfrm>
          <a:prstGeom prst="rect">
            <a:avLst/>
          </a:prstGeom>
          <a:noFill/>
        </p:spPr>
        <p:txBody>
          <a:bodyPr wrap="square">
            <a:spAutoFit/>
          </a:bodyPr>
          <a:lstStyle/>
          <a:p>
            <a:pPr algn="l">
              <a:defRPr sz="2400" b="1">
                <a:solidFill>
                  <a:srgbClr val="1A1A2E"/>
                </a:solidFill>
                <a:latin typeface="Calibri"/>
              </a:defRPr>
            </a:pPr>
            <a:r>
              <a:t>15 Terms And Conditions</a:t>
            </a:r>
          </a:p>
        </p:txBody>
      </p:sp>
      <p:pic>
        <p:nvPicPr>
          <p:cNvPr id="3" name="Picture 2" descr="15-terms-and-conditions-annotated.png"/>
          <p:cNvPicPr>
            <a:picLocks noChangeAspect="1"/>
          </p:cNvPicPr>
          <p:nvPr/>
        </p:nvPicPr>
        <p:blipFill>
          <a:blip r:embed="rId2"/>
          <a:stretch>
            <a:fillRect/>
          </a:stretch>
        </p:blipFill>
        <p:spPr>
          <a:xfrm>
            <a:off x="274320" y="914400"/>
            <a:ext cx="6858000" cy="4907756"/>
          </a:xfrm>
          <a:prstGeom prst="rect">
            <a:avLst/>
          </a:prstGeom>
        </p:spPr>
      </p:pic>
      <p:sp>
        <p:nvSpPr>
          <p:cNvPr id="4" name="TextBox 3"/>
          <p:cNvSpPr txBox="1"/>
          <p:nvPr/>
        </p:nvSpPr>
        <p:spPr>
          <a:xfrm>
            <a:off x="7498079" y="914400"/>
            <a:ext cx="4389120" cy="365760"/>
          </a:xfrm>
          <a:prstGeom prst="rect">
            <a:avLst/>
          </a:prstGeom>
          <a:noFill/>
        </p:spPr>
        <p:txBody>
          <a:bodyPr wrap="square">
            <a:spAutoFit/>
          </a:bodyPr>
          <a:lstStyle/>
          <a:p>
            <a:pPr algn="l">
              <a:defRPr sz="1200" b="1">
                <a:solidFill>
                  <a:srgbClr val="374151"/>
                </a:solidFill>
                <a:latin typeface="Calibri"/>
              </a:defRPr>
            </a:pPr>
            <a:r>
              <a:t>Findings on this screen:</a:t>
            </a:r>
          </a:p>
        </p:txBody>
      </p:sp>
      <p:sp>
        <p:nvSpPr>
          <p:cNvPr id="5" name="Oval 4"/>
          <p:cNvSpPr/>
          <p:nvPr/>
        </p:nvSpPr>
        <p:spPr>
          <a:xfrm>
            <a:off x="7498079" y="1417320"/>
            <a:ext cx="201168" cy="201168"/>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1</a:t>
            </a:r>
          </a:p>
        </p:txBody>
      </p:sp>
      <p:sp>
        <p:nvSpPr>
          <p:cNvPr id="6" name="TextBox 5"/>
          <p:cNvSpPr txBox="1"/>
          <p:nvPr/>
        </p:nvSpPr>
        <p:spPr>
          <a:xfrm>
            <a:off x="7772399" y="1371600"/>
            <a:ext cx="4114800" cy="201168"/>
          </a:xfrm>
          <a:prstGeom prst="rect">
            <a:avLst/>
          </a:prstGeom>
          <a:noFill/>
        </p:spPr>
        <p:txBody>
          <a:bodyPr wrap="square">
            <a:spAutoFit/>
          </a:bodyPr>
          <a:lstStyle/>
          <a:p>
            <a:pPr algn="l">
              <a:defRPr sz="900" b="0">
                <a:solidFill>
                  <a:srgbClr val="DC2626"/>
                </a:solidFill>
                <a:latin typeface="Calibri"/>
              </a:defRPr>
            </a:pPr>
            <a:r>
              <a:t>[CRITICAL] No investment-risk disclosure, Key Fact Sheet, or suitability check anywhere in the buy flow. The only risk-related artifact before commitment is a liability declaration on Review. The first-time T&amp;C modal lists four agreements by title only ('Platform T&amp;Cs', 'Precious Metal Account T&amp;Cs', 'Investment Module T&amp;Cs', 'Business Account Board Reso T&amp;Cs') with no openable documents, yet requires the user to click 'Agree'.</a:t>
            </a:r>
          </a:p>
        </p:txBody>
      </p:sp>
      <p:sp>
        <p:nvSpPr>
          <p:cNvPr id="7" name="TextBox 6"/>
          <p:cNvSpPr txBox="1"/>
          <p:nvPr/>
        </p:nvSpPr>
        <p:spPr>
          <a:xfrm>
            <a:off x="7772399" y="1572768"/>
            <a:ext cx="4114800" cy="365760"/>
          </a:xfrm>
          <a:prstGeom prst="rect">
            <a:avLst/>
          </a:prstGeom>
          <a:noFill/>
        </p:spPr>
        <p:txBody>
          <a:bodyPr wrap="square">
            <a:spAutoFit/>
          </a:bodyPr>
          <a:lstStyle/>
          <a:p>
            <a:pPr algn="l">
              <a:defRPr sz="800" b="0">
                <a:solidFill>
                  <a:srgbClr val="6B7280"/>
                </a:solidFill>
                <a:latin typeface="Calibri"/>
              </a:defRPr>
            </a:pPr>
            <a:r>
              <a:t>→ Add a dedicated risk-disclosure step before 'Confirm buy order': a Key Fact Sheet / risk-warning statement with an explicit 'I understand precious-metal values can fall' acknowledgement, and make the four T&amp;Cs in the modal openable (links or expandable text). Separate liability declaration (protects bank) from risk disclosure (protects customer).</a:t>
            </a:r>
          </a:p>
        </p:txBody>
      </p:sp>
      <p:sp>
        <p:nvSpPr>
          <p:cNvPr id="8" name="Oval 7"/>
          <p:cNvSpPr/>
          <p:nvPr/>
        </p:nvSpPr>
        <p:spPr>
          <a:xfrm>
            <a:off x="7498079" y="2057400"/>
            <a:ext cx="201168" cy="201168"/>
          </a:xfrm>
          <a:prstGeom prst="ellipse">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18</a:t>
            </a:r>
          </a:p>
        </p:txBody>
      </p:sp>
      <p:sp>
        <p:nvSpPr>
          <p:cNvPr id="9" name="TextBox 8"/>
          <p:cNvSpPr txBox="1"/>
          <p:nvPr/>
        </p:nvSpPr>
        <p:spPr>
          <a:xfrm>
            <a:off x="7772399" y="2011680"/>
            <a:ext cx="4114800" cy="201168"/>
          </a:xfrm>
          <a:prstGeom prst="rect">
            <a:avLst/>
          </a:prstGeom>
          <a:noFill/>
        </p:spPr>
        <p:txBody>
          <a:bodyPr wrap="square">
            <a:spAutoFit/>
          </a:bodyPr>
          <a:lstStyle/>
          <a:p>
            <a:pPr algn="l">
              <a:defRPr sz="900" b="0">
                <a:solidFill>
                  <a:srgbClr val="CA8A04"/>
                </a:solidFill>
                <a:latin typeface="Calibri"/>
              </a:defRPr>
            </a:pPr>
            <a:r>
              <a:t>[MEDIUM] Account creation is messaged twice and inconsistently: the buy input says 'New Gold (XAU) Account will be created with your order', while a separate first-time modal says 'a Gold (XAU) account will be created for you' — leaving it unclear when the account is actually opened.</a:t>
            </a:r>
          </a:p>
        </p:txBody>
      </p:sp>
      <p:sp>
        <p:nvSpPr>
          <p:cNvPr id="10" name="TextBox 9"/>
          <p:cNvSpPr txBox="1"/>
          <p:nvPr/>
        </p:nvSpPr>
        <p:spPr>
          <a:xfrm>
            <a:off x="7772399" y="2212848"/>
            <a:ext cx="4114800" cy="365760"/>
          </a:xfrm>
          <a:prstGeom prst="rect">
            <a:avLst/>
          </a:prstGeom>
          <a:noFill/>
        </p:spPr>
        <p:txBody>
          <a:bodyPr wrap="square">
            <a:spAutoFit/>
          </a:bodyPr>
          <a:lstStyle/>
          <a:p>
            <a:pPr algn="l">
              <a:defRPr sz="800" b="0">
                <a:solidFill>
                  <a:srgbClr val="6B7280"/>
                </a:solidFill>
                <a:latin typeface="Calibri"/>
              </a:defRPr>
            </a:pPr>
            <a:r>
              <a:t>→ Use one clear, consistent account-creation message at a single, well-defined point in the flow.</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7315200" cy="457200"/>
          </a:xfrm>
          <a:prstGeom prst="rect">
            <a:avLst/>
          </a:prstGeom>
          <a:noFill/>
        </p:spPr>
        <p:txBody>
          <a:bodyPr wrap="square">
            <a:spAutoFit/>
          </a:bodyPr>
          <a:lstStyle/>
          <a:p>
            <a:pPr algn="l">
              <a:defRPr sz="2400" b="1">
                <a:solidFill>
                  <a:srgbClr val="1A1A2E"/>
                </a:solidFill>
                <a:latin typeface="Calibri"/>
              </a:defRPr>
            </a:pPr>
            <a:r>
              <a:t>16 Confirmation Success</a:t>
            </a:r>
          </a:p>
        </p:txBody>
      </p:sp>
      <p:pic>
        <p:nvPicPr>
          <p:cNvPr id="3" name="Picture 2" descr="16-confirmation-success-annotated.png"/>
          <p:cNvPicPr>
            <a:picLocks noChangeAspect="1"/>
          </p:cNvPicPr>
          <p:nvPr/>
        </p:nvPicPr>
        <p:blipFill>
          <a:blip r:embed="rId2"/>
          <a:stretch>
            <a:fillRect/>
          </a:stretch>
        </p:blipFill>
        <p:spPr>
          <a:xfrm>
            <a:off x="274320" y="914400"/>
            <a:ext cx="6858000" cy="5020124"/>
          </a:xfrm>
          <a:prstGeom prst="rect">
            <a:avLst/>
          </a:prstGeom>
        </p:spPr>
      </p:pic>
      <p:sp>
        <p:nvSpPr>
          <p:cNvPr id="4" name="TextBox 3"/>
          <p:cNvSpPr txBox="1"/>
          <p:nvPr/>
        </p:nvSpPr>
        <p:spPr>
          <a:xfrm>
            <a:off x="7498079" y="914400"/>
            <a:ext cx="4389120" cy="365760"/>
          </a:xfrm>
          <a:prstGeom prst="rect">
            <a:avLst/>
          </a:prstGeom>
          <a:noFill/>
        </p:spPr>
        <p:txBody>
          <a:bodyPr wrap="square">
            <a:spAutoFit/>
          </a:bodyPr>
          <a:lstStyle/>
          <a:p>
            <a:pPr algn="l">
              <a:defRPr sz="1200" b="1">
                <a:solidFill>
                  <a:srgbClr val="374151"/>
                </a:solidFill>
                <a:latin typeface="Calibri"/>
              </a:defRPr>
            </a:pPr>
            <a:r>
              <a:t>Findings on this screen:</a:t>
            </a:r>
          </a:p>
        </p:txBody>
      </p:sp>
      <p:sp>
        <p:nvSpPr>
          <p:cNvPr id="5" name="Oval 4"/>
          <p:cNvSpPr/>
          <p:nvPr/>
        </p:nvSpPr>
        <p:spPr>
          <a:xfrm>
            <a:off x="7498079" y="1417320"/>
            <a:ext cx="201168" cy="201168"/>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8</a:t>
            </a:r>
          </a:p>
        </p:txBody>
      </p:sp>
      <p:sp>
        <p:nvSpPr>
          <p:cNvPr id="6" name="TextBox 5"/>
          <p:cNvSpPr txBox="1"/>
          <p:nvPr/>
        </p:nvSpPr>
        <p:spPr>
          <a:xfrm>
            <a:off x="7772399" y="1371600"/>
            <a:ext cx="4114800" cy="201168"/>
          </a:xfrm>
          <a:prstGeom prst="rect">
            <a:avLst/>
          </a:prstGeom>
          <a:noFill/>
        </p:spPr>
        <p:txBody>
          <a:bodyPr wrap="square">
            <a:spAutoFit/>
          </a:bodyPr>
          <a:lstStyle/>
          <a:p>
            <a:pPr algn="l">
              <a:defRPr sz="900" b="0">
                <a:solidFill>
                  <a:srgbClr val="EA580C"/>
                </a:solidFill>
                <a:latin typeface="Calibri"/>
              </a:defRPr>
            </a:pPr>
            <a:r>
              <a:t>[HIGH] No loading/processing state exists between 'Confirm buy order' and the success screen. Order submission, price lock, and account creation all involve latency, but there is no spinner, skeleton, or 'Submitting order…' state — risking double submission and user uncertainty at the most critical moment.</a:t>
            </a:r>
          </a:p>
        </p:txBody>
      </p:sp>
      <p:sp>
        <p:nvSpPr>
          <p:cNvPr id="7" name="TextBox 6"/>
          <p:cNvSpPr txBox="1"/>
          <p:nvPr/>
        </p:nvSpPr>
        <p:spPr>
          <a:xfrm>
            <a:off x="7772399" y="1572768"/>
            <a:ext cx="4114800" cy="365760"/>
          </a:xfrm>
          <a:prstGeom prst="rect">
            <a:avLst/>
          </a:prstGeom>
          <a:noFill/>
        </p:spPr>
        <p:txBody>
          <a:bodyPr wrap="square">
            <a:spAutoFit/>
          </a:bodyPr>
          <a:lstStyle/>
          <a:p>
            <a:pPr algn="l">
              <a:defRPr sz="800" b="0">
                <a:solidFill>
                  <a:srgbClr val="6B7280"/>
                </a:solidFill>
                <a:latin typeface="Calibri"/>
              </a:defRPr>
            </a:pPr>
            <a:r>
              <a:t>→ Add an explicit processing state that disables the button, shows progress, and prevents resubmission until the server responds.</a:t>
            </a:r>
          </a:p>
        </p:txBody>
      </p:sp>
      <p:sp>
        <p:nvSpPr>
          <p:cNvPr id="8" name="Oval 7"/>
          <p:cNvSpPr/>
          <p:nvPr/>
        </p:nvSpPr>
        <p:spPr>
          <a:xfrm>
            <a:off x="7498079" y="2057400"/>
            <a:ext cx="201168" cy="201168"/>
          </a:xfrm>
          <a:prstGeom prst="ellipse">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24</a:t>
            </a:r>
          </a:p>
        </p:txBody>
      </p:sp>
      <p:sp>
        <p:nvSpPr>
          <p:cNvPr id="9" name="TextBox 8"/>
          <p:cNvSpPr txBox="1"/>
          <p:nvPr/>
        </p:nvSpPr>
        <p:spPr>
          <a:xfrm>
            <a:off x="7772399" y="2011680"/>
            <a:ext cx="4114800" cy="201168"/>
          </a:xfrm>
          <a:prstGeom prst="rect">
            <a:avLst/>
          </a:prstGeom>
          <a:noFill/>
        </p:spPr>
        <p:txBody>
          <a:bodyPr wrap="square">
            <a:spAutoFit/>
          </a:bodyPr>
          <a:lstStyle/>
          <a:p>
            <a:pPr algn="l">
              <a:defRPr sz="900" b="0">
                <a:solidFill>
                  <a:srgbClr val="CA8A04"/>
                </a:solidFill>
                <a:latin typeface="Calibri"/>
              </a:defRPr>
            </a:pPr>
            <a:r>
              <a:t>[MEDIUM] The primary-button system is not systematised: slate-grey is the de-facto primary while OCBC red is never used for a primary action; the same 'Back' action appears as a blue text-link on the success screen but an outlined button on trade-detail and review. Two near-identical confirmation screens also use different backgrounds (grey page + white card vs white page, no card).</a:t>
            </a:r>
          </a:p>
        </p:txBody>
      </p:sp>
      <p:sp>
        <p:nvSpPr>
          <p:cNvPr id="10" name="TextBox 9"/>
          <p:cNvSpPr txBox="1"/>
          <p:nvPr/>
        </p:nvSpPr>
        <p:spPr>
          <a:xfrm>
            <a:off x="7772399" y="2212848"/>
            <a:ext cx="4114800" cy="365760"/>
          </a:xfrm>
          <a:prstGeom prst="rect">
            <a:avLst/>
          </a:prstGeom>
          <a:noFill/>
        </p:spPr>
        <p:txBody>
          <a:bodyPr wrap="square">
            <a:spAutoFit/>
          </a:bodyPr>
          <a:lstStyle/>
          <a:p>
            <a:pPr algn="l">
              <a:defRPr sz="800" b="0">
                <a:solidFill>
                  <a:srgbClr val="6B7280"/>
                </a:solidFill>
                <a:latin typeface="Calibri"/>
              </a:defRPr>
            </a:pPr>
            <a:r>
              <a:t>→ Define one primary, one secondary, and one tertiary button treatment and apply consistently; unify the two confirmation layouts.</a:t>
            </a:r>
          </a:p>
        </p:txBody>
      </p:sp>
      <p:sp>
        <p:nvSpPr>
          <p:cNvPr id="11" name="Oval 10"/>
          <p:cNvSpPr/>
          <p:nvPr/>
        </p:nvSpPr>
        <p:spPr>
          <a:xfrm>
            <a:off x="7498079" y="2697480"/>
            <a:ext cx="201168" cy="201168"/>
          </a:xfrm>
          <a:prstGeom prst="ellipse">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21</a:t>
            </a:r>
          </a:p>
        </p:txBody>
      </p:sp>
      <p:sp>
        <p:nvSpPr>
          <p:cNvPr id="12" name="TextBox 11"/>
          <p:cNvSpPr txBox="1"/>
          <p:nvPr/>
        </p:nvSpPr>
        <p:spPr>
          <a:xfrm>
            <a:off x="7772399" y="2651760"/>
            <a:ext cx="4114800" cy="201168"/>
          </a:xfrm>
          <a:prstGeom prst="rect">
            <a:avLst/>
          </a:prstGeom>
          <a:noFill/>
        </p:spPr>
        <p:txBody>
          <a:bodyPr wrap="square">
            <a:spAutoFit/>
          </a:bodyPr>
          <a:lstStyle/>
          <a:p>
            <a:pPr algn="l">
              <a:defRPr sz="900" b="0">
                <a:solidFill>
                  <a:srgbClr val="CA8A04"/>
                </a:solidFill>
                <a:latin typeface="Calibri"/>
              </a:defRPr>
            </a:pPr>
            <a:r>
              <a:t>[MEDIUM] The trade-detail screen is a dead end (only 'Back'), with no 'Sell this holding', 'Download receipt', or 'Set an alert' — the obvious next actions. The success screen offers only 'Back to overview' and 'View order' with no 'Place another trade', despite this being a repeat-action product.</a:t>
            </a:r>
          </a:p>
        </p:txBody>
      </p:sp>
      <p:sp>
        <p:nvSpPr>
          <p:cNvPr id="13" name="TextBox 12"/>
          <p:cNvSpPr txBox="1"/>
          <p:nvPr/>
        </p:nvSpPr>
        <p:spPr>
          <a:xfrm>
            <a:off x="7772399" y="2852928"/>
            <a:ext cx="4114800" cy="365760"/>
          </a:xfrm>
          <a:prstGeom prst="rect">
            <a:avLst/>
          </a:prstGeom>
          <a:noFill/>
        </p:spPr>
        <p:txBody>
          <a:bodyPr wrap="square">
            <a:spAutoFit/>
          </a:bodyPr>
          <a:lstStyle/>
          <a:p>
            <a:pPr algn="l">
              <a:defRPr sz="800" b="0">
                <a:solidFill>
                  <a:srgbClr val="6B7280"/>
                </a:solidFill>
                <a:latin typeface="Calibri"/>
              </a:defRPr>
            </a:pPr>
            <a:r>
              <a:t>→ Add contextual next-actions on trade detail (sell, download, set alert) and a 'Place another trade' shortcut on success.</a:t>
            </a:r>
          </a:p>
        </p:txBody>
      </p:sp>
      <p:sp>
        <p:nvSpPr>
          <p:cNvPr id="14" name="Oval 13"/>
          <p:cNvSpPr/>
          <p:nvPr/>
        </p:nvSpPr>
        <p:spPr>
          <a:xfrm>
            <a:off x="7498079" y="3337560"/>
            <a:ext cx="201168" cy="201168"/>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26</a:t>
            </a:r>
          </a:p>
        </p:txBody>
      </p:sp>
      <p:sp>
        <p:nvSpPr>
          <p:cNvPr id="15" name="TextBox 14"/>
          <p:cNvSpPr txBox="1"/>
          <p:nvPr/>
        </p:nvSpPr>
        <p:spPr>
          <a:xfrm>
            <a:off x="7772399" y="3291840"/>
            <a:ext cx="4114800" cy="201168"/>
          </a:xfrm>
          <a:prstGeom prst="rect">
            <a:avLst/>
          </a:prstGeom>
          <a:noFill/>
        </p:spPr>
        <p:txBody>
          <a:bodyPr wrap="square">
            <a:spAutoFit/>
          </a:bodyPr>
          <a:lstStyle/>
          <a:p>
            <a:pPr algn="l">
              <a:defRPr sz="900" b="0">
                <a:solidFill>
                  <a:srgbClr val="16A34A"/>
                </a:solidFill>
                <a:latin typeface="Calibri"/>
              </a:defRPr>
            </a:pPr>
            <a:r>
              <a:t>[LOW] On the success screen the confirming sentence ('Buy order for Gold (XAU) has been filled successfully') is set in lighter mid-grey, smaller than the figures beneath it; the green check carries all the visual weight. The most important message on a success screen should be its strongest text element.</a:t>
            </a:r>
          </a:p>
        </p:txBody>
      </p:sp>
      <p:sp>
        <p:nvSpPr>
          <p:cNvPr id="16" name="TextBox 15"/>
          <p:cNvSpPr txBox="1"/>
          <p:nvPr/>
        </p:nvSpPr>
        <p:spPr>
          <a:xfrm>
            <a:off x="7772399" y="3493008"/>
            <a:ext cx="4114800" cy="365760"/>
          </a:xfrm>
          <a:prstGeom prst="rect">
            <a:avLst/>
          </a:prstGeom>
          <a:noFill/>
        </p:spPr>
        <p:txBody>
          <a:bodyPr wrap="square">
            <a:spAutoFit/>
          </a:bodyPr>
          <a:lstStyle/>
          <a:p>
            <a:pPr algn="l">
              <a:defRPr sz="800" b="0">
                <a:solidFill>
                  <a:srgbClr val="6B7280"/>
                </a:solidFill>
                <a:latin typeface="Calibri"/>
              </a:defRPr>
            </a:pPr>
            <a:r>
              <a:t>→ Promote the success sentence to the strongest text on the screen (size/weight/contrast).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7315200" cy="457200"/>
          </a:xfrm>
          <a:prstGeom prst="rect">
            <a:avLst/>
          </a:prstGeom>
          <a:noFill/>
        </p:spPr>
        <p:txBody>
          <a:bodyPr wrap="square">
            <a:spAutoFit/>
          </a:bodyPr>
          <a:lstStyle/>
          <a:p>
            <a:pPr algn="l">
              <a:defRPr sz="2400" b="1">
                <a:solidFill>
                  <a:srgbClr val="1A1A2E"/>
                </a:solidFill>
                <a:latin typeface="Calibri"/>
              </a:defRPr>
            </a:pPr>
            <a:r>
              <a:t>18 Buy Input Filled</a:t>
            </a:r>
          </a:p>
        </p:txBody>
      </p:sp>
      <p:pic>
        <p:nvPicPr>
          <p:cNvPr id="3" name="Picture 2" descr="18-buy-input-filled-annotated.png"/>
          <p:cNvPicPr>
            <a:picLocks noChangeAspect="1"/>
          </p:cNvPicPr>
          <p:nvPr/>
        </p:nvPicPr>
        <p:blipFill>
          <a:blip r:embed="rId2"/>
          <a:stretch>
            <a:fillRect/>
          </a:stretch>
        </p:blipFill>
        <p:spPr>
          <a:xfrm>
            <a:off x="274320" y="914400"/>
            <a:ext cx="6669741" cy="5669280"/>
          </a:xfrm>
          <a:prstGeom prst="rect">
            <a:avLst/>
          </a:prstGeom>
        </p:spPr>
      </p:pic>
      <p:sp>
        <p:nvSpPr>
          <p:cNvPr id="4" name="TextBox 3"/>
          <p:cNvSpPr txBox="1"/>
          <p:nvPr/>
        </p:nvSpPr>
        <p:spPr>
          <a:xfrm>
            <a:off x="7498079" y="914400"/>
            <a:ext cx="4389120" cy="365760"/>
          </a:xfrm>
          <a:prstGeom prst="rect">
            <a:avLst/>
          </a:prstGeom>
          <a:noFill/>
        </p:spPr>
        <p:txBody>
          <a:bodyPr wrap="square">
            <a:spAutoFit/>
          </a:bodyPr>
          <a:lstStyle/>
          <a:p>
            <a:pPr algn="l">
              <a:defRPr sz="1200" b="1">
                <a:solidFill>
                  <a:srgbClr val="374151"/>
                </a:solidFill>
                <a:latin typeface="Calibri"/>
              </a:defRPr>
            </a:pPr>
            <a:r>
              <a:t>Findings on this screen:</a:t>
            </a:r>
          </a:p>
        </p:txBody>
      </p:sp>
      <p:sp>
        <p:nvSpPr>
          <p:cNvPr id="5" name="Oval 4"/>
          <p:cNvSpPr/>
          <p:nvPr/>
        </p:nvSpPr>
        <p:spPr>
          <a:xfrm>
            <a:off x="7498079" y="1417320"/>
            <a:ext cx="201168" cy="201168"/>
          </a:xfrm>
          <a:prstGeom prst="ellipse">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18</a:t>
            </a:r>
          </a:p>
        </p:txBody>
      </p:sp>
      <p:sp>
        <p:nvSpPr>
          <p:cNvPr id="6" name="TextBox 5"/>
          <p:cNvSpPr txBox="1"/>
          <p:nvPr/>
        </p:nvSpPr>
        <p:spPr>
          <a:xfrm>
            <a:off x="7772399" y="1371600"/>
            <a:ext cx="4114800" cy="201168"/>
          </a:xfrm>
          <a:prstGeom prst="rect">
            <a:avLst/>
          </a:prstGeom>
          <a:noFill/>
        </p:spPr>
        <p:txBody>
          <a:bodyPr wrap="square">
            <a:spAutoFit/>
          </a:bodyPr>
          <a:lstStyle/>
          <a:p>
            <a:pPr algn="l">
              <a:defRPr sz="900" b="0">
                <a:solidFill>
                  <a:srgbClr val="CA8A04"/>
                </a:solidFill>
                <a:latin typeface="Calibri"/>
              </a:defRPr>
            </a:pPr>
            <a:r>
              <a:t>[MEDIUM] Account creation is messaged twice and inconsistently: the buy input says 'New Gold (XAU) Account will be created with your order', while a separate first-time modal says 'a Gold (XAU) account will be created for you' — leaving it unclear when the account is actually opened.</a:t>
            </a:r>
          </a:p>
        </p:txBody>
      </p:sp>
      <p:sp>
        <p:nvSpPr>
          <p:cNvPr id="7" name="TextBox 6"/>
          <p:cNvSpPr txBox="1"/>
          <p:nvPr/>
        </p:nvSpPr>
        <p:spPr>
          <a:xfrm>
            <a:off x="7772399" y="1572768"/>
            <a:ext cx="4114800" cy="365760"/>
          </a:xfrm>
          <a:prstGeom prst="rect">
            <a:avLst/>
          </a:prstGeom>
          <a:noFill/>
        </p:spPr>
        <p:txBody>
          <a:bodyPr wrap="square">
            <a:spAutoFit/>
          </a:bodyPr>
          <a:lstStyle/>
          <a:p>
            <a:pPr algn="l">
              <a:defRPr sz="800" b="0">
                <a:solidFill>
                  <a:srgbClr val="6B7280"/>
                </a:solidFill>
                <a:latin typeface="Calibri"/>
              </a:defRPr>
            </a:pPr>
            <a:r>
              <a:t>→ Use one clear, consistent account-creation message at a single, well-defined point in the flow.</a:t>
            </a:r>
          </a:p>
        </p:txBody>
      </p:sp>
      <p:sp>
        <p:nvSpPr>
          <p:cNvPr id="8" name="Oval 7"/>
          <p:cNvSpPr/>
          <p:nvPr/>
        </p:nvSpPr>
        <p:spPr>
          <a:xfrm>
            <a:off x="7498079" y="2057400"/>
            <a:ext cx="201168" cy="201168"/>
          </a:xfrm>
          <a:prstGeom prst="ellipse">
            <a:avLst/>
          </a:prstGeom>
          <a:solidFill>
            <a:srgbClr val="CA8A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20</a:t>
            </a:r>
          </a:p>
        </p:txBody>
      </p:sp>
      <p:sp>
        <p:nvSpPr>
          <p:cNvPr id="9" name="TextBox 8"/>
          <p:cNvSpPr txBox="1"/>
          <p:nvPr/>
        </p:nvSpPr>
        <p:spPr>
          <a:xfrm>
            <a:off x="7772399" y="2011680"/>
            <a:ext cx="4114800" cy="201168"/>
          </a:xfrm>
          <a:prstGeom prst="rect">
            <a:avLst/>
          </a:prstGeom>
          <a:noFill/>
        </p:spPr>
        <p:txBody>
          <a:bodyPr wrap="square">
            <a:spAutoFit/>
          </a:bodyPr>
          <a:lstStyle/>
          <a:p>
            <a:pPr algn="l">
              <a:defRPr sz="900" b="0">
                <a:solidFill>
                  <a:srgbClr val="CA8A04"/>
                </a:solidFill>
                <a:latin typeface="Calibri"/>
              </a:defRPr>
            </a:pPr>
            <a:r>
              <a:t>[MEDIUM] Field labels and helper text ('Investment amount', 'Quantity to buy', 'Minimum 24.59 SGD') are light grey inset on light-grey fills, with borderline contrast likely failing WCAG AA at ~11px. The empty-state '0.00' is rendered in the same dark weight a real value would use, so a placeholder is indistinguishable from an actual entered zero.</a:t>
            </a:r>
          </a:p>
        </p:txBody>
      </p:sp>
      <p:sp>
        <p:nvSpPr>
          <p:cNvPr id="10" name="TextBox 9"/>
          <p:cNvSpPr txBox="1"/>
          <p:nvPr/>
        </p:nvSpPr>
        <p:spPr>
          <a:xfrm>
            <a:off x="7772399" y="2212848"/>
            <a:ext cx="4114800" cy="365760"/>
          </a:xfrm>
          <a:prstGeom prst="rect">
            <a:avLst/>
          </a:prstGeom>
          <a:noFill/>
        </p:spPr>
        <p:txBody>
          <a:bodyPr wrap="square">
            <a:spAutoFit/>
          </a:bodyPr>
          <a:lstStyle/>
          <a:p>
            <a:pPr algn="l">
              <a:defRPr sz="800" b="0">
                <a:solidFill>
                  <a:srgbClr val="6B7280"/>
                </a:solidFill>
                <a:latin typeface="Calibri"/>
              </a:defRPr>
            </a:pPr>
            <a:r>
              <a:t>→ Raise label/helper contrast to AA and visually distinguish placeholder from entered values (lighter placeholder, clear focus/filled states).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7315200" cy="457200"/>
          </a:xfrm>
          <a:prstGeom prst="rect">
            <a:avLst/>
          </a:prstGeom>
          <a:noFill/>
        </p:spPr>
        <p:txBody>
          <a:bodyPr wrap="square">
            <a:spAutoFit/>
          </a:bodyPr>
          <a:lstStyle/>
          <a:p>
            <a:pPr algn="l">
              <a:defRPr sz="2400" b="1">
                <a:solidFill>
                  <a:srgbClr val="1A1A2E"/>
                </a:solidFill>
                <a:latin typeface="Calibri"/>
              </a:defRPr>
            </a:pPr>
            <a:r>
              <a:t>19 Sell Trade Input</a:t>
            </a:r>
          </a:p>
        </p:txBody>
      </p:sp>
      <p:pic>
        <p:nvPicPr>
          <p:cNvPr id="3" name="Picture 2" descr="19-sell-trade-input-annotated.png"/>
          <p:cNvPicPr>
            <a:picLocks noChangeAspect="1"/>
          </p:cNvPicPr>
          <p:nvPr/>
        </p:nvPicPr>
        <p:blipFill>
          <a:blip r:embed="rId2"/>
          <a:stretch>
            <a:fillRect/>
          </a:stretch>
        </p:blipFill>
        <p:spPr>
          <a:xfrm>
            <a:off x="274320" y="914400"/>
            <a:ext cx="5882521" cy="5669280"/>
          </a:xfrm>
          <a:prstGeom prst="rect">
            <a:avLst/>
          </a:prstGeom>
        </p:spPr>
      </p:pic>
      <p:sp>
        <p:nvSpPr>
          <p:cNvPr id="4" name="TextBox 3"/>
          <p:cNvSpPr txBox="1"/>
          <p:nvPr/>
        </p:nvSpPr>
        <p:spPr>
          <a:xfrm>
            <a:off x="7498079" y="914400"/>
            <a:ext cx="4389120" cy="365760"/>
          </a:xfrm>
          <a:prstGeom prst="rect">
            <a:avLst/>
          </a:prstGeom>
          <a:noFill/>
        </p:spPr>
        <p:txBody>
          <a:bodyPr wrap="square">
            <a:spAutoFit/>
          </a:bodyPr>
          <a:lstStyle/>
          <a:p>
            <a:pPr algn="l">
              <a:defRPr sz="1200" b="1">
                <a:solidFill>
                  <a:srgbClr val="374151"/>
                </a:solidFill>
                <a:latin typeface="Calibri"/>
              </a:defRPr>
            </a:pPr>
            <a:r>
              <a:t>Findings on this screen:</a:t>
            </a:r>
          </a:p>
        </p:txBody>
      </p:sp>
      <p:sp>
        <p:nvSpPr>
          <p:cNvPr id="5" name="Oval 4"/>
          <p:cNvSpPr/>
          <p:nvPr/>
        </p:nvSpPr>
        <p:spPr>
          <a:xfrm>
            <a:off x="7498079" y="1417320"/>
            <a:ext cx="201168" cy="201168"/>
          </a:xfrm>
          <a:prstGeom prst="ellipse">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700" b="1">
                <a:solidFill>
                  <a:srgbClr val="FFFFFF"/>
                </a:solidFill>
              </a:defRPr>
            </a:pPr>
            <a:r>
              <a:t>10</a:t>
            </a:r>
          </a:p>
        </p:txBody>
      </p:sp>
      <p:sp>
        <p:nvSpPr>
          <p:cNvPr id="6" name="TextBox 5"/>
          <p:cNvSpPr txBox="1"/>
          <p:nvPr/>
        </p:nvSpPr>
        <p:spPr>
          <a:xfrm>
            <a:off x="7772399" y="1371600"/>
            <a:ext cx="4114800" cy="201168"/>
          </a:xfrm>
          <a:prstGeom prst="rect">
            <a:avLst/>
          </a:prstGeom>
          <a:noFill/>
        </p:spPr>
        <p:txBody>
          <a:bodyPr wrap="square">
            <a:spAutoFit/>
          </a:bodyPr>
          <a:lstStyle/>
          <a:p>
            <a:pPr algn="l">
              <a:defRPr sz="900" b="0">
                <a:solidFill>
                  <a:srgbClr val="EA580C"/>
                </a:solidFill>
                <a:latin typeface="Calibri"/>
              </a:defRPr>
            </a:pPr>
            <a:r>
              <a:t>[HIGH] Buy/Sell is differentiated almost entirely by colour (green Buy / red Sell pill) with no icon, arrow, or shape redundancy, and gain/loss values on the Holding-details card rely on green/red with only a weak '+/-' sign. Brand red is simultaneously used for OCBC branding, the Sell state, and loss values — so the most saturated red on the Sell screen is the toggle, not the primary action.</a:t>
            </a:r>
          </a:p>
        </p:txBody>
      </p:sp>
      <p:sp>
        <p:nvSpPr>
          <p:cNvPr id="7" name="TextBox 6"/>
          <p:cNvSpPr txBox="1"/>
          <p:nvPr/>
        </p:nvSpPr>
        <p:spPr>
          <a:xfrm>
            <a:off x="7772399" y="1572768"/>
            <a:ext cx="4114800" cy="365760"/>
          </a:xfrm>
          <a:prstGeom prst="rect">
            <a:avLst/>
          </a:prstGeom>
          <a:noFill/>
        </p:spPr>
        <p:txBody>
          <a:bodyPr wrap="square">
            <a:spAutoFit/>
          </a:bodyPr>
          <a:lstStyle/>
          <a:p>
            <a:pPr algn="l">
              <a:defRPr sz="800" b="0">
                <a:solidFill>
                  <a:srgbClr val="6B7280"/>
                </a:solidFill>
                <a:latin typeface="Calibri"/>
              </a:defRPr>
            </a:pPr>
            <a:r>
              <a:t>→ Add non-colour redundancy (directional icons/labels) to Buy/Sell and gain/loss everywhere, and decide a single meaning for red (brand vs action vs sell) so the primary CTA reads unambiguously.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058400" cy="548640"/>
          </a:xfrm>
          <a:prstGeom prst="rect">
            <a:avLst/>
          </a:prstGeom>
          <a:noFill/>
        </p:spPr>
        <p:txBody>
          <a:bodyPr wrap="square">
            <a:spAutoFit/>
          </a:bodyPr>
          <a:lstStyle/>
          <a:p>
            <a:pPr algn="l">
              <a:defRPr sz="2800" b="1">
                <a:solidFill>
                  <a:srgbClr val="1A1A2E"/>
                </a:solidFill>
                <a:latin typeface="Calibri"/>
              </a:defRPr>
            </a:pPr>
            <a:r>
              <a:t>Top 5 Priority Recommendations</a:t>
            </a:r>
          </a:p>
        </p:txBody>
      </p:sp>
      <p:sp>
        <p:nvSpPr>
          <p:cNvPr id="3" name="Rounded Rectangle 2"/>
          <p:cNvSpPr/>
          <p:nvPr/>
        </p:nvSpPr>
        <p:spPr>
          <a:xfrm>
            <a:off x="731520" y="1188720"/>
            <a:ext cx="10515600" cy="914400"/>
          </a:xfrm>
          <a:prstGeom prst="roundRect">
            <a:avLst>
              <a:gd name="adj" fmla="val 2000"/>
            </a:avLst>
          </a:prstGeom>
          <a:solidFill>
            <a:srgbClr val="F0F4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14400" y="1325880"/>
            <a:ext cx="365760" cy="365760"/>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1</a:t>
            </a:r>
          </a:p>
        </p:txBody>
      </p:sp>
      <p:sp>
        <p:nvSpPr>
          <p:cNvPr id="5" name="TextBox 4"/>
          <p:cNvSpPr txBox="1"/>
          <p:nvPr/>
        </p:nvSpPr>
        <p:spPr>
          <a:xfrm>
            <a:off x="1463040" y="1280160"/>
            <a:ext cx="7315200" cy="320040"/>
          </a:xfrm>
          <a:prstGeom prst="rect">
            <a:avLst/>
          </a:prstGeom>
          <a:noFill/>
        </p:spPr>
        <p:txBody>
          <a:bodyPr wrap="square">
            <a:spAutoFit/>
          </a:bodyPr>
          <a:lstStyle/>
          <a:p>
            <a:pPr algn="l">
              <a:defRPr sz="1400" b="1">
                <a:solidFill>
                  <a:srgbClr val="1E40AF"/>
                </a:solidFill>
                <a:latin typeface="Calibri"/>
              </a:defRPr>
            </a:pPr>
            <a:r>
              <a:t>Add a compliant risk-disclosure step before "Confirm buy order"</a:t>
            </a:r>
          </a:p>
        </p:txBody>
      </p:sp>
      <p:sp>
        <p:nvSpPr>
          <p:cNvPr id="6" name="TextBox 5"/>
          <p:cNvSpPr txBox="1"/>
          <p:nvPr/>
        </p:nvSpPr>
        <p:spPr>
          <a:xfrm>
            <a:off x="1463040" y="1600200"/>
            <a:ext cx="7772400" cy="457200"/>
          </a:xfrm>
          <a:prstGeom prst="rect">
            <a:avLst/>
          </a:prstGeom>
          <a:noFill/>
        </p:spPr>
        <p:txBody>
          <a:bodyPr wrap="square">
            <a:spAutoFit/>
          </a:bodyPr>
          <a:lstStyle/>
          <a:p>
            <a:pPr algn="l">
              <a:defRPr sz="1000" b="0">
                <a:solidFill>
                  <a:srgbClr val="374151"/>
                </a:solidFill>
                <a:latin typeface="Calibri"/>
              </a:defRPr>
            </a:pPr>
            <a:r>
              <a:t>What to fix: Insert a Key Fact Sheet / risk-warning statement with an explicit "I understand precious-metal values can fall" acknowledgement, and make the four agreements in the T&amp;C modal genuinely openable (links or expandable text). Separate the customer-facing risk disclosure from the bank's liability declaration. (Resolves #1, #4, #5, #12.) | Why it matters: For a regulated investment product this is the single biggest gap — currently a customer commits a five-figure order with no risk disclosure and agrees to documents they cannot read. It is both a user-protection and a regulatory exposure. | How to fix it: A dedicated step (or expandable panel) before confirm: concise plain-language risks + openable versioned KFS/T&amp;Cs + a required checkbox. Log acknowledgement against the order reference.</a:t>
            </a:r>
          </a:p>
        </p:txBody>
      </p:sp>
      <p:sp>
        <p:nvSpPr>
          <p:cNvPr id="7" name="TextBox 6"/>
          <p:cNvSpPr txBox="1"/>
          <p:nvPr/>
        </p:nvSpPr>
        <p:spPr>
          <a:xfrm>
            <a:off x="9601200" y="1325880"/>
            <a:ext cx="1371600" cy="274320"/>
          </a:xfrm>
          <a:prstGeom prst="rect">
            <a:avLst/>
          </a:prstGeom>
          <a:noFill/>
        </p:spPr>
        <p:txBody>
          <a:bodyPr wrap="square">
            <a:spAutoFit/>
          </a:bodyPr>
          <a:lstStyle/>
          <a:p>
            <a:pPr algn="r">
              <a:defRPr sz="1000" b="1">
                <a:solidFill>
                  <a:srgbClr val="991B1B"/>
                </a:solidFill>
                <a:latin typeface="Calibri"/>
              </a:defRPr>
            </a:pPr>
            <a:r>
              <a:t>Large Effort</a:t>
            </a:r>
          </a:p>
        </p:txBody>
      </p:sp>
      <p:sp>
        <p:nvSpPr>
          <p:cNvPr id="8" name="Rounded Rectangle 7"/>
          <p:cNvSpPr/>
          <p:nvPr/>
        </p:nvSpPr>
        <p:spPr>
          <a:xfrm>
            <a:off x="731520" y="2212848"/>
            <a:ext cx="10515600" cy="914400"/>
          </a:xfrm>
          <a:prstGeom prst="roundRect">
            <a:avLst>
              <a:gd name="adj" fmla="val 2000"/>
            </a:avLst>
          </a:prstGeom>
          <a:solidFill>
            <a:srgbClr val="F0F4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2350008"/>
            <a:ext cx="365760" cy="365760"/>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2</a:t>
            </a:r>
          </a:p>
        </p:txBody>
      </p:sp>
      <p:sp>
        <p:nvSpPr>
          <p:cNvPr id="10" name="TextBox 9"/>
          <p:cNvSpPr txBox="1"/>
          <p:nvPr/>
        </p:nvSpPr>
        <p:spPr>
          <a:xfrm>
            <a:off x="1463040" y="2304288"/>
            <a:ext cx="7315200" cy="320040"/>
          </a:xfrm>
          <a:prstGeom prst="rect">
            <a:avLst/>
          </a:prstGeom>
          <a:noFill/>
        </p:spPr>
        <p:txBody>
          <a:bodyPr wrap="square">
            <a:spAutoFit/>
          </a:bodyPr>
          <a:lstStyle/>
          <a:p>
            <a:pPr algn="l">
              <a:defRPr sz="1400" b="1">
                <a:solidFill>
                  <a:srgbClr val="1E40AF"/>
                </a:solidFill>
                <a:latin typeface="Calibri"/>
              </a:defRPr>
            </a:pPr>
            <a:r>
              <a:t>Make price honesty explicit — indicative vs execution, and freshness</a:t>
            </a:r>
          </a:p>
        </p:txBody>
      </p:sp>
      <p:sp>
        <p:nvSpPr>
          <p:cNvPr id="11" name="TextBox 10"/>
          <p:cNvSpPr txBox="1"/>
          <p:nvPr/>
        </p:nvSpPr>
        <p:spPr>
          <a:xfrm>
            <a:off x="1463040" y="2624328"/>
            <a:ext cx="7772400" cy="457200"/>
          </a:xfrm>
          <a:prstGeom prst="rect">
            <a:avLst/>
          </a:prstGeom>
          <a:noFill/>
        </p:spPr>
        <p:txBody>
          <a:bodyPr wrap="square">
            <a:spAutoFit/>
          </a:bodyPr>
          <a:lstStyle/>
          <a:p>
            <a:pPr algn="l">
              <a:defRPr sz="1000" b="0">
                <a:solidFill>
                  <a:srgbClr val="374151"/>
                </a:solidFill>
                <a:latin typeface="Calibri"/>
              </a:defRPr>
            </a:pPr>
            <a:r>
              <a:t>What to fix: Add an "Indicative price" tooltip and an execution caveat at input and review ("Final price is set at execution and may differ from the indicative price shown"); show the executed price prominently on confirmation; reconcile the conflicting timestamps and add an auto-refresh with a visible countdown/refresh control. (Resolves #3, #7.) | Why it matters: The displayed price silently differs from the charged price and freshness is contradictory — a novice perceives bait-and-switch and an expert cannot trust the quote. | How to fix it: Tooltip component + a live price ticker with "updated Xs ago / refresh" and an expiry on the quote used at confirm.</a:t>
            </a:r>
          </a:p>
        </p:txBody>
      </p:sp>
      <p:sp>
        <p:nvSpPr>
          <p:cNvPr id="12" name="TextBox 11"/>
          <p:cNvSpPr txBox="1"/>
          <p:nvPr/>
        </p:nvSpPr>
        <p:spPr>
          <a:xfrm>
            <a:off x="9601200" y="2350008"/>
            <a:ext cx="1371600" cy="274320"/>
          </a:xfrm>
          <a:prstGeom prst="rect">
            <a:avLst/>
          </a:prstGeom>
          <a:noFill/>
        </p:spPr>
        <p:txBody>
          <a:bodyPr wrap="square">
            <a:spAutoFit/>
          </a:bodyPr>
          <a:lstStyle/>
          <a:p>
            <a:pPr algn="r">
              <a:defRPr sz="1000" b="1">
                <a:solidFill>
                  <a:srgbClr val="166534"/>
                </a:solidFill>
                <a:latin typeface="Calibri"/>
              </a:defRPr>
            </a:pPr>
            <a:r>
              <a:t>Quick Win (copy/tooltip) + Medium Lift (live refresh)</a:t>
            </a:r>
          </a:p>
        </p:txBody>
      </p:sp>
      <p:sp>
        <p:nvSpPr>
          <p:cNvPr id="13" name="Rounded Rectangle 12"/>
          <p:cNvSpPr/>
          <p:nvPr/>
        </p:nvSpPr>
        <p:spPr>
          <a:xfrm>
            <a:off x="731520" y="3236976"/>
            <a:ext cx="10515600" cy="914400"/>
          </a:xfrm>
          <a:prstGeom prst="roundRect">
            <a:avLst>
              <a:gd name="adj" fmla="val 2000"/>
            </a:avLst>
          </a:prstGeom>
          <a:solidFill>
            <a:srgbClr val="F0F4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3374136"/>
            <a:ext cx="365760" cy="365760"/>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3</a:t>
            </a:r>
          </a:p>
        </p:txBody>
      </p:sp>
      <p:sp>
        <p:nvSpPr>
          <p:cNvPr id="15" name="TextBox 14"/>
          <p:cNvSpPr txBox="1"/>
          <p:nvPr/>
        </p:nvSpPr>
        <p:spPr>
          <a:xfrm>
            <a:off x="1463040" y="3328416"/>
            <a:ext cx="7315200" cy="320040"/>
          </a:xfrm>
          <a:prstGeom prst="rect">
            <a:avLst/>
          </a:prstGeom>
          <a:noFill/>
        </p:spPr>
        <p:txBody>
          <a:bodyPr wrap="square">
            <a:spAutoFit/>
          </a:bodyPr>
          <a:lstStyle/>
          <a:p>
            <a:pPr algn="l">
              <a:defRPr sz="1400" b="1">
                <a:solidFill>
                  <a:srgbClr val="1E40AF"/>
                </a:solidFill>
                <a:latin typeface="Calibri"/>
              </a:defRPr>
            </a:pPr>
            <a:r>
              <a:t>Purge all template artifacts and add the missing submit/loading states</a:t>
            </a:r>
          </a:p>
        </p:txBody>
      </p:sp>
      <p:sp>
        <p:nvSpPr>
          <p:cNvPr id="16" name="TextBox 15"/>
          <p:cNvSpPr txBox="1"/>
          <p:nvPr/>
        </p:nvSpPr>
        <p:spPr>
          <a:xfrm>
            <a:off x="1463040" y="3648456"/>
            <a:ext cx="7772400" cy="457200"/>
          </a:xfrm>
          <a:prstGeom prst="rect">
            <a:avLst/>
          </a:prstGeom>
          <a:noFill/>
        </p:spPr>
        <p:txBody>
          <a:bodyPr wrap="square">
            <a:spAutoFit/>
          </a:bodyPr>
          <a:lstStyle/>
          <a:p>
            <a:pPr algn="l">
              <a:defRPr sz="1000" b="0">
                <a:solidFill>
                  <a:srgbClr val="374151"/>
                </a:solidFill>
                <a:latin typeface="Calibri"/>
              </a:defRPr>
            </a:pPr>
            <a:r>
              <a:t>What to fix: Strip/fill every leaked token (`[6:00 AM SGT]`, `&lt;Salutation&gt; &lt;Surname&gt;`, `&lt;Name&gt;/&lt;Designation&gt;/&lt;Department&gt;`, `&lt;7,000.00 SGD/ounce&gt;`), fix "© 2024", and add an explicit processing state between Confirm and success that disables the button and prevents resubmission. (Resolves #6, #8.) | Why it matters: Shipped placeholders read as broken on a bank; the missing loading state risks double-submitting a real order. Both are high-ROI trust fixes. | How to fix it: Wire merge fields to data with safe fallbacks; add a submitting/pending state with optimistic disable + server confirmation.</a:t>
            </a:r>
          </a:p>
        </p:txBody>
      </p:sp>
      <p:sp>
        <p:nvSpPr>
          <p:cNvPr id="17" name="TextBox 16"/>
          <p:cNvSpPr txBox="1"/>
          <p:nvPr/>
        </p:nvSpPr>
        <p:spPr>
          <a:xfrm>
            <a:off x="9601200" y="3374136"/>
            <a:ext cx="1371600" cy="274320"/>
          </a:xfrm>
          <a:prstGeom prst="rect">
            <a:avLst/>
          </a:prstGeom>
          <a:noFill/>
        </p:spPr>
        <p:txBody>
          <a:bodyPr wrap="square">
            <a:spAutoFit/>
          </a:bodyPr>
          <a:lstStyle/>
          <a:p>
            <a:pPr algn="r">
              <a:defRPr sz="1000" b="1">
                <a:solidFill>
                  <a:srgbClr val="166534"/>
                </a:solidFill>
                <a:latin typeface="Calibri"/>
              </a:defRPr>
            </a:pPr>
            <a:r>
              <a:t>Quick Win (artifacts) + Medium Lift (loading state)</a:t>
            </a:r>
          </a:p>
        </p:txBody>
      </p:sp>
      <p:sp>
        <p:nvSpPr>
          <p:cNvPr id="18" name="Rounded Rectangle 17"/>
          <p:cNvSpPr/>
          <p:nvPr/>
        </p:nvSpPr>
        <p:spPr>
          <a:xfrm>
            <a:off x="731520" y="4261104"/>
            <a:ext cx="10515600" cy="914400"/>
          </a:xfrm>
          <a:prstGeom prst="roundRect">
            <a:avLst>
              <a:gd name="adj" fmla="val 2000"/>
            </a:avLst>
          </a:prstGeom>
          <a:solidFill>
            <a:srgbClr val="F0F4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4398264"/>
            <a:ext cx="365760" cy="365760"/>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4</a:t>
            </a:r>
          </a:p>
        </p:txBody>
      </p:sp>
      <p:sp>
        <p:nvSpPr>
          <p:cNvPr id="20" name="TextBox 19"/>
          <p:cNvSpPr txBox="1"/>
          <p:nvPr/>
        </p:nvSpPr>
        <p:spPr>
          <a:xfrm>
            <a:off x="1463040" y="4352544"/>
            <a:ext cx="7315200" cy="320040"/>
          </a:xfrm>
          <a:prstGeom prst="rect">
            <a:avLst/>
          </a:prstGeom>
          <a:noFill/>
        </p:spPr>
        <p:txBody>
          <a:bodyPr wrap="square">
            <a:spAutoFit/>
          </a:bodyPr>
          <a:lstStyle/>
          <a:p>
            <a:pPr algn="l">
              <a:defRPr sz="1400" b="1">
                <a:solidFill>
                  <a:srgbClr val="1E40AF"/>
                </a:solidFill>
                <a:latin typeface="Calibri"/>
              </a:defRPr>
            </a:pPr>
            <a:r>
              <a:t>Differentiate pre-commit from completed, and warm up the confirm moment</a:t>
            </a:r>
          </a:p>
        </p:txBody>
      </p:sp>
      <p:sp>
        <p:nvSpPr>
          <p:cNvPr id="21" name="TextBox 20"/>
          <p:cNvSpPr txBox="1"/>
          <p:nvPr/>
        </p:nvSpPr>
        <p:spPr>
          <a:xfrm>
            <a:off x="1463040" y="4672584"/>
            <a:ext cx="7772400" cy="457200"/>
          </a:xfrm>
          <a:prstGeom prst="rect">
            <a:avLst/>
          </a:prstGeom>
          <a:noFill/>
        </p:spPr>
        <p:txBody>
          <a:bodyPr wrap="square">
            <a:spAutoFit/>
          </a:bodyPr>
          <a:lstStyle/>
          <a:p>
            <a:pPr algn="l">
              <a:defRPr sz="1000" b="0">
                <a:solidFill>
                  <a:srgbClr val="374151"/>
                </a:solidFill>
                <a:latin typeface="Calibri"/>
              </a:defRPr>
            </a:pPr>
            <a:r>
              <a:t>What to fix: Visually separate Review (not yet submitted) from Trade-detail (Filled) with distinct headers, a clear status banner, and a step indicator; replace the cold liability-only declaration with plain-language reassurance (debit/settlement timing, security) kept alongside (not instead of) the legal text. (Resolves #9, #12, #16.) | Why it matters: Users currently cannot reliably tell whether money has moved, and the most consequential screen has the coldest copy — a direct hit to novice confidence and a misread risk for experts. | How to fix it: Status banner component ("Review — not yet submitted" vs "Completed · Filled"), a 3-step progress indicator, and a reassurance block above the declaration.</a:t>
            </a:r>
          </a:p>
        </p:txBody>
      </p:sp>
      <p:sp>
        <p:nvSpPr>
          <p:cNvPr id="22" name="TextBox 21"/>
          <p:cNvSpPr txBox="1"/>
          <p:nvPr/>
        </p:nvSpPr>
        <p:spPr>
          <a:xfrm>
            <a:off x="9601200" y="4398264"/>
            <a:ext cx="1371600" cy="274320"/>
          </a:xfrm>
          <a:prstGeom prst="rect">
            <a:avLst/>
          </a:prstGeom>
          <a:noFill/>
        </p:spPr>
        <p:txBody>
          <a:bodyPr wrap="square">
            <a:spAutoFit/>
          </a:bodyPr>
          <a:lstStyle/>
          <a:p>
            <a:pPr algn="r">
              <a:defRPr sz="1000" b="1">
                <a:solidFill>
                  <a:srgbClr val="92400E"/>
                </a:solidFill>
                <a:latin typeface="Calibri"/>
              </a:defRPr>
            </a:pPr>
            <a:r>
              <a:t>Medium Lift</a:t>
            </a:r>
          </a:p>
        </p:txBody>
      </p:sp>
      <p:sp>
        <p:nvSpPr>
          <p:cNvPr id="23" name="Rounded Rectangle 22"/>
          <p:cNvSpPr/>
          <p:nvPr/>
        </p:nvSpPr>
        <p:spPr>
          <a:xfrm>
            <a:off x="731520" y="5285232"/>
            <a:ext cx="10515600" cy="914400"/>
          </a:xfrm>
          <a:prstGeom prst="roundRect">
            <a:avLst>
              <a:gd name="adj" fmla="val 2000"/>
            </a:avLst>
          </a:prstGeom>
          <a:solidFill>
            <a:srgbClr val="F0F4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4400" y="5422392"/>
            <a:ext cx="365760" cy="365760"/>
          </a:xfrm>
          <a:prstGeom prst="ellipse">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5</a:t>
            </a:r>
          </a:p>
        </p:txBody>
      </p:sp>
      <p:sp>
        <p:nvSpPr>
          <p:cNvPr id="25" name="TextBox 24"/>
          <p:cNvSpPr txBox="1"/>
          <p:nvPr/>
        </p:nvSpPr>
        <p:spPr>
          <a:xfrm>
            <a:off x="1463040" y="5376672"/>
            <a:ext cx="7315200" cy="320040"/>
          </a:xfrm>
          <a:prstGeom prst="rect">
            <a:avLst/>
          </a:prstGeom>
          <a:noFill/>
        </p:spPr>
        <p:txBody>
          <a:bodyPr wrap="square">
            <a:spAutoFit/>
          </a:bodyPr>
          <a:lstStyle/>
          <a:p>
            <a:pPr algn="l">
              <a:defRPr sz="1400" b="1">
                <a:solidFill>
                  <a:srgbClr val="1E40AF"/>
                </a:solidFill>
                <a:latin typeface="Calibri"/>
              </a:defRPr>
            </a:pPr>
            <a:r>
              <a:t>Glossed jargon + efficiency shortcuts via progressive disclosure</a:t>
            </a:r>
          </a:p>
        </p:txBody>
      </p:sp>
      <p:sp>
        <p:nvSpPr>
          <p:cNvPr id="26" name="TextBox 25"/>
          <p:cNvSpPr txBox="1"/>
          <p:nvPr/>
        </p:nvSpPr>
        <p:spPr>
          <a:xfrm>
            <a:off x="1463040" y="5696712"/>
            <a:ext cx="7772400" cy="457200"/>
          </a:xfrm>
          <a:prstGeom prst="rect">
            <a:avLst/>
          </a:prstGeom>
          <a:noFill/>
        </p:spPr>
        <p:txBody>
          <a:bodyPr wrap="square">
            <a:spAutoFit/>
          </a:bodyPr>
          <a:lstStyle/>
          <a:p>
            <a:pPr algn="l">
              <a:defRPr sz="1000" b="0">
                <a:solidFill>
                  <a:srgbClr val="374151"/>
                </a:solidFill>
                <a:latin typeface="Calibri"/>
              </a:defRPr>
            </a:pPr>
            <a:r>
              <a:t>What to fix: Add inline tooltips/glosses on first use for novice-hostile terms ("troy ounce", "Filled = completed", define XAU/XAG, clarify Credit/Debit account) and carry FAQ definitions onto transactional screens; add a "Place another trade" shortcut and contextual next-actions (sell/download/set alert) on trade detail; label the swap control. (Resolves #15, #17, #21, #23.) | Why it matters: Closes the novice comprehension gap and the expert efficiency gap simultaneously without sacrificing either — the core dual-persona resolution. | How to fix it: Reusable tooltip/term component (collapsible for experts), labelled swap button, and contextual action bar on detail/success screens.</a:t>
            </a:r>
          </a:p>
        </p:txBody>
      </p:sp>
      <p:sp>
        <p:nvSpPr>
          <p:cNvPr id="27" name="TextBox 26"/>
          <p:cNvSpPr txBox="1"/>
          <p:nvPr/>
        </p:nvSpPr>
        <p:spPr>
          <a:xfrm>
            <a:off x="9601200" y="5422392"/>
            <a:ext cx="1371600" cy="274320"/>
          </a:xfrm>
          <a:prstGeom prst="rect">
            <a:avLst/>
          </a:prstGeom>
          <a:noFill/>
        </p:spPr>
        <p:txBody>
          <a:bodyPr wrap="square">
            <a:spAutoFit/>
          </a:bodyPr>
          <a:lstStyle/>
          <a:p>
            <a:pPr algn="r">
              <a:defRPr sz="1000" b="1">
                <a:solidFill>
                  <a:srgbClr val="92400E"/>
                </a:solidFill>
                <a:latin typeface="Calibri"/>
              </a:defRPr>
            </a:pPr>
            <a:r>
              <a:t>Medium Lift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058400" cy="548640"/>
          </a:xfrm>
          <a:prstGeom prst="rect">
            <a:avLst/>
          </a:prstGeom>
          <a:noFill/>
        </p:spPr>
        <p:txBody>
          <a:bodyPr wrap="square">
            <a:spAutoFit/>
          </a:bodyPr>
          <a:lstStyle/>
          <a:p>
            <a:pPr algn="l">
              <a:defRPr sz="2800" b="1">
                <a:solidFill>
                  <a:srgbClr val="1A1A2E"/>
                </a:solidFill>
                <a:latin typeface="Calibri"/>
              </a:defRPr>
            </a:pPr>
            <a:r>
              <a:t>What's Working Well</a:t>
            </a:r>
          </a:p>
        </p:txBody>
      </p:sp>
      <p:sp>
        <p:nvSpPr>
          <p:cNvPr id="3" name="Rounded Rectangle 2"/>
          <p:cNvSpPr/>
          <p:nvPr/>
        </p:nvSpPr>
        <p:spPr>
          <a:xfrm>
            <a:off x="731520" y="1188720"/>
            <a:ext cx="10515600" cy="914400"/>
          </a:xfrm>
          <a:prstGeom prst="roundRect">
            <a:avLst>
              <a:gd name="adj" fmla="val 2000"/>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188720"/>
            <a:ext cx="73152" cy="91440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280160"/>
            <a:ext cx="9875520" cy="274320"/>
          </a:xfrm>
          <a:prstGeom prst="rect">
            <a:avLst/>
          </a:prstGeom>
          <a:noFill/>
        </p:spPr>
        <p:txBody>
          <a:bodyPr wrap="square">
            <a:spAutoFit/>
          </a:bodyPr>
          <a:lstStyle/>
          <a:p>
            <a:pPr algn="l">
              <a:defRPr sz="1400" b="1">
                <a:solidFill>
                  <a:srgbClr val="166534"/>
                </a:solidFill>
                <a:latin typeface="Calibri"/>
              </a:defRPr>
            </a:pPr>
            <a:r>
              <a:t>Persistent, top-aligned field labels</a:t>
            </a:r>
          </a:p>
        </p:txBody>
      </p:sp>
      <p:sp>
        <p:nvSpPr>
          <p:cNvPr id="6" name="TextBox 5"/>
          <p:cNvSpPr txBox="1"/>
          <p:nvPr/>
        </p:nvSpPr>
        <p:spPr>
          <a:xfrm>
            <a:off x="1005840" y="1600200"/>
            <a:ext cx="9875520" cy="457200"/>
          </a:xfrm>
          <a:prstGeom prst="rect">
            <a:avLst/>
          </a:prstGeom>
          <a:noFill/>
        </p:spPr>
        <p:txBody>
          <a:bodyPr wrap="square">
            <a:spAutoFit/>
          </a:bodyPr>
          <a:lstStyle/>
          <a:p>
            <a:pPr algn="l">
              <a:defRPr sz="1100" b="0">
                <a:solidFill>
                  <a:srgbClr val="374151"/>
                </a:solidFill>
                <a:latin typeface="Calibri"/>
              </a:defRPr>
            </a:pPr>
            <a:r>
              <a:t>No placeholder-only labels in the trade panels — every input keeps its label visible, which is exactly right for a high-stakes form.</a:t>
            </a:r>
          </a:p>
        </p:txBody>
      </p:sp>
      <p:sp>
        <p:nvSpPr>
          <p:cNvPr id="7" name="Rounded Rectangle 6"/>
          <p:cNvSpPr/>
          <p:nvPr/>
        </p:nvSpPr>
        <p:spPr>
          <a:xfrm>
            <a:off x="731520" y="2240280"/>
            <a:ext cx="10515600" cy="914400"/>
          </a:xfrm>
          <a:prstGeom prst="roundRect">
            <a:avLst>
              <a:gd name="adj" fmla="val 2000"/>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2240280"/>
            <a:ext cx="73152" cy="91440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331720"/>
            <a:ext cx="9875520" cy="274320"/>
          </a:xfrm>
          <a:prstGeom prst="rect">
            <a:avLst/>
          </a:prstGeom>
          <a:noFill/>
        </p:spPr>
        <p:txBody>
          <a:bodyPr wrap="square">
            <a:spAutoFit/>
          </a:bodyPr>
          <a:lstStyle/>
          <a:p>
            <a:pPr algn="l">
              <a:defRPr sz="1400" b="1">
                <a:solidFill>
                  <a:srgbClr val="166534"/>
                </a:solidFill>
                <a:latin typeface="Calibri"/>
              </a:defRPr>
            </a:pPr>
            <a:r>
              <a:t>Non-punitive, specific error-recovery copy</a:t>
            </a:r>
          </a:p>
        </p:txBody>
      </p:sp>
      <p:sp>
        <p:nvSpPr>
          <p:cNvPr id="10" name="TextBox 9"/>
          <p:cNvSpPr txBox="1"/>
          <p:nvPr/>
        </p:nvSpPr>
        <p:spPr>
          <a:xfrm>
            <a:off x="1005840" y="2651760"/>
            <a:ext cx="9875520" cy="457200"/>
          </a:xfrm>
          <a:prstGeom prst="rect">
            <a:avLst/>
          </a:prstGeom>
          <a:noFill/>
        </p:spPr>
        <p:txBody>
          <a:bodyPr wrap="square">
            <a:spAutoFit/>
          </a:bodyPr>
          <a:lstStyle/>
          <a:p>
            <a:pPr algn="l">
              <a:defRPr sz="1100" b="0">
                <a:solidFill>
                  <a:srgbClr val="374151"/>
                </a:solidFill>
                <a:latin typeface="Calibri"/>
              </a:defRPr>
            </a:pPr>
            <a:r>
              <a:t>The spec'd errors tell the user *what* and *how to fix* with concrete thresholds ("Increase the investment amount to 24.59 SGD or more to proceed"; three recovery paths for insufficient balance). Once integrated on the live screen, this is exemplary.</a:t>
            </a:r>
          </a:p>
        </p:txBody>
      </p:sp>
      <p:sp>
        <p:nvSpPr>
          <p:cNvPr id="11" name="Rounded Rectangle 10"/>
          <p:cNvSpPr/>
          <p:nvPr/>
        </p:nvSpPr>
        <p:spPr>
          <a:xfrm>
            <a:off x="731520" y="3291840"/>
            <a:ext cx="10515600" cy="914400"/>
          </a:xfrm>
          <a:prstGeom prst="roundRect">
            <a:avLst>
              <a:gd name="adj" fmla="val 2000"/>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291840"/>
            <a:ext cx="73152" cy="91440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383280"/>
            <a:ext cx="9875520" cy="274320"/>
          </a:xfrm>
          <a:prstGeom prst="rect">
            <a:avLst/>
          </a:prstGeom>
          <a:noFill/>
        </p:spPr>
        <p:txBody>
          <a:bodyPr wrap="square">
            <a:spAutoFit/>
          </a:bodyPr>
          <a:lstStyle/>
          <a:p>
            <a:pPr algn="l">
              <a:defRPr sz="1400" b="1">
                <a:solidFill>
                  <a:srgbClr val="166534"/>
                </a:solidFill>
                <a:latin typeface="Calibri"/>
              </a:defRPr>
            </a:pPr>
            <a:r>
              <a:t>Sell-side guardrails</a:t>
            </a:r>
          </a:p>
        </p:txBody>
      </p:sp>
      <p:sp>
        <p:nvSpPr>
          <p:cNvPr id="14" name="TextBox 13"/>
          <p:cNvSpPr txBox="1"/>
          <p:nvPr/>
        </p:nvSpPr>
        <p:spPr>
          <a:xfrm>
            <a:off x="1005840" y="3703320"/>
            <a:ext cx="9875520" cy="457200"/>
          </a:xfrm>
          <a:prstGeom prst="rect">
            <a:avLst/>
          </a:prstGeom>
          <a:noFill/>
        </p:spPr>
        <p:txBody>
          <a:bodyPr wrap="square">
            <a:spAutoFit/>
          </a:bodyPr>
          <a:lstStyle/>
          <a:p>
            <a:pPr algn="l">
              <a:defRPr sz="1100" b="0">
                <a:solidFill>
                  <a:srgbClr val="374151"/>
                </a:solidFill>
                <a:latin typeface="Calibri"/>
              </a:defRPr>
            </a:pPr>
            <a:r>
              <a:t>The sell flow pre-fills the XAU account and caps inputs to actual holdings ("Maximum 25.86 ounces / 158,484.99 SGD") — strong error prevention.</a:t>
            </a:r>
          </a:p>
        </p:txBody>
      </p:sp>
      <p:sp>
        <p:nvSpPr>
          <p:cNvPr id="15" name="Rounded Rectangle 14"/>
          <p:cNvSpPr/>
          <p:nvPr/>
        </p:nvSpPr>
        <p:spPr>
          <a:xfrm>
            <a:off x="731520" y="4343400"/>
            <a:ext cx="10515600" cy="914400"/>
          </a:xfrm>
          <a:prstGeom prst="roundRect">
            <a:avLst>
              <a:gd name="adj" fmla="val 2000"/>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4343400"/>
            <a:ext cx="73152" cy="91440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434840"/>
            <a:ext cx="9875520" cy="274320"/>
          </a:xfrm>
          <a:prstGeom prst="rect">
            <a:avLst/>
          </a:prstGeom>
          <a:noFill/>
        </p:spPr>
        <p:txBody>
          <a:bodyPr wrap="square">
            <a:spAutoFit/>
          </a:bodyPr>
          <a:lstStyle/>
          <a:p>
            <a:pPr algn="l">
              <a:defRPr sz="1400" b="1">
                <a:solidFill>
                  <a:srgbClr val="166534"/>
                </a:solidFill>
                <a:latin typeface="Calibri"/>
              </a:defRPr>
            </a:pPr>
            <a:r>
              <a:t>The "without holding the physical metal" gloss and the empty holdings state</a:t>
            </a:r>
          </a:p>
        </p:txBody>
      </p:sp>
      <p:sp>
        <p:nvSpPr>
          <p:cNvPr id="18" name="TextBox 17"/>
          <p:cNvSpPr txBox="1"/>
          <p:nvPr/>
        </p:nvSpPr>
        <p:spPr>
          <a:xfrm>
            <a:off x="1005840" y="4754880"/>
            <a:ext cx="9875520" cy="457200"/>
          </a:xfrm>
          <a:prstGeom prst="rect">
            <a:avLst/>
          </a:prstGeom>
          <a:noFill/>
        </p:spPr>
        <p:txBody>
          <a:bodyPr wrap="square">
            <a:spAutoFit/>
          </a:bodyPr>
          <a:lstStyle/>
          <a:p>
            <a:pPr algn="l">
              <a:defRPr sz="1100" b="0">
                <a:solidFill>
                  <a:srgbClr val="374151"/>
                </a:solidFill>
                <a:latin typeface="Calibri"/>
              </a:defRPr>
            </a:pPr>
            <a:r>
              <a:t>The one genuinely good plain-language explanation, paired with a proper illustrated zero-state and a clear "Start trading" CTA.</a:t>
            </a:r>
          </a:p>
        </p:txBody>
      </p:sp>
      <p:sp>
        <p:nvSpPr>
          <p:cNvPr id="19" name="Rounded Rectangle 18"/>
          <p:cNvSpPr/>
          <p:nvPr/>
        </p:nvSpPr>
        <p:spPr>
          <a:xfrm>
            <a:off x="731520" y="5394960"/>
            <a:ext cx="10515600" cy="914400"/>
          </a:xfrm>
          <a:prstGeom prst="roundRect">
            <a:avLst>
              <a:gd name="adj" fmla="val 2000"/>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 y="5394960"/>
            <a:ext cx="73152" cy="91440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5486400"/>
            <a:ext cx="9875520" cy="274320"/>
          </a:xfrm>
          <a:prstGeom prst="rect">
            <a:avLst/>
          </a:prstGeom>
          <a:noFill/>
        </p:spPr>
        <p:txBody>
          <a:bodyPr wrap="square">
            <a:spAutoFit/>
          </a:bodyPr>
          <a:lstStyle/>
          <a:p>
            <a:pPr algn="l">
              <a:defRPr sz="1400" b="1">
                <a:solidFill>
                  <a:srgbClr val="166534"/>
                </a:solidFill>
                <a:latin typeface="Calibri"/>
              </a:defRPr>
            </a:pPr>
            <a:r>
              <a:t>Plain-language confirmation across channels</a:t>
            </a:r>
          </a:p>
        </p:txBody>
      </p:sp>
      <p:sp>
        <p:nvSpPr>
          <p:cNvPr id="22" name="TextBox 21"/>
          <p:cNvSpPr txBox="1"/>
          <p:nvPr/>
        </p:nvSpPr>
        <p:spPr>
          <a:xfrm>
            <a:off x="1005840" y="5806440"/>
            <a:ext cx="9875520" cy="457200"/>
          </a:xfrm>
          <a:prstGeom prst="rect">
            <a:avLst/>
          </a:prstGeom>
          <a:noFill/>
        </p:spPr>
        <p:txBody>
          <a:bodyPr wrap="square">
            <a:spAutoFit/>
          </a:bodyPr>
          <a:lstStyle/>
          <a:p>
            <a:pPr algn="l">
              <a:defRPr sz="1100" b="0">
                <a:solidFill>
                  <a:srgbClr val="374151"/>
                </a:solidFill>
                <a:latin typeface="Calibri"/>
              </a:defRPr>
            </a:pPr>
            <a:r>
              <a:t>Success screen, trade detail, and email explain the mechanics in human terms ("the paper gold has been credited… the SGD amount has been debited") and share a consistent transaction reference number — good for trust and traceability.</a:t>
            </a:r>
            <a:br/>
            <a:br/>
            <a:r>
              <a: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2286000"/>
            <a:ext cx="10515600" cy="914400"/>
          </a:xfrm>
          <a:prstGeom prst="rect">
            <a:avLst/>
          </a:prstGeom>
          <a:noFill/>
        </p:spPr>
        <p:txBody>
          <a:bodyPr wrap="square">
            <a:spAutoFit/>
          </a:bodyPr>
          <a:lstStyle/>
          <a:p>
            <a:pPr algn="ctr">
              <a:defRPr sz="4400" b="1">
                <a:solidFill>
                  <a:srgbClr val="FFFFFF"/>
                </a:solidFill>
                <a:latin typeface="Calibri"/>
              </a:defRPr>
            </a:pPr>
            <a:r>
              <a:t>Thank You</a:t>
            </a:r>
          </a:p>
        </p:txBody>
      </p:sp>
      <p:sp>
        <p:nvSpPr>
          <p:cNvPr id="3" name="TextBox 2"/>
          <p:cNvSpPr txBox="1"/>
          <p:nvPr/>
        </p:nvSpPr>
        <p:spPr>
          <a:xfrm>
            <a:off x="731520" y="3291840"/>
            <a:ext cx="10515600" cy="457200"/>
          </a:xfrm>
          <a:prstGeom prst="rect">
            <a:avLst/>
          </a:prstGeom>
          <a:noFill/>
        </p:spPr>
        <p:txBody>
          <a:bodyPr wrap="square">
            <a:spAutoFit/>
          </a:bodyPr>
          <a:lstStyle/>
          <a:p>
            <a:pPr algn="ctr">
              <a:defRPr sz="1400" b="0">
                <a:solidFill>
                  <a:srgbClr val="94A3B8"/>
                </a:solidFill>
                <a:latin typeface="Calibri"/>
              </a:defRPr>
            </a:pPr>
            <a:r>
              <a:t>Generated by UX Audit Skill  ·  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
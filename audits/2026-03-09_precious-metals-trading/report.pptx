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UI/UX AUDIT REPORT: Precious Metals Trading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Comprehensive UI/UX Audit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AUDIT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2026-03-09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Web desktop (1280x1080)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AUDITOR PERSONA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Novice investor, new to precious metals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https://theory-round-48270233.figma.site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9260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EA580C"/>
                </a:solidFill>
                <a:latin typeface="Calibri"/>
              </a:defRPr>
            </a:pPr>
            <a:r>
              <a:t>6.5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UX Health Score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Calibri"/>
              </a:defRPr>
            </a:pPr>
            <a:r>
              <a:t>This is a well-structured precious metals trading prototype with a clean visual identity, logical information architecture, and a complete buy/sell flow covering all 4 metals. The app follows modern SaaS conventions (Tailwind + shadcn/ui) and provides a credible trading experience. However, for a financial trading product used by novice investors, there are significant gaps in trust signalling, error prevention, educational scaffolding, and accessibility compliance that would erode confidence and cause drop-off. The biggest risks are: (1) a novice user has no onboarding or guided first-trade experience, (2) critical accessibility failures in contrast, touch targets, and motion, (3) the sell flow allows zero-balance sells to reach the review screen before failing, and (4) currency conversion introduces confusion without adequate explanation.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2560320" cy="16459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297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C262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114800"/>
            <a:ext cx="2560320" cy="1645920"/>
          </a:xfrm>
          <a:prstGeom prst="roundRect">
            <a:avLst>
              <a:gd name="adj" fmla="val 2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4297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A580C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A580C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114800"/>
            <a:ext cx="2560320" cy="1645920"/>
          </a:xfrm>
          <a:prstGeom prst="roundRect">
            <a:avLst>
              <a:gd name="adj" fmla="val 2000"/>
            </a:avLst>
          </a:prstGeom>
          <a:solidFill>
            <a:srgbClr val="FEFCE8"/>
          </a:solidFill>
          <a:ln w="127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297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CA8A04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A8A04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4114800"/>
            <a:ext cx="2560320" cy="16459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4297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6A34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  <a:latin typeface="Calibri"/>
              </a:defRPr>
            </a:pPr>
            <a:r>
              <a:t>Total Findings: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Findings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50876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002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Trade -- Order 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45920"/>
            <a:ext cx="777240" cy="256032"/>
          </a:xfrm>
          <a:prstGeom prst="roundRect">
            <a:avLst>
              <a:gd name="adj" fmla="val 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581912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No onboarding or guided first-trade experience for novice investors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581912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Add contextual tooltips, first-visit banner, default to Market + SGD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87752"/>
            <a:ext cx="73152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587752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6791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679192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Trade -- Sell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724912"/>
            <a:ext cx="777240" cy="256032"/>
          </a:xfrm>
          <a:prstGeom prst="roundRect">
            <a:avLst>
              <a:gd name="adj" fmla="val 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660904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Sell toggle accessible with 0 oz holdings -- error only at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60904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Disable Sell or show inline message when holdings =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66744"/>
            <a:ext cx="73152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666744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581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758184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Trade -- Order Form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803904"/>
            <a:ext cx="777240" cy="256032"/>
          </a:xfrm>
          <a:prstGeom prst="roundRect">
            <a:avLst>
              <a:gd name="adj" fmla="val 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739896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Currency selector introduces massive cognitive load with no explanation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739896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Default SGD, collapse behind 'Change currency' link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745736"/>
            <a:ext cx="73152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" y="4745736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8371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837176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Global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882896"/>
            <a:ext cx="777240" cy="256032"/>
          </a:xfrm>
          <a:prstGeom prst="roundRect">
            <a:avLst>
              <a:gd name="adj" fmla="val 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818888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No prefers-reduced-motion support despite extensive animations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1888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Add global @media (prefers-reduced-motion: reduce) rule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824728"/>
            <a:ext cx="73152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4672" y="5824728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9161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91616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Global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5961888"/>
            <a:ext cx="777240" cy="256032"/>
          </a:xfrm>
          <a:prstGeom prst="roundRect">
            <a:avLst>
              <a:gd name="adj" fmla="val 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89788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Muted text contrast #717182 on #ececf0 fails WCAG AA at ~3.5:1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8978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Darken muted foreground to at least #5e5e6e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Findings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50876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002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Global -- Interactive Elements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45920"/>
            <a:ext cx="777240" cy="256032"/>
          </a:xfrm>
          <a:prstGeom prst="roundRect">
            <a:avLst>
              <a:gd name="adj" fmla="val 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581912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Button/input height 36px below WCAG 2.2 SC 2.5.8 minimum of 44px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581912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Increase min-heights to 44px for coarse pointers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87752"/>
            <a:ext cx="73152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587752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6791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679192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Dashboard -- Market Overview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724912"/>
            <a:ext cx="777240" cy="256032"/>
          </a:xfrm>
          <a:prstGeom prst="roundRect">
            <a:avLst>
              <a:gd name="adj" fmla="val 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660904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All 4 metal cards have equal visual weight -- no beginner guidance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60904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Add 'Most Popular' badge to Gold or 'New? Start with Gold' CTA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66744"/>
            <a:ext cx="73152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666744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581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758184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Trade -- Order Form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803904"/>
            <a:ext cx="777240" cy="256032"/>
          </a:xfrm>
          <a:prstGeom prst="roundRect">
            <a:avLst>
              <a:gd name="adj" fmla="val 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739896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Amount field label ambiguous -- spend amount vs metal quantity unclear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739896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Rename to 'I want to spend (SGD)' and show computed oz prominently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745736"/>
            <a:ext cx="73152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" y="4745736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8371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837176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Order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882896"/>
            <a:ext cx="777240" cy="256032"/>
          </a:xfrm>
          <a:prstGeom prst="roundRect">
            <a:avLst>
              <a:gd name="adj" fmla="val 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818888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No fee disclosure, no spread cost breakdown before confirmation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1888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Add cost breakdown: Metal price, Spread (0.5%), Total, Fees (S$0.00)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824728"/>
            <a:ext cx="73152" cy="10058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4672" y="5824728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9161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91616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Order Review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5961888"/>
            <a:ext cx="777240" cy="256032"/>
          </a:xfrm>
          <a:prstGeom prst="roundRect">
            <a:avLst>
              <a:gd name="adj" fmla="val 2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89788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Confirm button has no loading state -- direct navigation on click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8978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Add loading spinner with 'Processing...' and disable after first click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Findings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10058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50876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002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Dashboard -- Portfolio Holdings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45920"/>
            <a:ext cx="777240" cy="256032"/>
          </a:xfrm>
          <a:prstGeom prst="roundRect">
            <a:avLst>
              <a:gd name="adj" fmla="val 2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581912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Empty state CTA 'Start trading to build your portfolio' is vague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581912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Change to 'Buy your first precious metal' button linking to /trade/XAU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87752"/>
            <a:ext cx="73152" cy="10058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587752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6791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679192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Trade -- Price Chart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724912"/>
            <a:ext cx="777240" cy="256032"/>
          </a:xfrm>
          <a:prstGeom prst="roundRect">
            <a:avLst>
              <a:gd name="adj" fmla="val 2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660904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Chart has no Y-axis labels, gridlines, or volume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60904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Add Y-axis price labels, gridlines, label time buttons descriptively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66744"/>
            <a:ext cx="73152" cy="10058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666744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581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758184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Trade -- Metal Tabs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803904"/>
            <a:ext cx="777240" cy="256032"/>
          </a:xfrm>
          <a:prstGeom prst="roundRect">
            <a:avLst>
              <a:gd name="adj" fmla="val 2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739896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Metal tabs use expert codes (XAU, XPT) more prominently than names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739896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Show metal name first, code smaller: 'Gold (XAU)'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745736"/>
            <a:ext cx="73152" cy="10058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" y="4745736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8371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837176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Order Confirmation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882896"/>
            <a:ext cx="777240" cy="256032"/>
          </a:xfrm>
          <a:prstGeom prst="roundRect">
            <a:avLst>
              <a:gd name="adj" fmla="val 2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818888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Order ID is truncated UUID -- no receipt download option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1888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Display human-readable reference, add Download Receipt button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824728"/>
            <a:ext cx="73152" cy="10058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4672" y="5824728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9161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91616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Navigation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5961888"/>
            <a:ext cx="777240" cy="256032"/>
          </a:xfrm>
          <a:prstGeom prst="roundRect">
            <a:avLst>
              <a:gd name="adj" fmla="val 2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89788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Trade nav link goes directly to Gold with no intermediate page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8978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Make Trade a dropdown or remember last-traded metal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Findings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10058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50876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002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Products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45920"/>
            <a:ext cx="777240" cy="256032"/>
          </a:xfrm>
          <a:prstGeom prst="roundRect">
            <a:avLst>
              <a:gd name="adj" fmla="val 2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581912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No cross-metal comparison view -- must tab between 4 metals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581912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Add Compare Metals table: Price, Min Qty, Volatility, Best For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87752"/>
            <a:ext cx="731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587752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6791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679192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Global -- Footer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724912"/>
            <a:ext cx="777240" cy="256032"/>
          </a:xfrm>
          <a:prstGeom prst="roundRect">
            <a:avLst>
              <a:gd name="adj" fmla="val 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660904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Footer only has copyright -- no Help, Terms, Privacy, regulatory links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60904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Add standard footer links including regulatory information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66744"/>
            <a:ext cx="731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666744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581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758184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Dashboard -- Recent Orders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803904"/>
            <a:ext cx="777240" cy="256032"/>
          </a:xfrm>
          <a:prstGeom prst="roundRect">
            <a:avLst>
              <a:gd name="adj" fmla="val 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739896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8-row table on dashboard is too dense for novice users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739896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Show 3 simplified cards, reserve full table for Orders page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745736"/>
            <a:ext cx="731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" y="4745736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8371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837176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Trade -- Debit/Credit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882896"/>
            <a:ext cx="777240" cy="256032"/>
          </a:xfrm>
          <a:prstGeom prst="roundRect">
            <a:avLst>
              <a:gd name="adj" fmla="val 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818888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Account dropdown shows full account numbers adding noise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1888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Simplify to 'Current Account -- S$50,000.00'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824728"/>
            <a:ext cx="731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4672" y="5824728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9161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91616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Global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5961888"/>
            <a:ext cx="777240" cy="256032"/>
          </a:xfrm>
          <a:prstGeom prst="roundRect">
            <a:avLst>
              <a:gd name="adj" fmla="val 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89788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No skip-navigation link for keyboard users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8978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Add visually hidden skip link: 'Skip to main content'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Findings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50876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002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404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45920"/>
            <a:ext cx="777240" cy="256032"/>
          </a:xfrm>
          <a:prstGeom prst="roundRect">
            <a:avLst>
              <a:gd name="adj" fmla="val 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581912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404 page has no search or suggested links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581912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Add suggested links (Dashboard, Trade, Products)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Homepage</a:t>
            </a:r>
          </a:p>
        </p:txBody>
      </p:sp>
      <p:pic>
        <p:nvPicPr>
          <p:cNvPr id="3" name="Picture 2" descr="homepage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224390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914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Calibri"/>
              </a:defRPr>
            </a:pPr>
            <a:r>
              <a:t>Findings on this screen:</a:t>
            </a:r>
          </a:p>
        </p:txBody>
      </p:sp>
      <p:sp>
        <p:nvSpPr>
          <p:cNvPr id="5" name="Oval 4"/>
          <p:cNvSpPr/>
          <p:nvPr/>
        </p:nvSpPr>
        <p:spPr>
          <a:xfrm>
            <a:off x="7498079" y="1417320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399" y="13716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580C"/>
                </a:solidFill>
                <a:latin typeface="Calibri"/>
              </a:defRPr>
            </a:pPr>
            <a:r>
              <a:t>[HIGH] All 4 metal cards have equal visual weight -- no beginner guidance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399" y="1572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Add 'Most Popular' badge to Gold or 'New? Start with Gold' CTA</a:t>
            </a:r>
          </a:p>
        </p:txBody>
      </p:sp>
      <p:sp>
        <p:nvSpPr>
          <p:cNvPr id="8" name="Oval 7"/>
          <p:cNvSpPr/>
          <p:nvPr/>
        </p:nvSpPr>
        <p:spPr>
          <a:xfrm>
            <a:off x="7498079" y="2057400"/>
            <a:ext cx="201168" cy="201168"/>
          </a:xfrm>
          <a:prstGeom prst="ellipse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399" y="201168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A8A04"/>
                </a:solidFill>
                <a:latin typeface="Calibri"/>
              </a:defRPr>
            </a:pPr>
            <a:r>
              <a:t>[MEDIUM] Empty state CTA 'Start trading to build your portfolio' is vague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9" y="22128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Change to 'Buy your first precious metal' button linking to /trade/XAU</a:t>
            </a:r>
          </a:p>
        </p:txBody>
      </p:sp>
      <p:sp>
        <p:nvSpPr>
          <p:cNvPr id="11" name="Oval 10"/>
          <p:cNvSpPr/>
          <p:nvPr/>
        </p:nvSpPr>
        <p:spPr>
          <a:xfrm>
            <a:off x="7498079" y="269748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9" y="26517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A34A"/>
                </a:solidFill>
                <a:latin typeface="Calibri"/>
              </a:defRPr>
            </a:pPr>
            <a:r>
              <a:t>[LOW] Footer only has copyright -- no Help, Terms, Privacy, regulatory links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399" y="28529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Add standard footer links including regulatory information</a:t>
            </a:r>
          </a:p>
        </p:txBody>
      </p:sp>
      <p:sp>
        <p:nvSpPr>
          <p:cNvPr id="14" name="Oval 13"/>
          <p:cNvSpPr/>
          <p:nvPr/>
        </p:nvSpPr>
        <p:spPr>
          <a:xfrm>
            <a:off x="7498079" y="333756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399" y="329184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A34A"/>
                </a:solidFill>
                <a:latin typeface="Calibri"/>
              </a:defRPr>
            </a:pPr>
            <a:r>
              <a:t>[LOW] 8-row table on dashboard is too dense for novice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399" y="34930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Show 3 simplified cards, reserve full table for Orders page</a:t>
            </a:r>
          </a:p>
        </p:txBody>
      </p:sp>
      <p:sp>
        <p:nvSpPr>
          <p:cNvPr id="17" name="Oval 16"/>
          <p:cNvSpPr/>
          <p:nvPr/>
        </p:nvSpPr>
        <p:spPr>
          <a:xfrm>
            <a:off x="7498079" y="397764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399" y="393192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A34A"/>
                </a:solidFill>
                <a:latin typeface="Calibri"/>
              </a:defRPr>
            </a:pPr>
            <a:r>
              <a:t>[LOW] No skip-navigation link for keyboard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399" y="41330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Add visually hidden skip link: 'Skip to main content'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Orders</a:t>
            </a:r>
          </a:p>
        </p:txBody>
      </p:sp>
      <p:pic>
        <p:nvPicPr>
          <p:cNvPr id="3" name="Picture 2" descr="orders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479177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914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Calibri"/>
              </a:defRPr>
            </a:pPr>
            <a:r>
              <a:t>Findings on this screen:</a:t>
            </a:r>
          </a:p>
        </p:txBody>
      </p:sp>
      <p:sp>
        <p:nvSpPr>
          <p:cNvPr id="5" name="Oval 4"/>
          <p:cNvSpPr/>
          <p:nvPr/>
        </p:nvSpPr>
        <p:spPr>
          <a:xfrm>
            <a:off x="7498079" y="1417320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399" y="13716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580C"/>
                </a:solidFill>
                <a:latin typeface="Calibri"/>
              </a:defRPr>
            </a:pPr>
            <a:r>
              <a:t>[HIGH] Muted text contrast #717182 on #ececf0 fails WCAG AA at ~3.5:1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399" y="1572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Darken muted foreground to at least #5e5e6e</a:t>
            </a:r>
          </a:p>
        </p:txBody>
      </p:sp>
      <p:sp>
        <p:nvSpPr>
          <p:cNvPr id="8" name="Oval 7"/>
          <p:cNvSpPr/>
          <p:nvPr/>
        </p:nvSpPr>
        <p:spPr>
          <a:xfrm>
            <a:off x="7498079" y="205740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399" y="201168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A34A"/>
                </a:solidFill>
                <a:latin typeface="Calibri"/>
              </a:defRPr>
            </a:pPr>
            <a:r>
              <a:t>[LOW] 404 page has no search or suggested links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9" y="22128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Add suggested links (Dashboard, Trade, Products)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Products</a:t>
            </a:r>
          </a:p>
        </p:txBody>
      </p:sp>
      <p:pic>
        <p:nvPicPr>
          <p:cNvPr id="3" name="Picture 2" descr="products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733645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914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Calibri"/>
              </a:defRPr>
            </a:pPr>
            <a:r>
              <a:t>Findings on this screen:</a:t>
            </a:r>
          </a:p>
        </p:txBody>
      </p:sp>
      <p:sp>
        <p:nvSpPr>
          <p:cNvPr id="5" name="Oval 4"/>
          <p:cNvSpPr/>
          <p:nvPr/>
        </p:nvSpPr>
        <p:spPr>
          <a:xfrm>
            <a:off x="7498079" y="1417320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399" y="13716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580C"/>
                </a:solidFill>
                <a:latin typeface="Calibri"/>
              </a:defRPr>
            </a:pPr>
            <a:r>
              <a:t>[HIGH] No fee disclosure, no spread cost breakdown before confirmation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399" y="1572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Add cost breakdown: Metal price, Spread (0.5%), Total, Fees (S$0.00)</a:t>
            </a:r>
          </a:p>
        </p:txBody>
      </p:sp>
      <p:sp>
        <p:nvSpPr>
          <p:cNvPr id="8" name="Oval 7"/>
          <p:cNvSpPr/>
          <p:nvPr/>
        </p:nvSpPr>
        <p:spPr>
          <a:xfrm>
            <a:off x="7498079" y="2057400"/>
            <a:ext cx="201168" cy="201168"/>
          </a:xfrm>
          <a:prstGeom prst="ellipse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399" y="201168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A8A04"/>
                </a:solidFill>
                <a:latin typeface="Calibri"/>
              </a:defRPr>
            </a:pPr>
            <a:r>
              <a:t>[MEDIUM] No cross-metal comparison view -- must tab between 4 metals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9" y="22128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Add Compare Metals table: Price, Min Qty, Volatility, Best For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Trade Xau</a:t>
            </a:r>
          </a:p>
        </p:txBody>
      </p:sp>
      <p:pic>
        <p:nvPicPr>
          <p:cNvPr id="3" name="Picture 2" descr="trade-xau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38230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914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Calibri"/>
              </a:defRPr>
            </a:pPr>
            <a:r>
              <a:t>Findings on this screen:</a:t>
            </a:r>
          </a:p>
        </p:txBody>
      </p:sp>
      <p:sp>
        <p:nvSpPr>
          <p:cNvPr id="5" name="Oval 4"/>
          <p:cNvSpPr/>
          <p:nvPr/>
        </p:nvSpPr>
        <p:spPr>
          <a:xfrm>
            <a:off x="7498079" y="1417320"/>
            <a:ext cx="201168" cy="20116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399" y="13716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C2626"/>
                </a:solidFill>
                <a:latin typeface="Calibri"/>
              </a:defRPr>
            </a:pPr>
            <a:r>
              <a:t>[CRITICAL] No onboarding or guided first-trade experience for novice investors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399" y="1572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Add contextual tooltips, first-visit banner, default to Market + SGD</a:t>
            </a:r>
          </a:p>
        </p:txBody>
      </p:sp>
      <p:sp>
        <p:nvSpPr>
          <p:cNvPr id="8" name="Oval 7"/>
          <p:cNvSpPr/>
          <p:nvPr/>
        </p:nvSpPr>
        <p:spPr>
          <a:xfrm>
            <a:off x="7498079" y="2057400"/>
            <a:ext cx="201168" cy="20116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399" y="201168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C2626"/>
                </a:solidFill>
                <a:latin typeface="Calibri"/>
              </a:defRPr>
            </a:pPr>
            <a:r>
              <a:t>[CRITICAL] Sell toggle accessible with 0 oz holdings -- error only at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9" y="22128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Disable Sell or show inline message when holdings = 0</a:t>
            </a:r>
          </a:p>
        </p:txBody>
      </p:sp>
      <p:sp>
        <p:nvSpPr>
          <p:cNvPr id="11" name="Oval 10"/>
          <p:cNvSpPr/>
          <p:nvPr/>
        </p:nvSpPr>
        <p:spPr>
          <a:xfrm>
            <a:off x="7498079" y="2697480"/>
            <a:ext cx="201168" cy="20116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9" y="26517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C2626"/>
                </a:solidFill>
                <a:latin typeface="Calibri"/>
              </a:defRPr>
            </a:pPr>
            <a:r>
              <a:t>[CRITICAL] Currency selector introduces massive cognitive load with no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399" y="28529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Default SGD, collapse behind 'Change currency' link</a:t>
            </a:r>
          </a:p>
        </p:txBody>
      </p:sp>
      <p:sp>
        <p:nvSpPr>
          <p:cNvPr id="14" name="Oval 13"/>
          <p:cNvSpPr/>
          <p:nvPr/>
        </p:nvSpPr>
        <p:spPr>
          <a:xfrm>
            <a:off x="7498079" y="3337560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399" y="329184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580C"/>
                </a:solidFill>
                <a:latin typeface="Calibri"/>
              </a:defRPr>
            </a:pPr>
            <a:r>
              <a:t>[HIGH] Amount field label ambiguous -- spend amount vs metal quantity unclear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399" y="34930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Rename to 'I want to spend (SGD)' and show computed oz prominently</a:t>
            </a:r>
          </a:p>
        </p:txBody>
      </p:sp>
      <p:sp>
        <p:nvSpPr>
          <p:cNvPr id="17" name="Oval 16"/>
          <p:cNvSpPr/>
          <p:nvPr/>
        </p:nvSpPr>
        <p:spPr>
          <a:xfrm>
            <a:off x="7498079" y="3977640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399" y="393192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580C"/>
                </a:solidFill>
                <a:latin typeface="Calibri"/>
              </a:defRPr>
            </a:pPr>
            <a:r>
              <a:t>[HIGH] No prefers-reduced-motion support despite extensive animations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399" y="41330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Add global @media (prefers-reduced-motion: reduce) rule</a:t>
            </a:r>
          </a:p>
        </p:txBody>
      </p:sp>
      <p:sp>
        <p:nvSpPr>
          <p:cNvPr id="20" name="Oval 19"/>
          <p:cNvSpPr/>
          <p:nvPr/>
        </p:nvSpPr>
        <p:spPr>
          <a:xfrm>
            <a:off x="7498079" y="4617720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399" y="45720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580C"/>
                </a:solidFill>
                <a:latin typeface="Calibri"/>
              </a:defRPr>
            </a:pPr>
            <a:r>
              <a:t>[HIGH] Button/input height 36px below WCAG 2.2 SC 2.5.8 minimum of 44px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399" y="47731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Increase min-heights to 44px for coarse pointers</a:t>
            </a:r>
          </a:p>
        </p:txBody>
      </p:sp>
      <p:sp>
        <p:nvSpPr>
          <p:cNvPr id="23" name="Oval 22"/>
          <p:cNvSpPr/>
          <p:nvPr/>
        </p:nvSpPr>
        <p:spPr>
          <a:xfrm>
            <a:off x="7498079" y="5257800"/>
            <a:ext cx="201168" cy="201168"/>
          </a:xfrm>
          <a:prstGeom prst="ellipse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399" y="521208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A8A04"/>
                </a:solidFill>
                <a:latin typeface="Calibri"/>
              </a:defRPr>
            </a:pPr>
            <a:r>
              <a:t>[MEDIUM] Chart has no Y-axis labels, gridlines, or volume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399" y="54132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Add Y-axis price labels, gridlines, label time buttons descriptively</a:t>
            </a:r>
          </a:p>
        </p:txBody>
      </p:sp>
      <p:sp>
        <p:nvSpPr>
          <p:cNvPr id="26" name="Oval 25"/>
          <p:cNvSpPr/>
          <p:nvPr/>
        </p:nvSpPr>
        <p:spPr>
          <a:xfrm>
            <a:off x="7498079" y="5897880"/>
            <a:ext cx="201168" cy="201168"/>
          </a:xfrm>
          <a:prstGeom prst="ellipse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399" y="58521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A8A04"/>
                </a:solidFill>
                <a:latin typeface="Calibri"/>
              </a:defRPr>
            </a:pPr>
            <a:r>
              <a:t>[MEDIUM] Metal tabs use expert codes (XAU, XPT) more prominently than names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399" y="60533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Show metal name first, code smaller: 'Gold (XAU)'</a:t>
            </a:r>
          </a:p>
        </p:txBody>
      </p:sp>
      <p:sp>
        <p:nvSpPr>
          <p:cNvPr id="29" name="Oval 28"/>
          <p:cNvSpPr/>
          <p:nvPr/>
        </p:nvSpPr>
        <p:spPr>
          <a:xfrm>
            <a:off x="7498079" y="6537960"/>
            <a:ext cx="201168" cy="201168"/>
          </a:xfrm>
          <a:prstGeom prst="ellipse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399" y="649224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A8A04"/>
                </a:solidFill>
                <a:latin typeface="Calibri"/>
              </a:defRPr>
            </a:pPr>
            <a:r>
              <a:t>[MEDIUM] Trade nav link goes directly to Gold with no intermediate page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399" y="66934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Make Trade a dropdown or remember last-traded metal</a:t>
            </a:r>
          </a:p>
        </p:txBody>
      </p:sp>
      <p:sp>
        <p:nvSpPr>
          <p:cNvPr id="32" name="Oval 31"/>
          <p:cNvSpPr/>
          <p:nvPr/>
        </p:nvSpPr>
        <p:spPr>
          <a:xfrm>
            <a:off x="7498079" y="717804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399" y="713232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A34A"/>
                </a:solidFill>
                <a:latin typeface="Calibri"/>
              </a:defRPr>
            </a:pPr>
            <a:r>
              <a:t>[LOW] Account dropdown shows full account numbers adding noise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399" y="73334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Simplify to 'Current Account -- S$50,000.00'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Top 5 Priority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914400"/>
          </a:xfrm>
          <a:prstGeom prst="roundRect">
            <a:avLst>
              <a:gd name="adj" fmla="val 2000"/>
            </a:avLst>
          </a:prstGeom>
          <a:solidFill>
            <a:srgbClr val="F0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32588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280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Calibri"/>
              </a:defRPr>
            </a:pPr>
            <a:r>
              <a:t>Add Novice Investor Onboarding &amp; Contextual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00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What to fix: Add tooltips, a first-trade walkthrough, and inline explanations for trading terminology (Market/Limit orders, Bid/Ask/Spread, XAU codes). | Why it matters: The stated user is a novice investor. Every unexplained term is a drop-off point. Financial literacy cannot be assumed. | How to fix it: (a) Add `(?)` tooltip icons next to "Order Type", "Bid", "Ask", "Spread" with 1-sentence definitions. (b) Show dismissible first-visit banner. (c) Default to Market order + SGD to reduce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92400E"/>
                </a:solidFill>
                <a:latin typeface="Calibri"/>
              </a:defRPr>
            </a:pPr>
            <a:r>
              <a:t>Medium Lift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12848"/>
            <a:ext cx="10515600" cy="914400"/>
          </a:xfrm>
          <a:prstGeom prst="roundRect">
            <a:avLst>
              <a:gd name="adj" fmla="val 2000"/>
            </a:avLst>
          </a:prstGeom>
          <a:solidFill>
            <a:srgbClr val="F0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350008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042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Calibri"/>
              </a:defRPr>
            </a:pPr>
            <a:r>
              <a:t>Fix the Sell Flow for Zero-Balance Holdings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2432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What to fix: Prevent users from entering the sell flow when they hold 0 oz. | Why it matters: Error-provoking design violates Nielsen's Error Prevention heuristic. Users discover they can't sell only after entering data. | How to fix it: When holdings = 0, disable Sell toggle with tooltip or replace form with: "You don't have any Gold to sell. [Buy Gold now]".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3500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66534"/>
                </a:solidFill>
                <a:latin typeface="Calibri"/>
              </a:defRPr>
            </a:pPr>
            <a:r>
              <a:t>Quick Win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36976"/>
            <a:ext cx="10515600" cy="914400"/>
          </a:xfrm>
          <a:prstGeom prst="roundRect">
            <a:avLst>
              <a:gd name="adj" fmla="val 2000"/>
            </a:avLst>
          </a:prstGeom>
          <a:solidFill>
            <a:srgbClr val="F0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374136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2841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Calibri"/>
              </a:defRPr>
            </a:pPr>
            <a:r>
              <a:t>Add Cost Transparency on Order Review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4845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What to fix: Break down total into metal price, spread cost, and fees before confirmation. | Why it matters: Regulatory standards require clear cost disclosure. Hidden spread erodes trust. | How to fix it: Add Cost Breakdown section: Metal Price/oz, Spread (0.5%)/oz, You Pay (Ask)/oz, quantity, total, fees (S$0.00).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3741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66534"/>
                </a:solidFill>
                <a:latin typeface="Calibri"/>
              </a:defRPr>
            </a:pPr>
            <a:r>
              <a:t>Quick Win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61104"/>
            <a:ext cx="10515600" cy="914400"/>
          </a:xfrm>
          <a:prstGeom prst="roundRect">
            <a:avLst>
              <a:gd name="adj" fmla="val 2000"/>
            </a:avLst>
          </a:prstGeom>
          <a:solidFill>
            <a:srgbClr val="F0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398264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35254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Calibri"/>
              </a:defRPr>
            </a:pPr>
            <a:r>
              <a:t>Fix WCAG Accessibility Failures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67258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What to fix: (a) Muted text contrast, (b) touch targets below 44px, (c) no prefers-reduced-motion. | Why it matters: Three WCAG 2.1/2.2 Level AA violations. Legal liability for a financial product. | How to fix it: (a) Darken --muted-foreground to #5a5a6a. (b) Add min-height: 44px for coarse pointers. (c) Add prefers-reduced-motion media query.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43982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66534"/>
                </a:solidFill>
                <a:latin typeface="Calibri"/>
              </a:defRPr>
            </a:pPr>
            <a:r>
              <a:t>Quick Win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85232"/>
            <a:ext cx="10515600" cy="914400"/>
          </a:xfrm>
          <a:prstGeom prst="roundRect">
            <a:avLst>
              <a:gd name="adj" fmla="val 2000"/>
            </a:avLst>
          </a:prstGeom>
          <a:solidFill>
            <a:srgbClr val="F0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5422392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376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Calibri"/>
              </a:defRPr>
            </a:pPr>
            <a:r>
              <a:t>Simplify the Order Form for Novice Users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69671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What to fix: Reduce cognitive load — default Market + SGD, clarify Amount field, collapse advanced options. | Why it matters: 5+ simultaneous decisions paralyse novices. Reducing complexity increases completion by 20-30%. | How to fix it: (a) Rename "Amount" to "I want to spend" + show computed oz. (b) Hide currency selector behind toggle. (c) Hide Limit orders behind "Advanced" toggle.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5422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92400E"/>
                </a:solidFill>
                <a:latin typeface="Calibri"/>
              </a:defRPr>
            </a:pPr>
            <a:r>
              <a:t>Medium Lift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Accessibility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WCAG Criterion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11887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188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188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| 1.4.3 Contrast (Minimum)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600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AA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618488"/>
            <a:ext cx="822960" cy="228600"/>
          </a:xfrm>
          <a:prstGeom prst="roundRect">
            <a:avLst>
              <a:gd name="adj" fmla="val 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6002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--muted-foreground on --muted/--accent: ~3.5:1 (needs 4.5:1)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2.3.3 Animation from Interactions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103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AAA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121408"/>
            <a:ext cx="822960" cy="228600"/>
          </a:xfrm>
          <a:prstGeom prst="roundRect">
            <a:avLst>
              <a:gd name="adj" fmla="val 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103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No prefers-reduced-motion; all animations persist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06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2.5.8 Target Size (Minimum)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606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AA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624328"/>
            <a:ext cx="822960" cy="228600"/>
          </a:xfrm>
          <a:prstGeom prst="roundRect">
            <a:avLst>
              <a:gd name="adj" fmla="val 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606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Interactive elements at 36px, below 44px minimum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2.4.1 Bypass Blocks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108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3127248"/>
            <a:ext cx="822960" cy="228600"/>
          </a:xfrm>
          <a:prstGeom prst="roundRect">
            <a:avLst>
              <a:gd name="adj" fmla="val 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MISSING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108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No skip-navigation 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11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1.3.1 Info and Relationships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611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630168"/>
            <a:ext cx="822960" cy="228600"/>
          </a:xfrm>
          <a:prstGeom prst="roundRect">
            <a:avLst>
              <a:gd name="adj" fmla="val 2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UNCLEAR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611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Cannot verify label associations from static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4.1.3 Status Messages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114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AA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4133088"/>
            <a:ext cx="822960" cy="228600"/>
          </a:xfrm>
          <a:prstGeom prst="roundRect">
            <a:avLst>
              <a:gd name="adj" fmla="val 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LIKELY 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4114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Sonner toasts likely use ARIA live regions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617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2.1.1 Keyboard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617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63440" y="4636008"/>
            <a:ext cx="822960" cy="228600"/>
          </a:xfrm>
          <a:prstGeom prst="roundRect">
            <a:avLst>
              <a:gd name="adj" fmla="val 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4617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Radix UI provides keyboard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2.4.7 Focus Visible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5120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AA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5138928"/>
            <a:ext cx="822960" cy="228600"/>
          </a:xfrm>
          <a:prstGeom prst="roundRect">
            <a:avLst>
              <a:gd name="adj" fmla="val 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5120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:focus-visible rings with forced-colors fallback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897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Calibri"/>
              </a:defRPr>
            </a:pPr>
            <a:r>
              <a:t>Overall Accessibility Risk Level: HIGH — Three AA failures + missing Level A requirement.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What's Working Well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91440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73152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  <a:latin typeface="Calibri"/>
              </a:defRPr>
            </a:pPr>
            <a:r>
              <a:t>Logical, complete flow architecture.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The buy flow (Dashboard → Trade → Review → Confirmation) is a well-structured 4-step funnel with clear back paths and 3 next actions on confirmation.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515600" cy="91440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73152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  <a:latin typeface="Calibri"/>
              </a:defRPr>
            </a:pPr>
            <a:r>
              <a:t>Excellent product information content.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The Products page includes "About", "Why Invest", "Fun Facts", and FAQ for each metal — written in accessible plain English. High-quality educational content.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0515600" cy="91440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73152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8328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  <a:latin typeface="Calibri"/>
              </a:defRPr>
            </a:pPr>
            <a:r>
              <a:t>Real-time price data with smart refresh.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033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Prices refresh every 5s, holdings every 10s. The "Live" indicator provides system status. Bid/ask/spread display follows financial conventions.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43400"/>
            <a:ext cx="10515600" cy="91440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343400"/>
            <a:ext cx="73152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348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  <a:latin typeface="Calibri"/>
              </a:defRPr>
            </a:pPr>
            <a:r>
              <a:t>Multi-currency support.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5 currencies with automatic account matching is genuinely useful for Singapore-based international investors.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94960"/>
            <a:ext cx="10515600" cy="91440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394960"/>
            <a:ext cx="73152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48640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  <a:latin typeface="Calibri"/>
              </a:defRPr>
            </a:pPr>
            <a:r>
              <a:t>Modern, credible visual design.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8064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The amber/gold brand identity is appropriate. Clean shadcn/ui aesthetic feels professional and trustworthy.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Generated by UX Audit Skill  ·  2026-03-09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
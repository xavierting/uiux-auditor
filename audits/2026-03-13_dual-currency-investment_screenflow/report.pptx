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UI/UX Audit Report: OCBC Dual Currency Investment (DCI)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Comprehensive UI/UX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AUDIT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13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Web Desktop (1280px+)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AUDITOR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A580C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UX Health Score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Calibri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C262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A580C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A580C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EFCE8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CA8A0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A8A0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114800"/>
            <a:ext cx="2560320" cy="164592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4297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6A34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  <a:latin typeface="Calibri"/>
              </a:defRPr>
            </a:pPr>
            <a:r>
              <a:t>Total Findings: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Reinvest Step 1 (Strike Not Met)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Silent currency pair swap on reinvestment. When strike price is NOT met, the reinvestment screen swaps the currency pair (e.g., USD/SGD becomes SGD/EUR) without any banner, warning, or explanation.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a prominent banner: 'Your settlement was in [SGD]. Your new investment will use [SGD] as the base currency. This differs from your original pair [USD/SGD].' Offer choice between same pair or settlement-based pair.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 /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Scenario B does not show base-currency equivalent value. User sees '258,392.17 SGD' but cannot assess whether this represents a gain or loss relative to their 200,000 USD investment without mental FX arithmetic.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a line below Scenario B settlement: 'Equivalent to approximately ~USD [X] at current spot rate.' Flag in red if the equivalent is below original investment.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 /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Green/red color coding on scenario badges biases perception. 'Base Currency' badge is green (positive connotation), 'Alternate Currency' badge is red/coral (negative connotation). Both scenarios produce positive yield; the color coding creates an unfair implicit hierarchy.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Use neutral colors for both scenario badges (e.g., both navy/dark grey). Reserve green/red exclusively for gain/loss indicators in settlement breakdowns.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explicit risk statement or acknowledgment before Submit. The only pre-commitment safeguard is a single-line T&amp;C link. No standalone risk disclosure, no plain-language summary of 'what could happen,' no friction step like a checkbox.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a risk summary box above Submit: 'Important: If the strike price is not met, your principal will be converted to [alternate currency] at the strike rate.' Require checkbox: 'I understand my investment may be settled in [alternate currency].'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All Form Screens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error states, validation feedback, or loading states designed across any screen. No inline field validation errors, submission failures, network timeout states, processing indicators, or session expiry warnings.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 inline validation (min/max amount, numeric format), processing overlay for submission, error states with retry, session timeout warning, insufficient funds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Strike price presented without any plain-language definition or explanation. Five radio options show values, '% from spot,' and 'Indicative yield' but never explain what strike price is, what 'from spot' means, or why higher strike reduces yield.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contextual tooltip: 'The strike price determines the exchange rate threshold. If the market rate is above/below this at expiry, you receive base/alternate currency. Further from spot = higher yield but higher conversion probability.'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Yield visually dominates risk in the strike price selector. Bold red yield percentages (right-aligned) draw the eye first; risk parameters ('% from spot') are in smaller grey text (left-aligned). Visual hierarchy inverts appropriate weighting for a risk-bearing product.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Give 'from spot' percentage equal visual weight (same font size and weight). Consider reframing as 'conversion probability: higher/lower' to make risk tangible.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 / Landing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Green overloaded with 5+ distinct meanings: success checkmark, 'Base Currency' badge, 'Strike Price Met' banner, positive yield amount, 'Active' status, and OCBC logo. Creates ambiguity between 'good for you' and 'base currency.'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Reserve green for explicit gain/positive indicators only. Use navy or brand colors for currency badges and neutral blue for informational status badges.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 /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Yield shown as annualized rate ('6.50% p.a.') without period return. For a 1-month tenor, actual return is ~0.54% (~USD 1,083 on USD 200,000). Users may expect 6.5% total return.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Show both: '6.50% p.a. (~0.54% for 1 month)' on strike price selectors. In Potential Outcomes, add: 'Estimated return: USD 1,083.33 (0.54% of principal).'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Landing (Active Investments)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Action-critical settlement notifications buried as inline banners within dense table. Strike Price Met/Not Met banners appear between table rows, competing visually with dense data. Most time-sensitive items are not visually prioritized.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Create a 'Requires Action' card section at the top of the Active Investments view with prominent Reinvest/View Details CTAs. Keep the full table below for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Details (Strike Not Met)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Warning triangle icon on 'Strike Price Not Met' implies error/problem when it is a normal, expected product outcome. For users who placed DCI for currency conversion purposes, alternate-currency settlement may be the desired outcome.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Use a neutral blue information icon instead of warning triangle. Change banner to outcome-neutral: 'Your investment will be settled in [alternate currency] at the strike rate.'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Multi-Currency Account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Account gate uses completely different nav bar configuration ('FX and treasury' lowercase, 'Trade finance' active) and is a dead end with no timeline, alternatives, or back navigation. Different nav config from all other DCI screens.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Use same nav bar config as rest of DCI flow. Add estimated processing time, required documents, 'Learn More' link, and back navigation.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Investment Parameters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'$0,000.00 USD' minimum amount is a formatting bug/template error. In a financial product, displaying a malformed monetary value undermines trust at the very first input field.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Fix data binding to display actual minimum (e.g., 'Minimum amount: 50,000.00 USD'). Ensure currency format consistency.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All Screens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Navigation label inconsistency: 'FX and Investment' (most screens) vs 'FX and Treasury' (details screens) vs 'FX and treasury' (MCA gate). Three different nav bar configurations within the same product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Standardize to 'FX and Investment' across all DCI screens. Audit all screens against a single nav component.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All Flow Screens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step indicator or progress bar across the multi-step placement flow. User moves through Parameters &gt; Account Selection &gt; Review &gt; Confirmation with no visual indication of position or steps remaining.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horizontal step indicator: 'Step 1 of 3: Investment Parameters &gt; Step 2 of 3: Account Selection &gt; Step 3 of 3: Review &amp; Submit.'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Confirmation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Confirmation is a dead end. Only CTA is 'Place Another Investment.' No link to view the investment in portfolio, view investment details, or return to DCI landing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'View Investment Details' (primary) and 'Return to DCI Portfolio' (link) alongside existing 'Place Another Investment.'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Review vs Parameters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Scenario condition language differs between screens. Parameters: 'If fixing rate is &gt;= 1.2850 on expiry.' Review: 'If spot rate &gt;= 1.2850 at maturity.' Different rate names and time references for the same condition.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Standardize: 'If the market exchange rate is at or above [strike price] on the Expiry Date ([date])' across all screens.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Confirmation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Collapsed confirmation lacks key parameter summary. User sees success message and reference number but must expand to verify investment details (amount, currency pair, strike, yield).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Show brief summary above timeline: 'USD 200,000.00 | USD/SGD | Strike: 1.2850 | Yield: 6.50% p.a. | Maturity: 19 Dec 2025.'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Landing (Active)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Cross-currency KPI aggregation unclear. 'Total Invested Amount: 1,500,000.00 SGD' aggregates USD, EUR, and AUD investments into SGD equivalent without disclosing the conversion basis.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Label as 'Total Invested (SGD equivalent)' or show separate totals per base currency.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24728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5824728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161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1616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Review / Parameters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961888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97880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Potential Outcomes visual treatment changes between Parameters and Review screens. Parameters uses white cards with colored badges; Review uses full-width cards with colored backgrounds. Layout shifts from two-column to single-column.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978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Maintain consistent visual treatment for Potential Outcomes cards across all screens.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Findings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508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Landing (Active)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58191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Status badges use inconsistent visual treatments: 'Active' is text-only, 'Expiring Soon' is orange text, 'Awaiting Settlement' is green outline pill. No unified badge component.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Standardize all status badges to use the same shape and size, varying only in color. All should be pill badges.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73152" cy="10058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587752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Landing (Active)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24912"/>
            <a:ext cx="777240" cy="256032"/>
          </a:xfrm>
          <a:prstGeom prst="roundRect">
            <a:avLst>
              <a:gd name="adj" fmla="val 2000"/>
            </a:avLst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60904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'Expiring Soon' status in table provides no urgency context — no expiry date inline, no countdown, no indication of required 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6090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Add expiry date inline or as tooltip: 'Expires 10 Nov 2025 (2 days).'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66744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666744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58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5818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Landing (Empty)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03904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39896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Filter controls (All Currencies, Status, Tenor, Search) visible on empty state when there is no data to filter.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989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Hide filter controls when there are no investments.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45736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" y="4745736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371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3717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Landing (Empty)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82896"/>
            <a:ext cx="77724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818888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Landing page value propositions are generic and marketing-heavy. 'Maximise your investment returns' and 'Great for currency conversion needs' don't differentiate DCI from a deposit or FX forward.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1888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Replace with specific value props: 'Earn yields of X-Y% p.a. on your idle foreign currency' and 'Choose your preferred conversion rate while earning returns.'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Confirm Omc</a:t>
            </a:r>
          </a:p>
        </p:txBody>
      </p:sp>
      <p:pic>
        <p:nvPicPr>
          <p:cNvPr id="3" name="Picture 2" descr="confirm-omc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4843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Account gate uses completely different nav bar configuration ('FX and treasury' lowercase, 'Trade finance' active) and is a dead end with no timeline, alternatives, or back navigation. Different nav config from all other DCI screens.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Use same nav bar config as rest of DCI flow. Add estimated processing time, required documents, 'Learn More' link, and back navigation.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Account gate uses completely different nav bar configuration ('FX and treasury' lowercase, 'Trade finance' active) and is a dead end with no timeline, alternatives, or back navigation. Different nav config from all other DCI screens.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Use same nav bar config as rest of DCI flow. Add estimated processing time, required documents, 'Learn More' link, and back navigation.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Day 1 Add Delete Users 3</a:t>
            </a:r>
          </a:p>
        </p:txBody>
      </p:sp>
      <p:pic>
        <p:nvPicPr>
          <p:cNvPr id="3" name="Picture 2" descr="day-1-add-delete-users-3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964531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Scenario B does not show base-currency equivalent value. User sees '258,392.17 SGD' but cannot assess whether this represents a gain or loss relative to their 200,000 USD investment without mental FX arithmetic.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a line below Scenario B settlement: 'Equivalent to approximately ~USD [X] at current spot rate.' Flag in red if the equivalent is below original investment.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Green/red color coding on scenario badges biases perception. 'Base Currency' badge is green (positive connotation), 'Alternate Currency' badge is red/coral (negative connotation). Both scenarios produce positive yield; the color coding creates an unfair implicit hierarchy.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Use neutral colors for both scenario badges (e.g., both navy/dark grey). Reserve green/red exclusively for gain/loss indicators in settlement breakdowns.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69748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651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Strike price presented without any plain-language definition or explanation. Five radio options show values, '% from spot,' and 'Indicative yield' but never explain what strike price is, what 'from spot' means, or why higher strike reduces yield.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contextual tooltip: 'The strike price determines the exchange rate threshold. If the market rate is above/below this at expiry, you receive base/alternate currency. Further from spot = higher yield but higher conversion probability.'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333756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32918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Yield visually dominates risk in the strike price selector. Bold red yield percentages (right-aligned) draw the eye first; risk parameters ('% from spot') are in smaller grey text (left-aligned). Visual hierarchy inverts appropriate weighting for a risk-bearing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399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Give 'from spot' percentage equal visual weight (same font size and weight). Consider reframing as 'conversion probability: higher/lower' to make risk tangible.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97764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9319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Yield shown as annualized rate ('6.50% p.a.') without period return. For a 1-month tenor, actual return is ~0.54% (~USD 1,083 on USD 200,000). Users may expect 6.5% total return.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4133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Show both: '6.50% p.a. (~0.54% for 1 month)' on strike price selectors. In Potential Outcomes, add: 'Estimated return: USD 1,083.33 (0.54% of principal).'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46177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9" y="45720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'$0,000.00 USD' minimum amount is a formatting bug/template error. In a financial product, displaying a malformed monetary value undermines trust at the very first input field.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Fix data binding to display actual minimum (e.g., 'Minimum amount: 50,000.00 USD'). Ensure currency format consistency.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79" y="525780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399" y="52120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No step indicator or progress bar across the multi-step placement flow. User moves through Parameters &gt; Account Selection &gt; Review &gt; Confirmation with no visual indication of position or steps remaining.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9" y="5413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horizontal step indicator: 'Step 1 of 3: Investment Parameters &gt; Step 2 of 3: Account Selection &gt; Step 3 of 3: Review &amp; Submit.'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Investment Details Awaiting Settlement Strike Price Not Met</a:t>
            </a:r>
          </a:p>
        </p:txBody>
      </p:sp>
      <p:pic>
        <p:nvPicPr>
          <p:cNvPr id="3" name="Picture 2" descr="investment-details-awaiting-settlement-strike-price-not-met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46706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Warning triangle icon on 'Strike Price Not Met' implies error/problem when it is a normal, expected product outcome. For users who placed DCI for currency conversion purposes, alternate-currency settlement may be the desired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Use a neutral blue information icon instead of warning triangle. Change banner to outcome-neutral: 'Your investment will be settled in [alternate currency] at the strike rate.'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Overseas Confirmation Maker Collapsed</a:t>
            </a:r>
          </a:p>
        </p:txBody>
      </p:sp>
      <p:pic>
        <p:nvPicPr>
          <p:cNvPr id="3" name="Picture 2" descr="overseas-confirmation-maker-collapsed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50406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Confirmation is a dead end. Only CTA is 'Place Another Investment.' No link to view the investment in portfolio, view investment details, or return to DCI landing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'View Investment Details' (primary) and 'Return to DCI Portfolio' (link) alongside existing 'Place Another Investment.'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Collapsed confirmation lacks key parameter summary. User sees success message and reference number but must expand to verify investment details (amount, currency pair, strike, yield).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Show brief summary above timeline: 'USD 200,000.00 | USD/SGD | Strike: 1.2850 | Yield: 6.50% p.a. | Maturity: 19 Dec 2025.'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Reinvest Step 1 Strike Price Not Met</a:t>
            </a:r>
          </a:p>
        </p:txBody>
      </p:sp>
      <p:pic>
        <p:nvPicPr>
          <p:cNvPr id="3" name="Picture 2" descr="reinvest-step-1-strike-price-not-met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964531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Silent currency pair swap on reinvestment. When strike price is NOT met, the reinvestment screen swaps the currency pair (e.g., USD/SGD becomes SGD/EUR) without any banner, warning, or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a prominent banner: 'Your settlement was in [SGD]. Your new investment will use [SGD] as the base currency. This differs from your original pair [USD/SGD].' Offer choice between same pair or settlement-based pair.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Renew Landing Uploaded File 3</a:t>
            </a:r>
          </a:p>
        </p:txBody>
      </p:sp>
      <p:pic>
        <p:nvPicPr>
          <p:cNvPr id="3" name="Picture 2" descr="renew-landing-uploaded-file-3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087808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Action-critical settlement notifications buried as inline banners within dense table. Strike Price Met/Not Met banners appear between table rows, competing visually with dense data. Most time-sensitive items are not visually prioritized.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Create a 'Requires Action' card section at the top of the Active Investments view with prominent Reinvest/View Details CTAs. Keep the full table below for monitoring.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Green overloaded with 5+ distinct meanings: success checkmark, 'Base Currency' badge, 'Strike Price Met' banner, positive yield amount, 'Active' status, and OCBC logo. Creates ambiguity between 'good for you' and 'base currency.'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Reserve green for explicit gain/positive indicators only. Use navy or brand colors for currency badges and neutral blue for informational status badges.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697480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651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A580C"/>
                </a:solidFill>
                <a:latin typeface="Calibri"/>
              </a:defRPr>
            </a:pPr>
            <a:r>
              <a:t>[HIGH] Navigation label inconsistency: 'FX and Investment' (most screens) vs 'FX and Treasury' (details screens) vs 'FX and treasury' (MCA gate). Three different nav bar configurations within the same product 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Standardize to 'FX and Investment' across all DCI screens. Audit all screens against a single nav component.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333756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32918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Cross-currency KPI aggregation unclear. 'Total Invested Amount: 1,500,000.00 SGD' aggregates USD, EUR, and AUD investments into SGD equivalent without disclosing the conversion basis.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399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Label as 'Total Invested (SGD equivalent)' or show separate totals per base currency.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97764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9319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Status badges use inconsistent visual treatments: 'Active' is text-only, 'Expiring Soon' is orange text, 'Awaiting Settlement' is green outline pill. No unified badge component.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4133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Standardize all status badges to use the same shape and size, varying only in color. All should be pill badges.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461772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9" y="45720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'Expiring Soon' status in table provides no urgency context — no expiry date inline, no countdown, no indication of required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expiry date inline or as tooltip: 'Expires 10 Nov 2025 (2 days).'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Review</a:t>
            </a:r>
          </a:p>
        </p:txBody>
      </p:sp>
      <p:pic>
        <p:nvPicPr>
          <p:cNvPr id="3" name="Picture 2" descr="review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864869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alibri"/>
              </a:defRPr>
            </a:pPr>
            <a:r>
              <a:t>Findings on this screen: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417320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9" y="137160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C2626"/>
                </a:solidFill>
                <a:latin typeface="Calibri"/>
              </a:defRPr>
            </a:pPr>
            <a:r>
              <a:t>[CRITICAL] No explicit risk statement or acknowledgment before Submit. The only pre-commitment safeguard is a single-line T&amp;C link. No standalone risk disclosure, no plain-language summary of 'what could happen,' no friction step like a checkbox.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399" y="1572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Add a risk summary box above Submit: 'Important: If the strike price is not met, your principal will be converted to [alternate currency] at the strike rate.' Require checkbox: 'I understand my investment may be settled in [alternate currency].'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205740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Scenario condition language differs between screens. Parameters: 'If fixing rate is &gt;= 1.2850 on expiry.' Review: 'If spot rate &gt;= 1.2850 at maturity.' Different rate names and time references for the same condition.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212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Standardize: 'If the market exchange rate is at or above [strike price] on the Expiry Date ([date])' across all screens.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697480"/>
            <a:ext cx="201168" cy="201168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6517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A8A04"/>
                </a:solidFill>
                <a:latin typeface="Calibri"/>
              </a:defRPr>
            </a:pPr>
            <a:r>
              <a:t>[MEDIUM] Potential Outcomes visual treatment changes between Parameters and Review screens. Parameters uses white cards with colored badges; Review uses full-width cards with colored backgrounds. Layout shifts from two-column to single-column.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→ Maintain consistent visual treatment for Potential Outcomes cards across all screens.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Generated by UX Audit Skill  ·  13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
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l">
              <a:defRPr sz="3600" b="1">
                <a:solidFill>
                  <a:srgbClr val="FFFFFF"/>
                </a:solidFill>
                <a:latin typeface="Calibri"/>
              </a:defRPr>
            </a:pPr>
            <a:r>
              <a:t>UI/UX AUDIT REPORT: Precious Metals Trading App (Audited Version)</a:t>
            </a:r>
          </a:p>
        </p:txBody>
      </p:sp>
      <p:sp>
        <p:nvSpPr>
          <p:cNvPr id="3" name="TextBox 2"/>
          <p:cNvSpPr txBox="1"/>
          <p:nvPr/>
        </p:nvSpPr>
        <p:spPr>
          <a:xfrm>
            <a:off x="914400" y="2468880"/>
            <a:ext cx="10058400" cy="457200"/>
          </a:xfrm>
          <a:prstGeom prst="rect">
            <a:avLst/>
          </a:prstGeom>
          <a:noFill/>
        </p:spPr>
        <p:txBody>
          <a:bodyPr wrap="square">
            <a:spAutoFit/>
          </a:bodyPr>
          <a:lstStyle/>
          <a:p>
            <a:pPr algn="l">
              <a:defRPr sz="1800" b="0">
                <a:solidFill>
                  <a:srgbClr val="94A3B8"/>
                </a:solidFill>
                <a:latin typeface="Calibri"/>
              </a:defRPr>
            </a:pPr>
            <a:r>
              <a:t>Comprehensive UI/UX Audit Report</a:t>
            </a:r>
          </a:p>
        </p:txBody>
      </p:sp>
      <p:sp>
        <p:nvSpPr>
          <p:cNvPr id="4" name="TextBox 3"/>
          <p:cNvSpPr txBox="1"/>
          <p:nvPr/>
        </p:nvSpPr>
        <p:spPr>
          <a:xfrm>
            <a:off x="914400" y="3474720"/>
            <a:ext cx="1828800" cy="274320"/>
          </a:xfrm>
          <a:prstGeom prst="rect">
            <a:avLst/>
          </a:prstGeom>
          <a:noFill/>
        </p:spPr>
        <p:txBody>
          <a:bodyPr wrap="square">
            <a:spAutoFit/>
          </a:bodyPr>
          <a:lstStyle/>
          <a:p>
            <a:pPr algn="l">
              <a:defRPr sz="900" b="0">
                <a:solidFill>
                  <a:srgbClr val="64748B"/>
                </a:solidFill>
                <a:latin typeface="Calibri"/>
              </a:defRPr>
            </a:pPr>
            <a:r>
              <a:t>AUDIT DATE</a:t>
            </a:r>
          </a:p>
        </p:txBody>
      </p:sp>
      <p:sp>
        <p:nvSpPr>
          <p:cNvPr id="5" name="TextBox 4"/>
          <p:cNvSpPr txBox="1"/>
          <p:nvPr/>
        </p:nvSpPr>
        <p:spPr>
          <a:xfrm>
            <a:off x="914400" y="3703320"/>
            <a:ext cx="4572000" cy="274320"/>
          </a:xfrm>
          <a:prstGeom prst="rect">
            <a:avLst/>
          </a:prstGeom>
          <a:noFill/>
        </p:spPr>
        <p:txBody>
          <a:bodyPr wrap="square">
            <a:spAutoFit/>
          </a:bodyPr>
          <a:lstStyle/>
          <a:p>
            <a:pPr algn="l">
              <a:defRPr sz="1300" b="0">
                <a:solidFill>
                  <a:srgbClr val="FFFFFF"/>
                </a:solidFill>
                <a:latin typeface="Calibri"/>
              </a:defRPr>
            </a:pPr>
            <a:r>
              <a:t>2026-03-10</a:t>
            </a:r>
          </a:p>
        </p:txBody>
      </p:sp>
      <p:sp>
        <p:nvSpPr>
          <p:cNvPr id="6" name="TextBox 5"/>
          <p:cNvSpPr txBox="1"/>
          <p:nvPr/>
        </p:nvSpPr>
        <p:spPr>
          <a:xfrm>
            <a:off x="914400" y="4069080"/>
            <a:ext cx="1828800" cy="274320"/>
          </a:xfrm>
          <a:prstGeom prst="rect">
            <a:avLst/>
          </a:prstGeom>
          <a:noFill/>
        </p:spPr>
        <p:txBody>
          <a:bodyPr wrap="square">
            <a:spAutoFit/>
          </a:bodyPr>
          <a:lstStyle/>
          <a:p>
            <a:pPr algn="l">
              <a:defRPr sz="900" b="0">
                <a:solidFill>
                  <a:srgbClr val="64748B"/>
                </a:solidFill>
                <a:latin typeface="Calibri"/>
              </a:defRPr>
            </a:pPr>
            <a:r>
              <a:t>PLATFORM</a:t>
            </a:r>
          </a:p>
        </p:txBody>
      </p:sp>
      <p:sp>
        <p:nvSpPr>
          <p:cNvPr id="7" name="TextBox 6"/>
          <p:cNvSpPr txBox="1"/>
          <p:nvPr/>
        </p:nvSpPr>
        <p:spPr>
          <a:xfrm>
            <a:off x="914400" y="4297680"/>
            <a:ext cx="4572000" cy="274320"/>
          </a:xfrm>
          <a:prstGeom prst="rect">
            <a:avLst/>
          </a:prstGeom>
          <a:noFill/>
        </p:spPr>
        <p:txBody>
          <a:bodyPr wrap="square">
            <a:spAutoFit/>
          </a:bodyPr>
          <a:lstStyle/>
          <a:p>
            <a:pPr algn="l">
              <a:defRPr sz="1300" b="0">
                <a:solidFill>
                  <a:srgbClr val="FFFFFF"/>
                </a:solidFill>
                <a:latin typeface="Calibri"/>
              </a:defRPr>
            </a:pPr>
            <a:r>
              <a:t>Web Desktop (1280px)</a:t>
            </a:r>
          </a:p>
        </p:txBody>
      </p:sp>
      <p:sp>
        <p:nvSpPr>
          <p:cNvPr id="8" name="TextBox 7"/>
          <p:cNvSpPr txBox="1"/>
          <p:nvPr/>
        </p:nvSpPr>
        <p:spPr>
          <a:xfrm>
            <a:off x="914400" y="4663440"/>
            <a:ext cx="1828800" cy="274320"/>
          </a:xfrm>
          <a:prstGeom prst="rect">
            <a:avLst/>
          </a:prstGeom>
          <a:noFill/>
        </p:spPr>
        <p:txBody>
          <a:bodyPr wrap="square">
            <a:spAutoFit/>
          </a:bodyPr>
          <a:lstStyle/>
          <a:p>
            <a:pPr algn="l">
              <a:defRPr sz="900" b="0">
                <a:solidFill>
                  <a:srgbClr val="64748B"/>
                </a:solidFill>
                <a:latin typeface="Calibri"/>
              </a:defRPr>
            </a:pPr>
            <a:r>
              <a:t>AUDITOR PERSONA</a:t>
            </a:r>
          </a:p>
        </p:txBody>
      </p:sp>
      <p:sp>
        <p:nvSpPr>
          <p:cNvPr id="9" name="TextBox 8"/>
          <p:cNvSpPr txBox="1"/>
          <p:nvPr/>
        </p:nvSpPr>
        <p:spPr>
          <a:xfrm>
            <a:off x="914400" y="4892040"/>
            <a:ext cx="4572000" cy="274320"/>
          </a:xfrm>
          <a:prstGeom prst="rect">
            <a:avLst/>
          </a:prstGeom>
          <a:noFill/>
        </p:spPr>
        <p:txBody>
          <a:bodyPr wrap="square">
            <a:spAutoFit/>
          </a:bodyPr>
          <a:lstStyle/>
          <a:p>
            <a:pPr algn="l">
              <a:defRPr sz="1300" b="0">
                <a:solidFill>
                  <a:srgbClr val="FFFFFF"/>
                </a:solidFill>
                <a:latin typeface="Calibri"/>
              </a:defRPr>
            </a:pPr>
            <a:r>
              <a:t>Novice investor looking to make their first precious metals trade</a:t>
            </a:r>
          </a:p>
        </p:txBody>
      </p:sp>
      <p:sp>
        <p:nvSpPr>
          <p:cNvPr id="10" name="TextBox 9"/>
          <p:cNvSpPr txBox="1"/>
          <p:nvPr/>
        </p:nvSpPr>
        <p:spPr>
          <a:xfrm>
            <a:off x="914400" y="5257800"/>
            <a:ext cx="1828800" cy="274320"/>
          </a:xfrm>
          <a:prstGeom prst="rect">
            <a:avLst/>
          </a:prstGeom>
          <a:noFill/>
        </p:spPr>
        <p:txBody>
          <a:bodyPr wrap="square">
            <a:spAutoFit/>
          </a:bodyPr>
          <a:lstStyle/>
          <a:p>
            <a:pPr algn="l">
              <a:defRPr sz="900" b="0">
                <a:solidFill>
                  <a:srgbClr val="64748B"/>
                </a:solidFill>
                <a:latin typeface="Calibri"/>
              </a:defRPr>
            </a:pPr>
            <a:r>
              <a:t>URL</a:t>
            </a:r>
          </a:p>
        </p:txBody>
      </p:sp>
      <p:sp>
        <p:nvSpPr>
          <p:cNvPr id="11" name="TextBox 10"/>
          <p:cNvSpPr txBox="1"/>
          <p:nvPr/>
        </p:nvSpPr>
        <p:spPr>
          <a:xfrm>
            <a:off x="914400" y="5486400"/>
            <a:ext cx="4572000" cy="274320"/>
          </a:xfrm>
          <a:prstGeom prst="rect">
            <a:avLst/>
          </a:prstGeom>
          <a:noFill/>
        </p:spPr>
        <p:txBody>
          <a:bodyPr wrap="square">
            <a:spAutoFit/>
          </a:bodyPr>
          <a:lstStyle/>
          <a:p>
            <a:pPr algn="l">
              <a:defRPr sz="1300" b="0">
                <a:solidFill>
                  <a:srgbClr val="FFFFFF"/>
                </a:solidFill>
                <a:latin typeface="Calibri"/>
              </a:defRPr>
            </a:pPr>
            <a:r>
              <a:t>https://git-mocha-82857934.figma.site</a:t>
            </a:r>
          </a:p>
        </p:txBody>
      </p:sp>
      <p:sp>
        <p:nvSpPr>
          <p:cNvPr id="12" name="TextBox 11"/>
          <p:cNvSpPr txBox="1"/>
          <p:nvPr/>
        </p:nvSpPr>
        <p:spPr>
          <a:xfrm>
            <a:off x="8686800" y="2926080"/>
            <a:ext cx="2286000" cy="1371600"/>
          </a:xfrm>
          <a:prstGeom prst="rect">
            <a:avLst/>
          </a:prstGeom>
          <a:noFill/>
        </p:spPr>
        <p:txBody>
          <a:bodyPr wrap="square">
            <a:spAutoFit/>
          </a:bodyPr>
          <a:lstStyle/>
          <a:p>
            <a:pPr algn="ctr">
              <a:defRPr sz="7200" b="1">
                <a:solidFill>
                  <a:srgbClr val="EA580C"/>
                </a:solidFill>
                <a:latin typeface="Calibri"/>
              </a:defRPr>
            </a:pPr>
            <a:r>
              <a:t>7.5</a:t>
            </a:r>
          </a:p>
        </p:txBody>
      </p:sp>
      <p:sp>
        <p:nvSpPr>
          <p:cNvPr id="13" name="TextBox 12"/>
          <p:cNvSpPr txBox="1"/>
          <p:nvPr/>
        </p:nvSpPr>
        <p:spPr>
          <a:xfrm>
            <a:off x="8686800" y="4297680"/>
            <a:ext cx="2286000" cy="365760"/>
          </a:xfrm>
          <a:prstGeom prst="rect">
            <a:avLst/>
          </a:prstGeom>
          <a:noFill/>
        </p:spPr>
        <p:txBody>
          <a:bodyPr wrap="square">
            <a:spAutoFit/>
          </a:bodyPr>
          <a:lstStyle/>
          <a:p>
            <a:pPr algn="ctr">
              <a:defRPr sz="1200" b="0">
                <a:solidFill>
                  <a:srgbClr val="94A3B8"/>
                </a:solidFill>
                <a:latin typeface="Calibri"/>
              </a:defRPr>
            </a:pPr>
            <a:r>
              <a:t>UX Health Score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Executive Summary</a:t>
            </a:r>
          </a:p>
        </p:txBody>
      </p:sp>
      <p:sp>
        <p:nvSpPr>
          <p:cNvPr id="3" name="TextBox 2"/>
          <p:cNvSpPr txBox="1"/>
          <p:nvPr/>
        </p:nvSpPr>
        <p:spPr>
          <a:xfrm>
            <a:off x="731520" y="1097280"/>
            <a:ext cx="7315200" cy="2286000"/>
          </a:xfrm>
          <a:prstGeom prst="rect">
            <a:avLst/>
          </a:prstGeom>
          <a:noFill/>
        </p:spPr>
        <p:txBody>
          <a:bodyPr wrap="square">
            <a:spAutoFit/>
          </a:bodyPr>
          <a:lstStyle/>
          <a:p>
            <a:pPr algn="l">
              <a:defRPr sz="1300" b="0">
                <a:solidFill>
                  <a:srgbClr val="374151"/>
                </a:solidFill>
                <a:latin typeface="Calibri"/>
              </a:defRPr>
            </a:pPr>
          </a:p>
        </p:txBody>
      </p:sp>
      <p:sp>
        <p:nvSpPr>
          <p:cNvPr id="4" name="Rounded Rectangle 3"/>
          <p:cNvSpPr/>
          <p:nvPr/>
        </p:nvSpPr>
        <p:spPr>
          <a:xfrm>
            <a:off x="731520" y="4114800"/>
            <a:ext cx="2560320" cy="1645920"/>
          </a:xfrm>
          <a:prstGeom prst="roundRect">
            <a:avLst>
              <a:gd name="adj" fmla="val 2000"/>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297680"/>
            <a:ext cx="1828800" cy="731520"/>
          </a:xfrm>
          <a:prstGeom prst="rect">
            <a:avLst/>
          </a:prstGeom>
          <a:noFill/>
        </p:spPr>
        <p:txBody>
          <a:bodyPr wrap="square">
            <a:spAutoFit/>
          </a:bodyPr>
          <a:lstStyle/>
          <a:p>
            <a:pPr algn="ctr">
              <a:defRPr sz="4200" b="1">
                <a:solidFill>
                  <a:srgbClr val="DC2626"/>
                </a:solidFill>
                <a:latin typeface="Calibri"/>
              </a:defRPr>
            </a:pPr>
            <a:r>
              <a:t>0</a:t>
            </a:r>
          </a:p>
        </p:txBody>
      </p:sp>
      <p:sp>
        <p:nvSpPr>
          <p:cNvPr id="6" name="TextBox 5"/>
          <p:cNvSpPr txBox="1"/>
          <p:nvPr/>
        </p:nvSpPr>
        <p:spPr>
          <a:xfrm>
            <a:off x="1005840" y="5120640"/>
            <a:ext cx="1828800" cy="365760"/>
          </a:xfrm>
          <a:prstGeom prst="rect">
            <a:avLst/>
          </a:prstGeom>
          <a:noFill/>
        </p:spPr>
        <p:txBody>
          <a:bodyPr wrap="square">
            <a:spAutoFit/>
          </a:bodyPr>
          <a:lstStyle/>
          <a:p>
            <a:pPr algn="ctr">
              <a:defRPr sz="1100" b="1">
                <a:solidFill>
                  <a:srgbClr val="DC2626"/>
                </a:solidFill>
                <a:latin typeface="Calibri"/>
              </a:defRPr>
            </a:pPr>
            <a:r>
              <a:t>CRITICAL</a:t>
            </a:r>
          </a:p>
        </p:txBody>
      </p:sp>
      <p:sp>
        <p:nvSpPr>
          <p:cNvPr id="7" name="Rounded Rectangle 6"/>
          <p:cNvSpPr/>
          <p:nvPr/>
        </p:nvSpPr>
        <p:spPr>
          <a:xfrm>
            <a:off x="3566160" y="4114800"/>
            <a:ext cx="2560320" cy="1645920"/>
          </a:xfrm>
          <a:prstGeom prst="roundRect">
            <a:avLst>
              <a:gd name="adj" fmla="val 2000"/>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4297680"/>
            <a:ext cx="1828800" cy="731520"/>
          </a:xfrm>
          <a:prstGeom prst="rect">
            <a:avLst/>
          </a:prstGeom>
          <a:noFill/>
        </p:spPr>
        <p:txBody>
          <a:bodyPr wrap="square">
            <a:spAutoFit/>
          </a:bodyPr>
          <a:lstStyle/>
          <a:p>
            <a:pPr algn="ctr">
              <a:defRPr sz="4200" b="1">
                <a:solidFill>
                  <a:srgbClr val="EA580C"/>
                </a:solidFill>
                <a:latin typeface="Calibri"/>
              </a:defRPr>
            </a:pPr>
            <a:r>
              <a:t>4</a:t>
            </a:r>
          </a:p>
        </p:txBody>
      </p:sp>
      <p:sp>
        <p:nvSpPr>
          <p:cNvPr id="9" name="TextBox 8"/>
          <p:cNvSpPr txBox="1"/>
          <p:nvPr/>
        </p:nvSpPr>
        <p:spPr>
          <a:xfrm>
            <a:off x="3840480" y="5120640"/>
            <a:ext cx="1828800" cy="365760"/>
          </a:xfrm>
          <a:prstGeom prst="rect">
            <a:avLst/>
          </a:prstGeom>
          <a:noFill/>
        </p:spPr>
        <p:txBody>
          <a:bodyPr wrap="square">
            <a:spAutoFit/>
          </a:bodyPr>
          <a:lstStyle/>
          <a:p>
            <a:pPr algn="ctr">
              <a:defRPr sz="1100" b="1">
                <a:solidFill>
                  <a:srgbClr val="EA580C"/>
                </a:solidFill>
                <a:latin typeface="Calibri"/>
              </a:defRPr>
            </a:pPr>
            <a:r>
              <a:t>HIGH</a:t>
            </a:r>
          </a:p>
        </p:txBody>
      </p:sp>
      <p:sp>
        <p:nvSpPr>
          <p:cNvPr id="10" name="Rounded Rectangle 9"/>
          <p:cNvSpPr/>
          <p:nvPr/>
        </p:nvSpPr>
        <p:spPr>
          <a:xfrm>
            <a:off x="6400800" y="4114800"/>
            <a:ext cx="2560320" cy="1645920"/>
          </a:xfrm>
          <a:prstGeom prst="roundRect">
            <a:avLst>
              <a:gd name="adj" fmla="val 2000"/>
            </a:avLst>
          </a:prstGeom>
          <a:solidFill>
            <a:srgbClr val="FEFCE8"/>
          </a:solidFill>
          <a:ln w="1270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4297680"/>
            <a:ext cx="1828800" cy="731520"/>
          </a:xfrm>
          <a:prstGeom prst="rect">
            <a:avLst/>
          </a:prstGeom>
          <a:noFill/>
        </p:spPr>
        <p:txBody>
          <a:bodyPr wrap="square">
            <a:spAutoFit/>
          </a:bodyPr>
          <a:lstStyle/>
          <a:p>
            <a:pPr algn="ctr">
              <a:defRPr sz="4200" b="1">
                <a:solidFill>
                  <a:srgbClr val="CA8A04"/>
                </a:solidFill>
                <a:latin typeface="Calibri"/>
              </a:defRPr>
            </a:pPr>
            <a:r>
              <a:t>8</a:t>
            </a:r>
          </a:p>
        </p:txBody>
      </p:sp>
      <p:sp>
        <p:nvSpPr>
          <p:cNvPr id="12" name="TextBox 11"/>
          <p:cNvSpPr txBox="1"/>
          <p:nvPr/>
        </p:nvSpPr>
        <p:spPr>
          <a:xfrm>
            <a:off x="6675120" y="5120640"/>
            <a:ext cx="1828800" cy="365760"/>
          </a:xfrm>
          <a:prstGeom prst="rect">
            <a:avLst/>
          </a:prstGeom>
          <a:noFill/>
        </p:spPr>
        <p:txBody>
          <a:bodyPr wrap="square">
            <a:spAutoFit/>
          </a:bodyPr>
          <a:lstStyle/>
          <a:p>
            <a:pPr algn="ctr">
              <a:defRPr sz="1100" b="1">
                <a:solidFill>
                  <a:srgbClr val="CA8A04"/>
                </a:solidFill>
                <a:latin typeface="Calibri"/>
              </a:defRPr>
            </a:pPr>
            <a:r>
              <a:t>MEDIUM</a:t>
            </a:r>
          </a:p>
        </p:txBody>
      </p:sp>
      <p:sp>
        <p:nvSpPr>
          <p:cNvPr id="13" name="Rounded Rectangle 12"/>
          <p:cNvSpPr/>
          <p:nvPr/>
        </p:nvSpPr>
        <p:spPr>
          <a:xfrm>
            <a:off x="9235440" y="4114800"/>
            <a:ext cx="2560320" cy="1645920"/>
          </a:xfrm>
          <a:prstGeom prst="roundRect">
            <a:avLst>
              <a:gd name="adj" fmla="val 2000"/>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0" y="4297680"/>
            <a:ext cx="1828800" cy="731520"/>
          </a:xfrm>
          <a:prstGeom prst="rect">
            <a:avLst/>
          </a:prstGeom>
          <a:noFill/>
        </p:spPr>
        <p:txBody>
          <a:bodyPr wrap="square">
            <a:spAutoFit/>
          </a:bodyPr>
          <a:lstStyle/>
          <a:p>
            <a:pPr algn="ctr">
              <a:defRPr sz="4200" b="1">
                <a:solidFill>
                  <a:srgbClr val="16A34A"/>
                </a:solidFill>
                <a:latin typeface="Calibri"/>
              </a:defRPr>
            </a:pPr>
            <a:r>
              <a:t>7</a:t>
            </a:r>
          </a:p>
        </p:txBody>
      </p:sp>
      <p:sp>
        <p:nvSpPr>
          <p:cNvPr id="15" name="TextBox 14"/>
          <p:cNvSpPr txBox="1"/>
          <p:nvPr/>
        </p:nvSpPr>
        <p:spPr>
          <a:xfrm>
            <a:off x="9509760" y="5120640"/>
            <a:ext cx="1828800" cy="365760"/>
          </a:xfrm>
          <a:prstGeom prst="rect">
            <a:avLst/>
          </a:prstGeom>
          <a:noFill/>
        </p:spPr>
        <p:txBody>
          <a:bodyPr wrap="square">
            <a:spAutoFit/>
          </a:bodyPr>
          <a:lstStyle/>
          <a:p>
            <a:pPr algn="ctr">
              <a:defRPr sz="1100" b="1">
                <a:solidFill>
                  <a:srgbClr val="16A34A"/>
                </a:solidFill>
                <a:latin typeface="Calibri"/>
              </a:defRPr>
            </a:pPr>
            <a:r>
              <a:t>LOW</a:t>
            </a:r>
          </a:p>
        </p:txBody>
      </p:sp>
      <p:sp>
        <p:nvSpPr>
          <p:cNvPr id="16" name="TextBox 15"/>
          <p:cNvSpPr txBox="1"/>
          <p:nvPr/>
        </p:nvSpPr>
        <p:spPr>
          <a:xfrm>
            <a:off x="731520" y="6035040"/>
            <a:ext cx="10058400" cy="365760"/>
          </a:xfrm>
          <a:prstGeom prst="rect">
            <a:avLst/>
          </a:prstGeom>
          <a:noFill/>
        </p:spPr>
        <p:txBody>
          <a:bodyPr wrap="square">
            <a:spAutoFit/>
          </a:bodyPr>
          <a:lstStyle/>
          <a:p>
            <a:pPr algn="l">
              <a:defRPr sz="1400" b="1">
                <a:solidFill>
                  <a:srgbClr val="6B7280"/>
                </a:solidFill>
                <a:latin typeface="Calibri"/>
              </a:defRPr>
            </a:pPr>
            <a:r>
              <a:t>Total Findings: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(1/4)</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Trade Page (all metals)</a:t>
            </a:r>
          </a:p>
        </p:txBody>
      </p:sp>
      <p:sp>
        <p:nvSpPr>
          <p:cNvPr id="12" name="Rounded Rectangle 11"/>
          <p:cNvSpPr/>
          <p:nvPr/>
        </p:nvSpPr>
        <p:spPr>
          <a:xfrm>
            <a:off x="3383280" y="1645920"/>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Primary action buttons (Market/Limit toggles, Review Buy Order, nav Trade button) are 36px tall, below the 44px WCAG 2.5.8 minimum target size. Chart time-interval buttons are only 24px tall.</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Increase all interactive element heights to at least 44px. Use h-11 (44px) as the default button size instead of h-9 (36px). Enlarge chart interval buttons to at least 44x44px tap targets.</a:t>
            </a:r>
          </a:p>
        </p:txBody>
      </p:sp>
      <p:sp>
        <p:nvSpPr>
          <p:cNvPr id="15" name="Rectangle 14"/>
          <p:cNvSpPr/>
          <p:nvPr/>
        </p:nvSpPr>
        <p:spPr>
          <a:xfrm>
            <a:off x="731520" y="2587752"/>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Trade Page (all metals)</a:t>
            </a:r>
          </a:p>
        </p:txBody>
      </p:sp>
      <p:sp>
        <p:nvSpPr>
          <p:cNvPr id="19" name="Rounded Rectangle 18"/>
          <p:cNvSpPr/>
          <p:nvPr/>
        </p:nvSpPr>
        <p:spPr>
          <a:xfrm>
            <a:off x="3383280" y="2724912"/>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White text on green-600 (#00a63e) Buy button fails WCAG AA at 3.22:1 contrast ratio. Needs 4.5:1 for normal text.</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Darken the Buy button to green-700 (#008236) which achieves 4.94:1 and passes AA, or use dark text on a lighter green background.</a:t>
            </a:r>
          </a:p>
        </p:txBody>
      </p:sp>
      <p:sp>
        <p:nvSpPr>
          <p:cNvPr id="22" name="Rectangle 21"/>
          <p:cNvSpPr/>
          <p:nvPr/>
        </p:nvSpPr>
        <p:spPr>
          <a:xfrm>
            <a:off x="731520" y="3666744"/>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Trade Page (all metals)</a:t>
            </a:r>
          </a:p>
        </p:txBody>
      </p:sp>
      <p:sp>
        <p:nvSpPr>
          <p:cNvPr id="26" name="Rounded Rectangle 25"/>
          <p:cNvSpPr/>
          <p:nvPr/>
        </p:nvSpPr>
        <p:spPr>
          <a:xfrm>
            <a:off x="3383280" y="3803904"/>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White text on amber-600 (#e17100) primary buttons fails WCAG AA at 3.19:1. This affects the Review Buy Order button and all primary CTAs across the app.</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Darken to amber-700 (#bb4d00) which achieves 5.05:1 and passes AA, or switch to dark text on amber background.</a:t>
            </a:r>
          </a:p>
        </p:txBody>
      </p:sp>
      <p:sp>
        <p:nvSpPr>
          <p:cNvPr id="29" name="Rectangle 28"/>
          <p:cNvSpPr/>
          <p:nvPr/>
        </p:nvSpPr>
        <p:spPr>
          <a:xfrm>
            <a:off x="731520" y="4745736"/>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Trade Page (all metals)</a:t>
            </a:r>
          </a:p>
        </p:txBody>
      </p:sp>
      <p:sp>
        <p:nvSpPr>
          <p:cNvPr id="33" name="Rounded Rectangle 32"/>
          <p:cNvSpPr/>
          <p:nvPr/>
        </p:nvSpPr>
        <p:spPr>
          <a:xfrm>
            <a:off x="3383280" y="4882896"/>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Tooltip info icons (14px diameter) use gray-400 (#99a1af) which fails contrast at 2.60:1 on white and 2.49:1 on gray-50. Icons are also too small to be easily tapped.</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Increase icon size to at least 20px, darken to gray-500 (#6a7282, 4.84:1) or gray-600 (#4a5565, 7.56:1). Add 44px padding around icons for tap target.</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Dashboard</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Amber-500 (#f59e0b) used for metal icon gradients and Live indicator fails contrast at 2.15:1 on white. The Live pulsing dot and amber-600 link text (3.19:1) also fail.</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Use amber-700 (#bb4d00, 5.05:1) for all text-sized amber elements. Ensure the Live indicator has sufficient contrast or add a text label alongside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(2/4)</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All Pages</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No footer on any page — no Help link, Terms of Service, Privacy Policy, regulatory disclaimers, or contact information. For a financial trading app, this is a significant trust gap.</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a persistent footer with: Help/Support, Terms of Service, Privacy Policy, regulatory body references (e.g., MAS), company registration details, and a copyright notice.</a:t>
            </a:r>
          </a:p>
        </p:txBody>
      </p:sp>
      <p:sp>
        <p:nvSpPr>
          <p:cNvPr id="15" name="Rectangle 14"/>
          <p:cNvSpPr/>
          <p:nvPr/>
        </p:nvSpPr>
        <p:spPr>
          <a:xfrm>
            <a:off x="731520" y="2587752"/>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Trade Page</a:t>
            </a:r>
          </a:p>
        </p:txBody>
      </p:sp>
      <p:sp>
        <p:nvSpPr>
          <p:cNvPr id="19" name="Rounded Rectangle 18"/>
          <p:cNvSpPr/>
          <p:nvPr/>
        </p:nvSpPr>
        <p:spPr>
          <a:xfrm>
            <a:off x="3383280" y="2724912"/>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All validation errors appear only as auto-dismissing toast notifications in the top-right corner. No inline field-level errors, no real-time validation as user types, and no form-level error summary.</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Add inline error messages below each field on validation failure. Show validation in real time (e.g., highlight field red with error text when amount is 0). Keep toasts as secondary confirmation only.</a:t>
            </a:r>
          </a:p>
        </p:txBody>
      </p:sp>
      <p:sp>
        <p:nvSpPr>
          <p:cNvPr id="22" name="Rectangle 21"/>
          <p:cNvSpPr/>
          <p:nvPr/>
        </p:nvSpPr>
        <p:spPr>
          <a:xfrm>
            <a:off x="731520" y="3666744"/>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Trade Page</a:t>
            </a:r>
          </a:p>
        </p:txBody>
      </p:sp>
      <p:sp>
        <p:nvSpPr>
          <p:cNvPr id="26" name="Rounded Rectangle 25"/>
          <p:cNvSpPr/>
          <p:nvPr/>
        </p:nvSpPr>
        <p:spPr>
          <a:xfrm>
            <a:off x="3383280" y="3803904"/>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Price refreshes silently every 5 seconds with no visual indicator. The 'Last Updated' timestamp updates but there is no animation, highlight, or aria-live announcement to alert users that prices changed.</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Add a brief flash/highlight animation when prices update (respect prefers-reduced-motion). Add aria-live='polite' to price display containers so screen readers announce changes.</a:t>
            </a:r>
          </a:p>
        </p:txBody>
      </p:sp>
      <p:sp>
        <p:nvSpPr>
          <p:cNvPr id="29" name="Rectangle 28"/>
          <p:cNvSpPr/>
          <p:nvPr/>
        </p:nvSpPr>
        <p:spPr>
          <a:xfrm>
            <a:off x="731520" y="4745736"/>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Trade Page</a:t>
            </a:r>
          </a:p>
        </p:txBody>
      </p:sp>
      <p:sp>
        <p:nvSpPr>
          <p:cNvPr id="33" name="Rounded Rectangle 32"/>
          <p:cNvSpPr/>
          <p:nvPr/>
        </p:nvSpPr>
        <p:spPr>
          <a:xfrm>
            <a:off x="3383280" y="4882896"/>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Limit Price field shows no guidance on where to set the price relative to current market. A novice investor may not know what constitutes a reasonable limit price.</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Add helper text like 'Current market: $6,687/oz' below the Limit Price field, and optionally suggest +/- 5% presets as quick-select buttons.</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#10</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Trade Page</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Currency selector shows all 5 currencies (SGD, USD, EUR, HKD, JPY) upfront in a dropdown next to the amount field. For a novice investor, multi-currency trading adds unnecessary complexity to the first trade.</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Default to SGD (user's locale) and collapse other currencies under an 'Other currencies' option, or show them in a secondary settings panel rather than inline with the trade 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(3/4)</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Trade Page</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Trade dropdown in navigation lacks aria-expanded attribute, role='menu'/role='menuitem', keyboard Escape handler, and focus management. Dropdown opens on click only — no keyboard navigation support within the menu.</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aria-expanded to the Trade button, role='menu' to the dropdown, role='menuitem' to each metal option. Implement Escape to close, arrow keys to navigate, and return focus to trigger on close.</a:t>
            </a:r>
          </a:p>
        </p:txBody>
      </p:sp>
      <p:sp>
        <p:nvSpPr>
          <p:cNvPr id="15" name="Rectangle 14"/>
          <p:cNvSpPr/>
          <p:nvPr/>
        </p:nvSpPr>
        <p:spPr>
          <a:xfrm>
            <a:off x="731520" y="2587752"/>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Trade Page</a:t>
            </a:r>
          </a:p>
        </p:txBody>
      </p:sp>
      <p:sp>
        <p:nvSpPr>
          <p:cNvPr id="19" name="Rounded Rectangle 18"/>
          <p:cNvSpPr/>
          <p:nvPr/>
        </p:nvSpPr>
        <p:spPr>
          <a:xfrm>
            <a:off x="3383280" y="2724912"/>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Price chart SVG has no aria-label, no role='img', and no accessible description. The chart is purely visual with cursor:crosshair interaction. Screen reader users get zero information about price trends.</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Add role='img' and aria-label='Gold price chart showing [trend description]' to the SVG. Provide a visually-hidden data table as an alternative for screen readers.</a:t>
            </a:r>
          </a:p>
        </p:txBody>
      </p:sp>
      <p:sp>
        <p:nvSpPr>
          <p:cNvPr id="22" name="Rectangle 21"/>
          <p:cNvSpPr/>
          <p:nvPr/>
        </p:nvSpPr>
        <p:spPr>
          <a:xfrm>
            <a:off x="731520" y="3666744"/>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Dashboard / Orders</a:t>
            </a:r>
          </a:p>
        </p:txBody>
      </p:sp>
      <p:sp>
        <p:nvSpPr>
          <p:cNvPr id="26" name="Rounded Rectangle 25"/>
          <p:cNvSpPr/>
          <p:nvPr/>
        </p:nvSpPr>
        <p:spPr>
          <a:xfrm>
            <a:off x="3383280" y="3803904"/>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Account dropdown shows full account numbers (e.g., 501-100234-001, 410-212232-201). In a financial context, exposing full account numbers on screen increases risk if screen-shared or shoulder-surfed.</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Mask account numbers to show only last 4 digits (e.g., '***-001'). Show full number only on explicit user action (hover/tap to reveal).</a:t>
            </a:r>
          </a:p>
        </p:txBody>
      </p:sp>
      <p:sp>
        <p:nvSpPr>
          <p:cNvPr id="29" name="Rectangle 28"/>
          <p:cNvSpPr/>
          <p:nvPr/>
        </p:nvSpPr>
        <p:spPr>
          <a:xfrm>
            <a:off x="731520" y="4745736"/>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Products</a:t>
            </a:r>
          </a:p>
        </p:txBody>
      </p:sp>
      <p:sp>
        <p:nvSpPr>
          <p:cNvPr id="33" name="Rounded Rectangle 32"/>
          <p:cNvSpPr/>
          <p:nvPr/>
        </p:nvSpPr>
        <p:spPr>
          <a:xfrm>
            <a:off x="3383280" y="4882896"/>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Compare All Metals table is hidden behind a toggle by default. This is the most useful comparative view for a novice investor deciding which metal to buy, yet it requires an extra click to discover.</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Show the comparison table by default, or at least show it expanded on first visit. Use the toggle to collapse it after the user has seen it.</a:t>
            </a:r>
          </a:p>
        </p:txBody>
      </p:sp>
      <p:sp>
        <p:nvSpPr>
          <p:cNvPr id="36" name="Rectangle 35"/>
          <p:cNvSpPr/>
          <p:nvPr/>
        </p:nvSpPr>
        <p:spPr>
          <a:xfrm>
            <a:off x="731520" y="5824728"/>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Trade Page</a:t>
            </a:r>
          </a:p>
        </p:txBody>
      </p:sp>
      <p:sp>
        <p:nvSpPr>
          <p:cNvPr id="40" name="Rounded Rectangle 39"/>
          <p:cNvSpPr/>
          <p:nvPr/>
        </p:nvSpPr>
        <p:spPr>
          <a:xfrm>
            <a:off x="3383280" y="5961888"/>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Chart time-interval buttons use single-letter abbreviations (1H, 1D, 1W, 1M, 1Y) with no tooltip or expanded label. A novice may not immediately understand '1H' means 'last 1 hour'.</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title attributes or tooltips: '1H' -&gt; 'Last 1 Hour', '1D' -&gt; 'Last 1 Day', etc. The chart title already shows 'Last day' when 1D is selected — ensure this updates for all intervals.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(4/4)</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Trade Page</a:t>
            </a:r>
          </a:p>
        </p:txBody>
      </p:sp>
      <p:sp>
        <p:nvSpPr>
          <p:cNvPr id="12" name="Rounded Rectangle 11"/>
          <p:cNvSpPr/>
          <p:nvPr/>
        </p:nvSpPr>
        <p:spPr>
          <a:xfrm>
            <a:off x="3383280" y="1645920"/>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Minimum quantity notice ('Minimum quantity: 0.01 ounce') is placed at the very bottom of the form below the Review button, easy to miss. Users discover this only after a failed validation.</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Move the minimum quantity notice directly below the 'You'll receive' calculation where it's contextually relevant, or display it alongside the Amount to Invest field.</a:t>
            </a:r>
          </a:p>
        </p:txBody>
      </p:sp>
      <p:sp>
        <p:nvSpPr>
          <p:cNvPr id="15" name="Rectangle 14"/>
          <p:cNvSpPr/>
          <p:nvPr/>
        </p:nvSpPr>
        <p:spPr>
          <a:xfrm>
            <a:off x="731520" y="2587752"/>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Dashboard</a:t>
            </a:r>
          </a:p>
        </p:txBody>
      </p:sp>
      <p:sp>
        <p:nvSpPr>
          <p:cNvPr id="19" name="Rounded Rectangle 18"/>
          <p:cNvSpPr/>
          <p:nvPr/>
        </p:nvSpPr>
        <p:spPr>
          <a:xfrm>
            <a:off x="3383280" y="2724912"/>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The 'MOST POPULAR' badge on the Gold card uses amber-500 on white background which fails contrast (2.15:1). This promotional badge is illegible for users with low vision.</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Use a dark background badge (amber-700 bg with white text) or increase badge text to amber-800 on amber-100 for sufficient contrast.</a:t>
            </a:r>
          </a:p>
        </p:txBody>
      </p:sp>
      <p:sp>
        <p:nvSpPr>
          <p:cNvPr id="22" name="Rectangle 21"/>
          <p:cNvSpPr/>
          <p:nvPr/>
        </p:nvSpPr>
        <p:spPr>
          <a:xfrm>
            <a:off x="731520" y="3666744"/>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All Pages</a:t>
            </a:r>
          </a:p>
        </p:txBody>
      </p:sp>
      <p:sp>
        <p:nvSpPr>
          <p:cNvPr id="26" name="Rounded Rectangle 25"/>
          <p:cNvSpPr/>
          <p:nvPr/>
        </p:nvSpPr>
        <p:spPr>
          <a:xfrm>
            <a:off x="3383280" y="3803904"/>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No responsive font scaling — fixed rem sizes at all breakpoints. Only one breakpoint adjustment exists (md:text-sm). On small viewports, headings and body text may be oversized; on very large screens, text doesn't scale up.</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Implement fluid typography using clamp() for headings (e.g., font-size: clamp(1.5rem, 2vw + 1rem, 2.25rem)) and adjust body text at key breakpoints.</a:t>
            </a:r>
          </a:p>
        </p:txBody>
      </p:sp>
      <p:sp>
        <p:nvSpPr>
          <p:cNvPr id="29" name="Rectangle 28"/>
          <p:cNvSpPr/>
          <p:nvPr/>
        </p:nvSpPr>
        <p:spPr>
          <a:xfrm>
            <a:off x="731520" y="4745736"/>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Trade Page</a:t>
            </a:r>
          </a:p>
        </p:txBody>
      </p:sp>
      <p:sp>
        <p:nvSpPr>
          <p:cNvPr id="33" name="Rounded Rectangle 32"/>
          <p:cNvSpPr/>
          <p:nvPr/>
        </p:nvSpPr>
        <p:spPr>
          <a:xfrm>
            <a:off x="3383280" y="4882896"/>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Trade routes are case-sensitive — /trade/xau shows 'Metal not found' while /trade/XAU works. URL case sensitivity is unexpected for users who type URLs manually.</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Normalize the metal parameter to uppercase in the route handler: const metal = params.metal?.toUpperCase(). This prevents dead-end errors from case mismatches.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Homepage</a:t>
            </a:r>
          </a:p>
        </p:txBody>
      </p:sp>
      <p:pic>
        <p:nvPicPr>
          <p:cNvPr id="3" name="Picture 2" descr="homepage-annotated.png"/>
          <p:cNvPicPr>
            <a:picLocks noChangeAspect="1"/>
          </p:cNvPicPr>
          <p:nvPr/>
        </p:nvPicPr>
        <p:blipFill>
          <a:blip r:embed="rId2"/>
          <a:stretch>
            <a:fillRect/>
          </a:stretch>
        </p:blipFill>
        <p:spPr>
          <a:xfrm>
            <a:off x="274320" y="914400"/>
            <a:ext cx="5067512"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5</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CA8A04"/>
                </a:solidFill>
                <a:latin typeface="Calibri"/>
              </a:defRPr>
            </a:pPr>
            <a:r>
              <a:t>[MEDIUM] Amber-500 (#f59e0b) used for metal icon gradients and Live indicator fails contrast at 2.15:1 on white. The Live pulsing dot and amber-600 link text (3.19:1) also fail.</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Use amber-700 (#bb4d00, 5.05:1) for all text-sized amber elements. Ensure the Live indicator has sufficient contrast or add a text label alongside it.</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No footer on any page — no Help link, Terms of Service, Privacy Policy, regulatory disclaimers, or contact information. For a financial trading app, this is a significant trust gap.</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a persistent footer with: Help/Support, Terms of Service, Privacy Policy, regulatory body references (e.g., MAS), company registration details, and a copyright notice.</a:t>
            </a:r>
          </a:p>
        </p:txBody>
      </p:sp>
      <p:sp>
        <p:nvSpPr>
          <p:cNvPr id="11" name="Oval 10"/>
          <p:cNvSpPr/>
          <p:nvPr/>
        </p:nvSpPr>
        <p:spPr>
          <a:xfrm>
            <a:off x="7498079" y="269748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17</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16A34A"/>
                </a:solidFill>
                <a:latin typeface="Calibri"/>
              </a:defRPr>
            </a:pPr>
            <a:r>
              <a:t>[LOW] The 'MOST POPULAR' badge on the Gold card uses amber-500 on white background which fails contrast (2.15:1). This promotional badge is illegible for users with low vision.</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Use a dark background badge (amber-700 bg with white text) or increase badge text to amber-800 on amber-100 for sufficient contrast.</a:t>
            </a:r>
          </a:p>
        </p:txBody>
      </p:sp>
      <p:sp>
        <p:nvSpPr>
          <p:cNvPr id="14" name="Oval 13"/>
          <p:cNvSpPr/>
          <p:nvPr/>
        </p:nvSpPr>
        <p:spPr>
          <a:xfrm>
            <a:off x="7498079" y="333756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13</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16A34A"/>
                </a:solidFill>
                <a:latin typeface="Calibri"/>
              </a:defRPr>
            </a:pPr>
            <a:r>
              <a:t>[LOW] Account dropdown shows full account numbers (e.g., 501-100234-001, 410-212232-201). In a financial context, exposing full account numbers on screen increases risk if screen-shared or shoulder-surfed.</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Mask account numbers to show only last 4 digits (e.g., '***-001'). Show full number only on explicit user action (hover/tap to reveal).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Orders</a:t>
            </a:r>
          </a:p>
        </p:txBody>
      </p:sp>
      <p:pic>
        <p:nvPicPr>
          <p:cNvPr id="3" name="Picture 2" descr="orders-annotated.png"/>
          <p:cNvPicPr>
            <a:picLocks noChangeAspect="1"/>
          </p:cNvPicPr>
          <p:nvPr/>
        </p:nvPicPr>
        <p:blipFill>
          <a:blip r:embed="rId2"/>
          <a:stretch>
            <a:fillRect/>
          </a:stretch>
        </p:blipFill>
        <p:spPr>
          <a:xfrm>
            <a:off x="274320" y="914400"/>
            <a:ext cx="6479177"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Primary action buttons (Market/Limit toggles, Review Buy Order, nav Trade button) are 36px tall, below the 44px WCAG 2.5.8 minimum target size. Chart time-interval buttons are only 24px tall.</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Increase all interactive element heights to at least 44px. Use h-11 (44px) as the default button size instead of h-9 (36px). Enlarge chart interval buttons to at least 44x44px tap targets.</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No footer on any page — no Help link, Terms of Service, Privacy Policy, regulatory disclaimers, or contact information. For a financial trading app, this is a significant trust gap.</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a persistent footer with: Help/Support, Terms of Service, Privacy Policy, regulatory body references (e.g., MAS), company registration details, and a copyright notice.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Products</a:t>
            </a:r>
          </a:p>
        </p:txBody>
      </p:sp>
      <p:pic>
        <p:nvPicPr>
          <p:cNvPr id="3" name="Picture 2" descr="products-annotated.png"/>
          <p:cNvPicPr>
            <a:picLocks noChangeAspect="1"/>
          </p:cNvPicPr>
          <p:nvPr/>
        </p:nvPicPr>
        <p:blipFill>
          <a:blip r:embed="rId2"/>
          <a:stretch>
            <a:fillRect/>
          </a:stretch>
        </p:blipFill>
        <p:spPr>
          <a:xfrm>
            <a:off x="274320" y="914400"/>
            <a:ext cx="5607943"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14</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16A34A"/>
                </a:solidFill>
                <a:latin typeface="Calibri"/>
              </a:defRPr>
            </a:pPr>
            <a:r>
              <a:t>[LOW] Compare All Metals table is hidden behind a toggle by default. This is the most useful comparative view for a novice investor deciding which metal to buy, yet it requires an extra click to discover.</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Show the comparison table by default, or at least show it expanded on first visit. Use the toggle to collapse it after the user has seen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Trade Xau</a:t>
            </a:r>
          </a:p>
        </p:txBody>
      </p:sp>
      <p:pic>
        <p:nvPicPr>
          <p:cNvPr id="3" name="Picture 2" descr="trade-xau-annotated.png"/>
          <p:cNvPicPr>
            <a:picLocks noChangeAspect="1"/>
          </p:cNvPicPr>
          <p:nvPr/>
        </p:nvPicPr>
        <p:blipFill>
          <a:blip r:embed="rId2"/>
          <a:stretch>
            <a:fillRect/>
          </a:stretch>
        </p:blipFill>
        <p:spPr>
          <a:xfrm>
            <a:off x="274320" y="914400"/>
            <a:ext cx="6479177"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Primary action buttons (Market/Limit toggles, Review Buy Order, nav Trade button) are 36px tall, below the 44px WCAG 2.5.8 minimum target size. Chart time-interval buttons are only 24px tall.</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Increase all interactive element heights to at least 44px. Use h-11 (44px) as the default button size instead of h-9 (36px). Enlarge chart interval buttons to at least 44x44px tap targets.</a:t>
            </a:r>
          </a:p>
        </p:txBody>
      </p:sp>
      <p:sp>
        <p:nvSpPr>
          <p:cNvPr id="8" name="Oval 7"/>
          <p:cNvSpPr/>
          <p:nvPr/>
        </p:nvSpPr>
        <p:spPr>
          <a:xfrm>
            <a:off x="7498079" y="205740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EA580C"/>
                </a:solidFill>
                <a:latin typeface="Calibri"/>
              </a:defRPr>
            </a:pPr>
            <a:r>
              <a:t>[HIGH] White text on green-600 (#00a63e) Buy button fails WCAG AA at 3.22:1 contrast ratio. Needs 4.5:1 for normal text.</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Darken the Buy button to green-700 (#008236) which achieves 4.94:1 and passes AA, or use dark text on a lighter green background.</a:t>
            </a:r>
          </a:p>
        </p:txBody>
      </p:sp>
      <p:sp>
        <p:nvSpPr>
          <p:cNvPr id="11" name="Oval 10"/>
          <p:cNvSpPr/>
          <p:nvPr/>
        </p:nvSpPr>
        <p:spPr>
          <a:xfrm>
            <a:off x="7498079" y="269748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3</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EA580C"/>
                </a:solidFill>
                <a:latin typeface="Calibri"/>
              </a:defRPr>
            </a:pPr>
            <a:r>
              <a:t>[HIGH] White text on amber-600 (#e17100) primary buttons fails WCAG AA at 3.19:1. This affects the Review Buy Order button and all primary CTAs across the app.</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Darken to amber-700 (#bb4d00) which achieves 5.05:1 and passes AA, or switch to dark text on amber background.</a:t>
            </a:r>
          </a:p>
        </p:txBody>
      </p:sp>
      <p:sp>
        <p:nvSpPr>
          <p:cNvPr id="14" name="Oval 13"/>
          <p:cNvSpPr/>
          <p:nvPr/>
        </p:nvSpPr>
        <p:spPr>
          <a:xfrm>
            <a:off x="7498079" y="333756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4</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EA580C"/>
                </a:solidFill>
                <a:latin typeface="Calibri"/>
              </a:defRPr>
            </a:pPr>
            <a:r>
              <a:t>[HIGH] Tooltip info icons (14px diameter) use gray-400 (#99a1af) which fails contrast at 2.60:1 on white and 2.49:1 on gray-50. Icons are also too small to be easily tapped.</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Increase icon size to at least 20px, darken to gray-500 (#6a7282, 4.84:1) or gray-600 (#4a5565, 7.56:1). Add 44px padding around icons for tap target.</a:t>
            </a:r>
          </a:p>
        </p:txBody>
      </p:sp>
      <p:sp>
        <p:nvSpPr>
          <p:cNvPr id="17" name="Oval 16"/>
          <p:cNvSpPr/>
          <p:nvPr/>
        </p:nvSpPr>
        <p:spPr>
          <a:xfrm>
            <a:off x="7498079" y="397764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7</a:t>
            </a:r>
          </a:p>
        </p:txBody>
      </p:sp>
      <p:sp>
        <p:nvSpPr>
          <p:cNvPr id="18" name="TextBox 17"/>
          <p:cNvSpPr txBox="1"/>
          <p:nvPr/>
        </p:nvSpPr>
        <p:spPr>
          <a:xfrm>
            <a:off x="7772399" y="3931920"/>
            <a:ext cx="4114800" cy="201168"/>
          </a:xfrm>
          <a:prstGeom prst="rect">
            <a:avLst/>
          </a:prstGeom>
          <a:noFill/>
        </p:spPr>
        <p:txBody>
          <a:bodyPr wrap="square">
            <a:spAutoFit/>
          </a:bodyPr>
          <a:lstStyle/>
          <a:p>
            <a:pPr algn="l">
              <a:defRPr sz="900" b="0">
                <a:solidFill>
                  <a:srgbClr val="CA8A04"/>
                </a:solidFill>
                <a:latin typeface="Calibri"/>
              </a:defRPr>
            </a:pPr>
            <a:r>
              <a:t>[MEDIUM] All validation errors appear only as auto-dismissing toast notifications in the top-right corner. No inline field-level errors, no real-time validation as user types, and no form-level error summary.</a:t>
            </a:r>
          </a:p>
        </p:txBody>
      </p:sp>
      <p:sp>
        <p:nvSpPr>
          <p:cNvPr id="19" name="TextBox 18"/>
          <p:cNvSpPr txBox="1"/>
          <p:nvPr/>
        </p:nvSpPr>
        <p:spPr>
          <a:xfrm>
            <a:off x="7772399" y="4133088"/>
            <a:ext cx="4114800" cy="365760"/>
          </a:xfrm>
          <a:prstGeom prst="rect">
            <a:avLst/>
          </a:prstGeom>
          <a:noFill/>
        </p:spPr>
        <p:txBody>
          <a:bodyPr wrap="square">
            <a:spAutoFit/>
          </a:bodyPr>
          <a:lstStyle/>
          <a:p>
            <a:pPr algn="l">
              <a:defRPr sz="800" b="0">
                <a:solidFill>
                  <a:srgbClr val="6B7280"/>
                </a:solidFill>
                <a:latin typeface="Calibri"/>
              </a:defRPr>
            </a:pPr>
            <a:r>
              <a:t>→ Add inline error messages below each field on validation failure. Show validation in real time (e.g., highlight field red with error text when amount is 0). Keep toasts as secondary confirmation only.</a:t>
            </a:r>
          </a:p>
        </p:txBody>
      </p:sp>
      <p:sp>
        <p:nvSpPr>
          <p:cNvPr id="20" name="Oval 19"/>
          <p:cNvSpPr/>
          <p:nvPr/>
        </p:nvSpPr>
        <p:spPr>
          <a:xfrm>
            <a:off x="7498079" y="461772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8</a:t>
            </a:r>
          </a:p>
        </p:txBody>
      </p:sp>
      <p:sp>
        <p:nvSpPr>
          <p:cNvPr id="21" name="TextBox 20"/>
          <p:cNvSpPr txBox="1"/>
          <p:nvPr/>
        </p:nvSpPr>
        <p:spPr>
          <a:xfrm>
            <a:off x="7772399" y="4572000"/>
            <a:ext cx="4114800" cy="201168"/>
          </a:xfrm>
          <a:prstGeom prst="rect">
            <a:avLst/>
          </a:prstGeom>
          <a:noFill/>
        </p:spPr>
        <p:txBody>
          <a:bodyPr wrap="square">
            <a:spAutoFit/>
          </a:bodyPr>
          <a:lstStyle/>
          <a:p>
            <a:pPr algn="l">
              <a:defRPr sz="900" b="0">
                <a:solidFill>
                  <a:srgbClr val="CA8A04"/>
                </a:solidFill>
                <a:latin typeface="Calibri"/>
              </a:defRPr>
            </a:pPr>
            <a:r>
              <a:t>[MEDIUM] Price refreshes silently every 5 seconds with no visual indicator. The 'Last Updated' timestamp updates but there is no animation, highlight, or aria-live announcement to alert users that prices changed.</a:t>
            </a:r>
          </a:p>
        </p:txBody>
      </p:sp>
      <p:sp>
        <p:nvSpPr>
          <p:cNvPr id="22" name="TextBox 21"/>
          <p:cNvSpPr txBox="1"/>
          <p:nvPr/>
        </p:nvSpPr>
        <p:spPr>
          <a:xfrm>
            <a:off x="7772399" y="4773168"/>
            <a:ext cx="4114800" cy="365760"/>
          </a:xfrm>
          <a:prstGeom prst="rect">
            <a:avLst/>
          </a:prstGeom>
          <a:noFill/>
        </p:spPr>
        <p:txBody>
          <a:bodyPr wrap="square">
            <a:spAutoFit/>
          </a:bodyPr>
          <a:lstStyle/>
          <a:p>
            <a:pPr algn="l">
              <a:defRPr sz="800" b="0">
                <a:solidFill>
                  <a:srgbClr val="6B7280"/>
                </a:solidFill>
                <a:latin typeface="Calibri"/>
              </a:defRPr>
            </a:pPr>
            <a:r>
              <a:t>→ Add a brief flash/highlight animation when prices update (respect prefers-reduced-motion). Add aria-live='polite' to price display containers so screen readers announce changes.</a:t>
            </a:r>
          </a:p>
        </p:txBody>
      </p:sp>
      <p:sp>
        <p:nvSpPr>
          <p:cNvPr id="23" name="Oval 22"/>
          <p:cNvSpPr/>
          <p:nvPr/>
        </p:nvSpPr>
        <p:spPr>
          <a:xfrm>
            <a:off x="7498079" y="52578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9</a:t>
            </a:r>
          </a:p>
        </p:txBody>
      </p:sp>
      <p:sp>
        <p:nvSpPr>
          <p:cNvPr id="24" name="TextBox 23"/>
          <p:cNvSpPr txBox="1"/>
          <p:nvPr/>
        </p:nvSpPr>
        <p:spPr>
          <a:xfrm>
            <a:off x="7772399" y="5212080"/>
            <a:ext cx="4114800" cy="201168"/>
          </a:xfrm>
          <a:prstGeom prst="rect">
            <a:avLst/>
          </a:prstGeom>
          <a:noFill/>
        </p:spPr>
        <p:txBody>
          <a:bodyPr wrap="square">
            <a:spAutoFit/>
          </a:bodyPr>
          <a:lstStyle/>
          <a:p>
            <a:pPr algn="l">
              <a:defRPr sz="900" b="0">
                <a:solidFill>
                  <a:srgbClr val="CA8A04"/>
                </a:solidFill>
                <a:latin typeface="Calibri"/>
              </a:defRPr>
            </a:pPr>
            <a:r>
              <a:t>[MEDIUM] Limit Price field shows no guidance on where to set the price relative to current market. A novice investor may not know what constitutes a reasonable limit price.</a:t>
            </a:r>
          </a:p>
        </p:txBody>
      </p:sp>
      <p:sp>
        <p:nvSpPr>
          <p:cNvPr id="25" name="TextBox 24"/>
          <p:cNvSpPr txBox="1"/>
          <p:nvPr/>
        </p:nvSpPr>
        <p:spPr>
          <a:xfrm>
            <a:off x="7772399" y="5413248"/>
            <a:ext cx="4114800" cy="365760"/>
          </a:xfrm>
          <a:prstGeom prst="rect">
            <a:avLst/>
          </a:prstGeom>
          <a:noFill/>
        </p:spPr>
        <p:txBody>
          <a:bodyPr wrap="square">
            <a:spAutoFit/>
          </a:bodyPr>
          <a:lstStyle/>
          <a:p>
            <a:pPr algn="l">
              <a:defRPr sz="800" b="0">
                <a:solidFill>
                  <a:srgbClr val="6B7280"/>
                </a:solidFill>
                <a:latin typeface="Calibri"/>
              </a:defRPr>
            </a:pPr>
            <a:r>
              <a:t>→ Add helper text like 'Current market: $6,687/oz' below the Limit Price field, and optionally suggest +/- 5% presets as quick-select buttons.</a:t>
            </a:r>
          </a:p>
        </p:txBody>
      </p:sp>
      <p:sp>
        <p:nvSpPr>
          <p:cNvPr id="26" name="Oval 25"/>
          <p:cNvSpPr/>
          <p:nvPr/>
        </p:nvSpPr>
        <p:spPr>
          <a:xfrm>
            <a:off x="7498079" y="589788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10</a:t>
            </a:r>
          </a:p>
        </p:txBody>
      </p:sp>
      <p:sp>
        <p:nvSpPr>
          <p:cNvPr id="27" name="TextBox 26"/>
          <p:cNvSpPr txBox="1"/>
          <p:nvPr/>
        </p:nvSpPr>
        <p:spPr>
          <a:xfrm>
            <a:off x="7772399" y="5852160"/>
            <a:ext cx="4114800" cy="201168"/>
          </a:xfrm>
          <a:prstGeom prst="rect">
            <a:avLst/>
          </a:prstGeom>
          <a:noFill/>
        </p:spPr>
        <p:txBody>
          <a:bodyPr wrap="square">
            <a:spAutoFit/>
          </a:bodyPr>
          <a:lstStyle/>
          <a:p>
            <a:pPr algn="l">
              <a:defRPr sz="900" b="0">
                <a:solidFill>
                  <a:srgbClr val="CA8A04"/>
                </a:solidFill>
                <a:latin typeface="Calibri"/>
              </a:defRPr>
            </a:pPr>
            <a:r>
              <a:t>[MEDIUM] Currency selector shows all 5 currencies (SGD, USD, EUR, HKD, JPY) upfront in a dropdown next to the amount field. For a novice investor, multi-currency trading adds unnecessary complexity to the first trade.</a:t>
            </a:r>
          </a:p>
        </p:txBody>
      </p:sp>
      <p:sp>
        <p:nvSpPr>
          <p:cNvPr id="28" name="TextBox 27"/>
          <p:cNvSpPr txBox="1"/>
          <p:nvPr/>
        </p:nvSpPr>
        <p:spPr>
          <a:xfrm>
            <a:off x="7772399" y="6053328"/>
            <a:ext cx="4114800" cy="365760"/>
          </a:xfrm>
          <a:prstGeom prst="rect">
            <a:avLst/>
          </a:prstGeom>
          <a:noFill/>
        </p:spPr>
        <p:txBody>
          <a:bodyPr wrap="square">
            <a:spAutoFit/>
          </a:bodyPr>
          <a:lstStyle/>
          <a:p>
            <a:pPr algn="l">
              <a:defRPr sz="800" b="0">
                <a:solidFill>
                  <a:srgbClr val="6B7280"/>
                </a:solidFill>
                <a:latin typeface="Calibri"/>
              </a:defRPr>
            </a:pPr>
            <a:r>
              <a:t>→ Default to SGD (user's locale) and collapse other currencies under an 'Other currencies' option, or show them in a secondary settings panel rather than inline with the trade form.</a:t>
            </a:r>
          </a:p>
        </p:txBody>
      </p:sp>
      <p:sp>
        <p:nvSpPr>
          <p:cNvPr id="29" name="Oval 28"/>
          <p:cNvSpPr/>
          <p:nvPr/>
        </p:nvSpPr>
        <p:spPr>
          <a:xfrm>
            <a:off x="7498079" y="653796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11</a:t>
            </a:r>
          </a:p>
        </p:txBody>
      </p:sp>
      <p:sp>
        <p:nvSpPr>
          <p:cNvPr id="30" name="TextBox 29"/>
          <p:cNvSpPr txBox="1"/>
          <p:nvPr/>
        </p:nvSpPr>
        <p:spPr>
          <a:xfrm>
            <a:off x="7772399" y="6492240"/>
            <a:ext cx="4114800" cy="201168"/>
          </a:xfrm>
          <a:prstGeom prst="rect">
            <a:avLst/>
          </a:prstGeom>
          <a:noFill/>
        </p:spPr>
        <p:txBody>
          <a:bodyPr wrap="square">
            <a:spAutoFit/>
          </a:bodyPr>
          <a:lstStyle/>
          <a:p>
            <a:pPr algn="l">
              <a:defRPr sz="900" b="0">
                <a:solidFill>
                  <a:srgbClr val="CA8A04"/>
                </a:solidFill>
                <a:latin typeface="Calibri"/>
              </a:defRPr>
            </a:pPr>
            <a:r>
              <a:t>[MEDIUM] Trade dropdown in navigation lacks aria-expanded attribute, role='menu'/role='menuitem', keyboard Escape handler, and focus management. Dropdown opens on click only — no keyboard navigation support within the menu.</a:t>
            </a:r>
          </a:p>
        </p:txBody>
      </p:sp>
      <p:sp>
        <p:nvSpPr>
          <p:cNvPr id="31" name="TextBox 30"/>
          <p:cNvSpPr txBox="1"/>
          <p:nvPr/>
        </p:nvSpPr>
        <p:spPr>
          <a:xfrm>
            <a:off x="7772399" y="6693408"/>
            <a:ext cx="4114800" cy="365760"/>
          </a:xfrm>
          <a:prstGeom prst="rect">
            <a:avLst/>
          </a:prstGeom>
          <a:noFill/>
        </p:spPr>
        <p:txBody>
          <a:bodyPr wrap="square">
            <a:spAutoFit/>
          </a:bodyPr>
          <a:lstStyle/>
          <a:p>
            <a:pPr algn="l">
              <a:defRPr sz="800" b="0">
                <a:solidFill>
                  <a:srgbClr val="6B7280"/>
                </a:solidFill>
                <a:latin typeface="Calibri"/>
              </a:defRPr>
            </a:pPr>
            <a:r>
              <a:t>→ Add aria-expanded to the Trade button, role='menu' to the dropdown, role='menuitem' to each metal option. Implement Escape to close, arrow keys to navigate, and return focus to trigger on close.</a:t>
            </a:r>
          </a:p>
        </p:txBody>
      </p:sp>
      <p:sp>
        <p:nvSpPr>
          <p:cNvPr id="32" name="Oval 31"/>
          <p:cNvSpPr/>
          <p:nvPr/>
        </p:nvSpPr>
        <p:spPr>
          <a:xfrm>
            <a:off x="7498079" y="717804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12</a:t>
            </a:r>
          </a:p>
        </p:txBody>
      </p:sp>
      <p:sp>
        <p:nvSpPr>
          <p:cNvPr id="33" name="TextBox 32"/>
          <p:cNvSpPr txBox="1"/>
          <p:nvPr/>
        </p:nvSpPr>
        <p:spPr>
          <a:xfrm>
            <a:off x="7772399" y="7132320"/>
            <a:ext cx="4114800" cy="201168"/>
          </a:xfrm>
          <a:prstGeom prst="rect">
            <a:avLst/>
          </a:prstGeom>
          <a:noFill/>
        </p:spPr>
        <p:txBody>
          <a:bodyPr wrap="square">
            <a:spAutoFit/>
          </a:bodyPr>
          <a:lstStyle/>
          <a:p>
            <a:pPr algn="l">
              <a:defRPr sz="900" b="0">
                <a:solidFill>
                  <a:srgbClr val="CA8A04"/>
                </a:solidFill>
                <a:latin typeface="Calibri"/>
              </a:defRPr>
            </a:pPr>
            <a:r>
              <a:t>[MEDIUM] Price chart SVG has no aria-label, no role='img', and no accessible description. The chart is purely visual with cursor:crosshair interaction. Screen reader users get zero information about price trends.</a:t>
            </a:r>
          </a:p>
        </p:txBody>
      </p:sp>
      <p:sp>
        <p:nvSpPr>
          <p:cNvPr id="34" name="TextBox 33"/>
          <p:cNvSpPr txBox="1"/>
          <p:nvPr/>
        </p:nvSpPr>
        <p:spPr>
          <a:xfrm>
            <a:off x="7772399" y="7333488"/>
            <a:ext cx="4114800" cy="365760"/>
          </a:xfrm>
          <a:prstGeom prst="rect">
            <a:avLst/>
          </a:prstGeom>
          <a:noFill/>
        </p:spPr>
        <p:txBody>
          <a:bodyPr wrap="square">
            <a:spAutoFit/>
          </a:bodyPr>
          <a:lstStyle/>
          <a:p>
            <a:pPr algn="l">
              <a:defRPr sz="800" b="0">
                <a:solidFill>
                  <a:srgbClr val="6B7280"/>
                </a:solidFill>
                <a:latin typeface="Calibri"/>
              </a:defRPr>
            </a:pPr>
            <a:r>
              <a:t>→ Add role='img' and aria-label='Gold price chart showing [trend description]' to the SVG. Provide a visually-hidden data table as an alternative for screen readers.</a:t>
            </a:r>
          </a:p>
        </p:txBody>
      </p:sp>
      <p:sp>
        <p:nvSpPr>
          <p:cNvPr id="35" name="Oval 34"/>
          <p:cNvSpPr/>
          <p:nvPr/>
        </p:nvSpPr>
        <p:spPr>
          <a:xfrm>
            <a:off x="7498079" y="781812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15</a:t>
            </a:r>
          </a:p>
        </p:txBody>
      </p:sp>
      <p:sp>
        <p:nvSpPr>
          <p:cNvPr id="36" name="TextBox 35"/>
          <p:cNvSpPr txBox="1"/>
          <p:nvPr/>
        </p:nvSpPr>
        <p:spPr>
          <a:xfrm>
            <a:off x="7772399" y="7772400"/>
            <a:ext cx="4114800" cy="201168"/>
          </a:xfrm>
          <a:prstGeom prst="rect">
            <a:avLst/>
          </a:prstGeom>
          <a:noFill/>
        </p:spPr>
        <p:txBody>
          <a:bodyPr wrap="square">
            <a:spAutoFit/>
          </a:bodyPr>
          <a:lstStyle/>
          <a:p>
            <a:pPr algn="l">
              <a:defRPr sz="900" b="0">
                <a:solidFill>
                  <a:srgbClr val="16A34A"/>
                </a:solidFill>
                <a:latin typeface="Calibri"/>
              </a:defRPr>
            </a:pPr>
            <a:r>
              <a:t>[LOW] Chart time-interval buttons use single-letter abbreviations (1H, 1D, 1W, 1M, 1Y) with no tooltip or expanded label. A novice may not immediately understand '1H' means 'last 1 hour'.</a:t>
            </a:r>
          </a:p>
        </p:txBody>
      </p:sp>
      <p:sp>
        <p:nvSpPr>
          <p:cNvPr id="37" name="TextBox 36"/>
          <p:cNvSpPr txBox="1"/>
          <p:nvPr/>
        </p:nvSpPr>
        <p:spPr>
          <a:xfrm>
            <a:off x="7772399" y="7973568"/>
            <a:ext cx="4114800" cy="365760"/>
          </a:xfrm>
          <a:prstGeom prst="rect">
            <a:avLst/>
          </a:prstGeom>
          <a:noFill/>
        </p:spPr>
        <p:txBody>
          <a:bodyPr wrap="square">
            <a:spAutoFit/>
          </a:bodyPr>
          <a:lstStyle/>
          <a:p>
            <a:pPr algn="l">
              <a:defRPr sz="800" b="0">
                <a:solidFill>
                  <a:srgbClr val="6B7280"/>
                </a:solidFill>
                <a:latin typeface="Calibri"/>
              </a:defRPr>
            </a:pPr>
            <a:r>
              <a:t>→ Add title attributes or tooltips: '1H' -&gt; 'Last 1 Hour', '1D' -&gt; 'Last 1 Day', etc. The chart title already shows 'Last day' when 1D is selected — ensure this updates for all intervals.</a:t>
            </a:r>
          </a:p>
        </p:txBody>
      </p:sp>
      <p:sp>
        <p:nvSpPr>
          <p:cNvPr id="38" name="Oval 37"/>
          <p:cNvSpPr/>
          <p:nvPr/>
        </p:nvSpPr>
        <p:spPr>
          <a:xfrm>
            <a:off x="7498079" y="845820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16</a:t>
            </a:r>
          </a:p>
        </p:txBody>
      </p:sp>
      <p:sp>
        <p:nvSpPr>
          <p:cNvPr id="39" name="TextBox 38"/>
          <p:cNvSpPr txBox="1"/>
          <p:nvPr/>
        </p:nvSpPr>
        <p:spPr>
          <a:xfrm>
            <a:off x="7772399" y="8412480"/>
            <a:ext cx="4114800" cy="201168"/>
          </a:xfrm>
          <a:prstGeom prst="rect">
            <a:avLst/>
          </a:prstGeom>
          <a:noFill/>
        </p:spPr>
        <p:txBody>
          <a:bodyPr wrap="square">
            <a:spAutoFit/>
          </a:bodyPr>
          <a:lstStyle/>
          <a:p>
            <a:pPr algn="l">
              <a:defRPr sz="900" b="0">
                <a:solidFill>
                  <a:srgbClr val="16A34A"/>
                </a:solidFill>
                <a:latin typeface="Calibri"/>
              </a:defRPr>
            </a:pPr>
            <a:r>
              <a:t>[LOW] Minimum quantity notice ('Minimum quantity: 0.01 ounce') is placed at the very bottom of the form below the Review button, easy to miss. Users discover this only after a failed validation.</a:t>
            </a:r>
          </a:p>
        </p:txBody>
      </p:sp>
      <p:sp>
        <p:nvSpPr>
          <p:cNvPr id="40" name="TextBox 39"/>
          <p:cNvSpPr txBox="1"/>
          <p:nvPr/>
        </p:nvSpPr>
        <p:spPr>
          <a:xfrm>
            <a:off x="7772399" y="8613648"/>
            <a:ext cx="4114800" cy="365760"/>
          </a:xfrm>
          <a:prstGeom prst="rect">
            <a:avLst/>
          </a:prstGeom>
          <a:noFill/>
        </p:spPr>
        <p:txBody>
          <a:bodyPr wrap="square">
            <a:spAutoFit/>
          </a:bodyPr>
          <a:lstStyle/>
          <a:p>
            <a:pPr algn="l">
              <a:defRPr sz="800" b="0">
                <a:solidFill>
                  <a:srgbClr val="6B7280"/>
                </a:solidFill>
                <a:latin typeface="Calibri"/>
              </a:defRPr>
            </a:pPr>
            <a:r>
              <a:t>→ Move the minimum quantity notice directly below the 'You'll receive' calculation where it's contextually relevant, or display it alongside the Amount to Invest field.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Top 5 Priority Recommendations</a:t>
            </a:r>
          </a:p>
        </p:txBody>
      </p:sp>
      <p:sp>
        <p:nvSpPr>
          <p:cNvPr id="3" name="Rounded Rectangle 2"/>
          <p:cNvSpPr/>
          <p:nvPr/>
        </p:nvSpPr>
        <p:spPr>
          <a:xfrm>
            <a:off x="731520" y="1188720"/>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32588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a:t>
            </a:r>
          </a:p>
        </p:txBody>
      </p:sp>
      <p:sp>
        <p:nvSpPr>
          <p:cNvPr id="5" name="TextBox 4"/>
          <p:cNvSpPr txBox="1"/>
          <p:nvPr/>
        </p:nvSpPr>
        <p:spPr>
          <a:xfrm>
            <a:off x="1463040" y="1280160"/>
            <a:ext cx="7315200" cy="320040"/>
          </a:xfrm>
          <a:prstGeom prst="rect">
            <a:avLst/>
          </a:prstGeom>
          <a:noFill/>
        </p:spPr>
        <p:txBody>
          <a:bodyPr wrap="square">
            <a:spAutoFit/>
          </a:bodyPr>
          <a:lstStyle/>
          <a:p>
            <a:pPr algn="l">
              <a:defRPr sz="1400" b="1">
                <a:solidFill>
                  <a:srgbClr val="1E40AF"/>
                </a:solidFill>
                <a:latin typeface="Calibri"/>
              </a:defRPr>
            </a:pPr>
            <a:r>
              <a:t>Fix button and interactive element heights to meet WCAG 2.5.8</a:t>
            </a:r>
          </a:p>
        </p:txBody>
      </p:sp>
      <p:sp>
        <p:nvSpPr>
          <p:cNvPr id="6" name="TextBox 5"/>
          <p:cNvSpPr txBox="1"/>
          <p:nvPr/>
        </p:nvSpPr>
        <p:spPr>
          <a:xfrm>
            <a:off x="1463040" y="1600200"/>
            <a:ext cx="7772400" cy="457200"/>
          </a:xfrm>
          <a:prstGeom prst="rect">
            <a:avLst/>
          </a:prstGeom>
          <a:noFill/>
        </p:spPr>
        <p:txBody>
          <a:bodyPr wrap="square">
            <a:spAutoFit/>
          </a:bodyPr>
          <a:lstStyle/>
          <a:p>
            <a:pPr algn="l">
              <a:defRPr sz="1000" b="0">
                <a:solidFill>
                  <a:srgbClr val="374151"/>
                </a:solidFill>
                <a:latin typeface="Calibri"/>
              </a:defRPr>
            </a:pPr>
            <a:r>
              <a:t>Impact: Affects every interactive element across all pages — buttons, toggles, inputs, selects, chart controls | Fix: Change the default button size from `h-9` (36px) to `h-11` (44px) in the design system. Update input/select default heights similarly. Chart interval buttons need padding to reach 44x44px.</a:t>
            </a:r>
          </a:p>
        </p:txBody>
      </p:sp>
      <p:sp>
        <p:nvSpPr>
          <p:cNvPr id="7" name="TextBox 6"/>
          <p:cNvSpPr txBox="1"/>
          <p:nvPr/>
        </p:nvSpPr>
        <p:spPr>
          <a:xfrm>
            <a:off x="9601200" y="1325880"/>
            <a:ext cx="1371600" cy="274320"/>
          </a:xfrm>
          <a:prstGeom prst="rect">
            <a:avLst/>
          </a:prstGeom>
          <a:noFill/>
        </p:spPr>
        <p:txBody>
          <a:bodyPr wrap="square">
            <a:spAutoFit/>
          </a:bodyPr>
          <a:lstStyle/>
          <a:p>
            <a:pPr algn="r">
              <a:defRPr sz="1000" b="1">
                <a:solidFill>
                  <a:srgbClr val="166534"/>
                </a:solidFill>
                <a:latin typeface="Calibri"/>
              </a:defRPr>
            </a:pPr>
            <a:r>
              <a:t>Quick win — single CSS variable change propagates to all components</a:t>
            </a:r>
          </a:p>
        </p:txBody>
      </p:sp>
      <p:sp>
        <p:nvSpPr>
          <p:cNvPr id="8" name="Rounded Rectangle 7"/>
          <p:cNvSpPr/>
          <p:nvPr/>
        </p:nvSpPr>
        <p:spPr>
          <a:xfrm>
            <a:off x="731520" y="2212848"/>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2350008"/>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a:t>
            </a:r>
          </a:p>
        </p:txBody>
      </p:sp>
      <p:sp>
        <p:nvSpPr>
          <p:cNvPr id="10" name="TextBox 9"/>
          <p:cNvSpPr txBox="1"/>
          <p:nvPr/>
        </p:nvSpPr>
        <p:spPr>
          <a:xfrm>
            <a:off x="1463040" y="2304288"/>
            <a:ext cx="7315200" cy="320040"/>
          </a:xfrm>
          <a:prstGeom prst="rect">
            <a:avLst/>
          </a:prstGeom>
          <a:noFill/>
        </p:spPr>
        <p:txBody>
          <a:bodyPr wrap="square">
            <a:spAutoFit/>
          </a:bodyPr>
          <a:lstStyle/>
          <a:p>
            <a:pPr algn="l">
              <a:defRPr sz="1400" b="1">
                <a:solidFill>
                  <a:srgbClr val="1E40AF"/>
                </a:solidFill>
                <a:latin typeface="Calibri"/>
              </a:defRPr>
            </a:pPr>
            <a:r>
              <a:t>Fix all colour contrast failures on action buttons</a:t>
            </a:r>
          </a:p>
        </p:txBody>
      </p:sp>
      <p:sp>
        <p:nvSpPr>
          <p:cNvPr id="11" name="TextBox 10"/>
          <p:cNvSpPr txBox="1"/>
          <p:nvPr/>
        </p:nvSpPr>
        <p:spPr>
          <a:xfrm>
            <a:off x="1463040" y="2624328"/>
            <a:ext cx="7772400" cy="457200"/>
          </a:xfrm>
          <a:prstGeom prst="rect">
            <a:avLst/>
          </a:prstGeom>
          <a:noFill/>
        </p:spPr>
        <p:txBody>
          <a:bodyPr wrap="square">
            <a:spAutoFit/>
          </a:bodyPr>
          <a:lstStyle/>
          <a:p>
            <a:pPr algn="l">
              <a:defRPr sz="1000" b="0">
                <a:solidFill>
                  <a:srgbClr val="374151"/>
                </a:solidFill>
                <a:latin typeface="Calibri"/>
              </a:defRPr>
            </a:pPr>
            <a:r>
              <a:t>Impact: 4 distinct contrast failures affecting the app's most critical interactive elements (Buy, Sell, Review, all CTAs) | Fix: Darken green-600 to green-700 (#008236, 4.94:1). Darken amber-600 to amber-700 (#bb4d00, 5.05:1). Darken gray-400 to gray-500 (#6a7282, 4.84:1) for icons.</a:t>
            </a:r>
          </a:p>
        </p:txBody>
      </p:sp>
      <p:sp>
        <p:nvSpPr>
          <p:cNvPr id="12" name="TextBox 11"/>
          <p:cNvSpPr txBox="1"/>
          <p:nvPr/>
        </p:nvSpPr>
        <p:spPr>
          <a:xfrm>
            <a:off x="9601200" y="2350008"/>
            <a:ext cx="1371600" cy="274320"/>
          </a:xfrm>
          <a:prstGeom prst="rect">
            <a:avLst/>
          </a:prstGeom>
          <a:noFill/>
        </p:spPr>
        <p:txBody>
          <a:bodyPr wrap="square">
            <a:spAutoFit/>
          </a:bodyPr>
          <a:lstStyle/>
          <a:p>
            <a:pPr algn="r">
              <a:defRPr sz="1000" b="1">
                <a:solidFill>
                  <a:srgbClr val="166534"/>
                </a:solidFill>
                <a:latin typeface="Calibri"/>
              </a:defRPr>
            </a:pPr>
            <a:r>
              <a:t>Quick win — 3 colour token changes in the Tailwind config</a:t>
            </a:r>
          </a:p>
        </p:txBody>
      </p:sp>
      <p:sp>
        <p:nvSpPr>
          <p:cNvPr id="13" name="Rounded Rectangle 12"/>
          <p:cNvSpPr/>
          <p:nvPr/>
        </p:nvSpPr>
        <p:spPr>
          <a:xfrm>
            <a:off x="731520" y="3236976"/>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374136"/>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3</a:t>
            </a:r>
          </a:p>
        </p:txBody>
      </p:sp>
      <p:sp>
        <p:nvSpPr>
          <p:cNvPr id="15" name="TextBox 14"/>
          <p:cNvSpPr txBox="1"/>
          <p:nvPr/>
        </p:nvSpPr>
        <p:spPr>
          <a:xfrm>
            <a:off x="1463040" y="3328416"/>
            <a:ext cx="7315200" cy="320040"/>
          </a:xfrm>
          <a:prstGeom prst="rect">
            <a:avLst/>
          </a:prstGeom>
          <a:noFill/>
        </p:spPr>
        <p:txBody>
          <a:bodyPr wrap="square">
            <a:spAutoFit/>
          </a:bodyPr>
          <a:lstStyle/>
          <a:p>
            <a:pPr algn="l">
              <a:defRPr sz="1400" b="1">
                <a:solidFill>
                  <a:srgbClr val="1E40AF"/>
                </a:solidFill>
                <a:latin typeface="Calibri"/>
              </a:defRPr>
            </a:pPr>
            <a:r>
              <a:t>Add a persistent site footer with legal/trust links</a:t>
            </a:r>
          </a:p>
        </p:txBody>
      </p:sp>
      <p:sp>
        <p:nvSpPr>
          <p:cNvPr id="16" name="TextBox 15"/>
          <p:cNvSpPr txBox="1"/>
          <p:nvPr/>
        </p:nvSpPr>
        <p:spPr>
          <a:xfrm>
            <a:off x="1463040" y="3648456"/>
            <a:ext cx="7772400" cy="457200"/>
          </a:xfrm>
          <a:prstGeom prst="rect">
            <a:avLst/>
          </a:prstGeom>
          <a:noFill/>
        </p:spPr>
        <p:txBody>
          <a:bodyPr wrap="square">
            <a:spAutoFit/>
          </a:bodyPr>
          <a:lstStyle/>
          <a:p>
            <a:pPr algn="l">
              <a:defRPr sz="1000" b="0">
                <a:solidFill>
                  <a:srgbClr val="374151"/>
                </a:solidFill>
                <a:latin typeface="Calibri"/>
              </a:defRPr>
            </a:pPr>
            <a:r>
              <a:t>Impact: Financial trading apps require Terms, Privacy, regulatory disclosures for user trust and legal compliance | Fix: Create a footer component with: Help/Support, Terms of Service, Privacy Policy, MAS regulatory information, company details, copyright</a:t>
            </a:r>
          </a:p>
        </p:txBody>
      </p:sp>
      <p:sp>
        <p:nvSpPr>
          <p:cNvPr id="17" name="TextBox 16"/>
          <p:cNvSpPr txBox="1"/>
          <p:nvPr/>
        </p:nvSpPr>
        <p:spPr>
          <a:xfrm>
            <a:off x="9601200" y="3374136"/>
            <a:ext cx="1371600" cy="274320"/>
          </a:xfrm>
          <a:prstGeom prst="rect">
            <a:avLst/>
          </a:prstGeom>
          <a:noFill/>
        </p:spPr>
        <p:txBody>
          <a:bodyPr wrap="square">
            <a:spAutoFit/>
          </a:bodyPr>
          <a:lstStyle/>
          <a:p>
            <a:pPr algn="r">
              <a:defRPr sz="1000" b="1">
                <a:solidFill>
                  <a:srgbClr val="92400E"/>
                </a:solidFill>
                <a:latin typeface="Calibri"/>
              </a:defRPr>
            </a:pPr>
            <a:r>
              <a:t>Medium lift — new component, content review with legal team</a:t>
            </a:r>
          </a:p>
        </p:txBody>
      </p:sp>
      <p:sp>
        <p:nvSpPr>
          <p:cNvPr id="18" name="Rounded Rectangle 17"/>
          <p:cNvSpPr/>
          <p:nvPr/>
        </p:nvSpPr>
        <p:spPr>
          <a:xfrm>
            <a:off x="731520" y="4261104"/>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4398264"/>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a:t>
            </a:r>
          </a:p>
        </p:txBody>
      </p:sp>
      <p:sp>
        <p:nvSpPr>
          <p:cNvPr id="20" name="TextBox 19"/>
          <p:cNvSpPr txBox="1"/>
          <p:nvPr/>
        </p:nvSpPr>
        <p:spPr>
          <a:xfrm>
            <a:off x="1463040" y="4352544"/>
            <a:ext cx="7315200" cy="320040"/>
          </a:xfrm>
          <a:prstGeom prst="rect">
            <a:avLst/>
          </a:prstGeom>
          <a:noFill/>
        </p:spPr>
        <p:txBody>
          <a:bodyPr wrap="square">
            <a:spAutoFit/>
          </a:bodyPr>
          <a:lstStyle/>
          <a:p>
            <a:pPr algn="l">
              <a:defRPr sz="1400" b="1">
                <a:solidFill>
                  <a:srgbClr val="1E40AF"/>
                </a:solidFill>
                <a:latin typeface="Calibri"/>
              </a:defRPr>
            </a:pPr>
            <a:r>
              <a:t>Implement inline form validation with real-time feedback</a:t>
            </a:r>
          </a:p>
        </p:txBody>
      </p:sp>
      <p:sp>
        <p:nvSpPr>
          <p:cNvPr id="21" name="TextBox 20"/>
          <p:cNvSpPr txBox="1"/>
          <p:nvPr/>
        </p:nvSpPr>
        <p:spPr>
          <a:xfrm>
            <a:off x="1463040" y="4672584"/>
            <a:ext cx="7772400" cy="457200"/>
          </a:xfrm>
          <a:prstGeom prst="rect">
            <a:avLst/>
          </a:prstGeom>
          <a:noFill/>
        </p:spPr>
        <p:txBody>
          <a:bodyPr wrap="square">
            <a:spAutoFit/>
          </a:bodyPr>
          <a:lstStyle/>
          <a:p>
            <a:pPr algn="l">
              <a:defRPr sz="1000" b="0">
                <a:solidFill>
                  <a:srgbClr val="374151"/>
                </a:solidFill>
                <a:latin typeface="Calibri"/>
              </a:defRPr>
            </a:pPr>
            <a:r>
              <a:t>Impact: Novice investors will make input mistakes — discovering errors only via auto-dismissing toasts is frustrating and inaccessible | Fix: Add inline error messages below fields, real-time validation on blur/change, and aria-invalid + aria-describedby for screen readers. Keep toasts as a secondary alert.</a:t>
            </a:r>
          </a:p>
        </p:txBody>
      </p:sp>
      <p:sp>
        <p:nvSpPr>
          <p:cNvPr id="22" name="TextBox 21"/>
          <p:cNvSpPr txBox="1"/>
          <p:nvPr/>
        </p:nvSpPr>
        <p:spPr>
          <a:xfrm>
            <a:off x="9601200" y="4398264"/>
            <a:ext cx="1371600" cy="274320"/>
          </a:xfrm>
          <a:prstGeom prst="rect">
            <a:avLst/>
          </a:prstGeom>
          <a:noFill/>
        </p:spPr>
        <p:txBody>
          <a:bodyPr wrap="square">
            <a:spAutoFit/>
          </a:bodyPr>
          <a:lstStyle/>
          <a:p>
            <a:pPr algn="r">
              <a:defRPr sz="1000" b="1">
                <a:solidFill>
                  <a:srgbClr val="92400E"/>
                </a:solidFill>
                <a:latin typeface="Calibri"/>
              </a:defRPr>
            </a:pPr>
            <a:r>
              <a:t>Medium lift — requires form state management updates per field</a:t>
            </a:r>
          </a:p>
        </p:txBody>
      </p:sp>
      <p:sp>
        <p:nvSpPr>
          <p:cNvPr id="23" name="Rounded Rectangle 22"/>
          <p:cNvSpPr/>
          <p:nvPr/>
        </p:nvSpPr>
        <p:spPr>
          <a:xfrm>
            <a:off x="731520" y="5285232"/>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422392"/>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a:t>
            </a:r>
          </a:p>
        </p:txBody>
      </p:sp>
      <p:sp>
        <p:nvSpPr>
          <p:cNvPr id="25" name="TextBox 24"/>
          <p:cNvSpPr txBox="1"/>
          <p:nvPr/>
        </p:nvSpPr>
        <p:spPr>
          <a:xfrm>
            <a:off x="1463040" y="5376672"/>
            <a:ext cx="7315200" cy="320040"/>
          </a:xfrm>
          <a:prstGeom prst="rect">
            <a:avLst/>
          </a:prstGeom>
          <a:noFill/>
        </p:spPr>
        <p:txBody>
          <a:bodyPr wrap="square">
            <a:spAutoFit/>
          </a:bodyPr>
          <a:lstStyle/>
          <a:p>
            <a:pPr algn="l">
              <a:defRPr sz="1400" b="1">
                <a:solidFill>
                  <a:srgbClr val="1E40AF"/>
                </a:solidFill>
                <a:latin typeface="Calibri"/>
              </a:defRPr>
            </a:pPr>
            <a:r>
              <a:t>Add aria-live regions for price updates and fix Trade dropdown accessibility</a:t>
            </a:r>
          </a:p>
        </p:txBody>
      </p:sp>
      <p:sp>
        <p:nvSpPr>
          <p:cNvPr id="26" name="TextBox 25"/>
          <p:cNvSpPr txBox="1"/>
          <p:nvPr/>
        </p:nvSpPr>
        <p:spPr>
          <a:xfrm>
            <a:off x="1463040" y="5696712"/>
            <a:ext cx="7772400" cy="457200"/>
          </a:xfrm>
          <a:prstGeom prst="rect">
            <a:avLst/>
          </a:prstGeom>
          <a:noFill/>
        </p:spPr>
        <p:txBody>
          <a:bodyPr wrap="square">
            <a:spAutoFit/>
          </a:bodyPr>
          <a:lstStyle/>
          <a:p>
            <a:pPr algn="l">
              <a:defRPr sz="1000" b="0">
                <a:solidFill>
                  <a:srgbClr val="374151"/>
                </a:solidFill>
                <a:latin typeface="Calibri"/>
              </a:defRPr>
            </a:pPr>
            <a:r>
              <a:t>Impact: Screen reader users cannot perceive price changes or navigate the Trade dropdown — critical for an equal-access financial platform | Fix: Add `aria-live="polite"` to price containers. Add `aria-expanded`, `role="menu"`, keyboard navigation (Escape, Arrow keys) to Trade dropdown. Add `role="img"` + `aria-label` to chart SVGs.</a:t>
            </a:r>
          </a:p>
        </p:txBody>
      </p:sp>
      <p:sp>
        <p:nvSpPr>
          <p:cNvPr id="27" name="TextBox 26"/>
          <p:cNvSpPr txBox="1"/>
          <p:nvPr/>
        </p:nvSpPr>
        <p:spPr>
          <a:xfrm>
            <a:off x="9601200" y="5422392"/>
            <a:ext cx="1371600" cy="274320"/>
          </a:xfrm>
          <a:prstGeom prst="rect">
            <a:avLst/>
          </a:prstGeom>
          <a:noFill/>
        </p:spPr>
        <p:txBody>
          <a:bodyPr wrap="square">
            <a:spAutoFit/>
          </a:bodyPr>
          <a:lstStyle/>
          <a:p>
            <a:pPr algn="r">
              <a:defRPr sz="1000" b="1">
                <a:solidFill>
                  <a:srgbClr val="92400E"/>
                </a:solidFill>
                <a:latin typeface="Calibri"/>
              </a:defRPr>
            </a:pPr>
            <a:r>
              <a:t>Medium lift — targeted ARIA attribute additions across 3 components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Accessibility Summary</a:t>
            </a:r>
          </a:p>
        </p:txBody>
      </p:sp>
      <p:sp>
        <p:nvSpPr>
          <p:cNvPr id="3" name="TextBox 2"/>
          <p:cNvSpPr txBox="1"/>
          <p:nvPr/>
        </p:nvSpPr>
        <p:spPr>
          <a:xfrm>
            <a:off x="731520" y="1188720"/>
            <a:ext cx="3200400" cy="320040"/>
          </a:xfrm>
          <a:prstGeom prst="rect">
            <a:avLst/>
          </a:prstGeom>
          <a:noFill/>
        </p:spPr>
        <p:txBody>
          <a:bodyPr wrap="square">
            <a:spAutoFit/>
          </a:bodyPr>
          <a:lstStyle/>
          <a:p>
            <a:pPr algn="l">
              <a:defRPr sz="900" b="1">
                <a:solidFill>
                  <a:srgbClr val="6B7280"/>
                </a:solidFill>
                <a:latin typeface="Calibri"/>
              </a:defRPr>
            </a:pPr>
            <a:r>
              <a:t>WCAG Criterion</a:t>
            </a:r>
          </a:p>
        </p:txBody>
      </p:sp>
      <p:sp>
        <p:nvSpPr>
          <p:cNvPr id="4" name="TextBox 3"/>
          <p:cNvSpPr txBox="1"/>
          <p:nvPr/>
        </p:nvSpPr>
        <p:spPr>
          <a:xfrm>
            <a:off x="3931920" y="1188720"/>
            <a:ext cx="731520" cy="320040"/>
          </a:xfrm>
          <a:prstGeom prst="rect">
            <a:avLst/>
          </a:prstGeom>
          <a:noFill/>
        </p:spPr>
        <p:txBody>
          <a:bodyPr wrap="square">
            <a:spAutoFit/>
          </a:bodyPr>
          <a:lstStyle/>
          <a:p>
            <a:pPr algn="l">
              <a:defRPr sz="900" b="1">
                <a:solidFill>
                  <a:srgbClr val="6B7280"/>
                </a:solidFill>
                <a:latin typeface="Calibri"/>
              </a:defRPr>
            </a:pPr>
            <a:r>
              <a:t>Level</a:t>
            </a:r>
          </a:p>
        </p:txBody>
      </p:sp>
      <p:sp>
        <p:nvSpPr>
          <p:cNvPr id="5" name="TextBox 4"/>
          <p:cNvSpPr txBox="1"/>
          <p:nvPr/>
        </p:nvSpPr>
        <p:spPr>
          <a:xfrm>
            <a:off x="4663440" y="1188720"/>
            <a:ext cx="1097280" cy="320040"/>
          </a:xfrm>
          <a:prstGeom prst="rect">
            <a:avLst/>
          </a:prstGeom>
          <a:noFill/>
        </p:spPr>
        <p:txBody>
          <a:bodyPr wrap="square">
            <a:spAutoFit/>
          </a:bodyPr>
          <a:lstStyle/>
          <a:p>
            <a:pPr algn="l">
              <a:defRPr sz="900" b="1">
                <a:solidFill>
                  <a:srgbClr val="6B7280"/>
                </a:solidFill>
                <a:latin typeface="Calibri"/>
              </a:defRPr>
            </a:pPr>
            <a:r>
              <a:t>Status</a:t>
            </a:r>
          </a:p>
        </p:txBody>
      </p:sp>
      <p:sp>
        <p:nvSpPr>
          <p:cNvPr id="6" name="TextBox 5"/>
          <p:cNvSpPr txBox="1"/>
          <p:nvPr/>
        </p:nvSpPr>
        <p:spPr>
          <a:xfrm>
            <a:off x="5760720" y="1188720"/>
            <a:ext cx="5943600" cy="320040"/>
          </a:xfrm>
          <a:prstGeom prst="rect">
            <a:avLst/>
          </a:prstGeom>
          <a:noFill/>
        </p:spPr>
        <p:txBody>
          <a:bodyPr wrap="square">
            <a:spAutoFit/>
          </a:bodyPr>
          <a:lstStyle/>
          <a:p>
            <a:pPr algn="l">
              <a:defRPr sz="900" b="1">
                <a:solidFill>
                  <a:srgbClr val="6B7280"/>
                </a:solidFill>
                <a:latin typeface="Calibri"/>
              </a:defRPr>
            </a:pPr>
            <a:r>
              <a:t>Details</a:t>
            </a:r>
          </a:p>
        </p:txBody>
      </p:sp>
      <p:sp>
        <p:nvSpPr>
          <p:cNvPr id="7" name="TextBox 6"/>
          <p:cNvSpPr txBox="1"/>
          <p:nvPr/>
        </p:nvSpPr>
        <p:spPr>
          <a:xfrm>
            <a:off x="731520" y="1600200"/>
            <a:ext cx="3200400" cy="457200"/>
          </a:xfrm>
          <a:prstGeom prst="rect">
            <a:avLst/>
          </a:prstGeom>
          <a:noFill/>
        </p:spPr>
        <p:txBody>
          <a:bodyPr wrap="square">
            <a:spAutoFit/>
          </a:bodyPr>
          <a:lstStyle/>
          <a:p>
            <a:pPr algn="l">
              <a:defRPr sz="1000" b="0">
                <a:solidFill>
                  <a:srgbClr val="1A1A2E"/>
                </a:solidFill>
                <a:latin typeface="Calibri"/>
              </a:defRPr>
            </a:pPr>
            <a:r>
              <a:t>| 1.3.1 Info and Relationships</a:t>
            </a:r>
          </a:p>
        </p:txBody>
      </p:sp>
      <p:sp>
        <p:nvSpPr>
          <p:cNvPr id="8" name="TextBox 7"/>
          <p:cNvSpPr txBox="1"/>
          <p:nvPr/>
        </p:nvSpPr>
        <p:spPr>
          <a:xfrm>
            <a:off x="3931920" y="160020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9" name="Rounded Rectangle 8"/>
          <p:cNvSpPr/>
          <p:nvPr/>
        </p:nvSpPr>
        <p:spPr>
          <a:xfrm>
            <a:off x="4663440" y="161848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10" name="TextBox 9"/>
          <p:cNvSpPr txBox="1"/>
          <p:nvPr/>
        </p:nvSpPr>
        <p:spPr>
          <a:xfrm>
            <a:off x="5760720" y="1600200"/>
            <a:ext cx="5943600" cy="457200"/>
          </a:xfrm>
          <a:prstGeom prst="rect">
            <a:avLst/>
          </a:prstGeom>
          <a:noFill/>
        </p:spPr>
        <p:txBody>
          <a:bodyPr wrap="square">
            <a:spAutoFit/>
          </a:bodyPr>
          <a:lstStyle/>
          <a:p>
            <a:pPr algn="l">
              <a:defRPr sz="900" b="0">
                <a:solidFill>
                  <a:srgbClr val="374151"/>
                </a:solidFill>
                <a:latin typeface="Calibri"/>
              </a:defRPr>
            </a:pPr>
            <a:r>
              <a:t>Semantic HTML used — nav, main, section, headings, tables, labels</a:t>
            </a:r>
          </a:p>
        </p:txBody>
      </p:sp>
      <p:sp>
        <p:nvSpPr>
          <p:cNvPr id="11" name="TextBox 10"/>
          <p:cNvSpPr txBox="1"/>
          <p:nvPr/>
        </p:nvSpPr>
        <p:spPr>
          <a:xfrm>
            <a:off x="731520" y="2103120"/>
            <a:ext cx="3200400" cy="457200"/>
          </a:xfrm>
          <a:prstGeom prst="rect">
            <a:avLst/>
          </a:prstGeom>
          <a:noFill/>
        </p:spPr>
        <p:txBody>
          <a:bodyPr wrap="square">
            <a:spAutoFit/>
          </a:bodyPr>
          <a:lstStyle/>
          <a:p>
            <a:pPr algn="l">
              <a:defRPr sz="1000" b="0">
                <a:solidFill>
                  <a:srgbClr val="1A1A2E"/>
                </a:solidFill>
                <a:latin typeface="Calibri"/>
              </a:defRPr>
            </a:pPr>
            <a:r>
              <a:t>1.4.1 Use of Colour</a:t>
            </a:r>
          </a:p>
        </p:txBody>
      </p:sp>
      <p:sp>
        <p:nvSpPr>
          <p:cNvPr id="12" name="TextBox 11"/>
          <p:cNvSpPr txBox="1"/>
          <p:nvPr/>
        </p:nvSpPr>
        <p:spPr>
          <a:xfrm>
            <a:off x="3931920" y="210312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13" name="Rounded Rectangle 12"/>
          <p:cNvSpPr/>
          <p:nvPr/>
        </p:nvSpPr>
        <p:spPr>
          <a:xfrm>
            <a:off x="4663440" y="212140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14" name="TextBox 13"/>
          <p:cNvSpPr txBox="1"/>
          <p:nvPr/>
        </p:nvSpPr>
        <p:spPr>
          <a:xfrm>
            <a:off x="5760720" y="2103120"/>
            <a:ext cx="5943600" cy="457200"/>
          </a:xfrm>
          <a:prstGeom prst="rect">
            <a:avLst/>
          </a:prstGeom>
          <a:noFill/>
        </p:spPr>
        <p:txBody>
          <a:bodyPr wrap="square">
            <a:spAutoFit/>
          </a:bodyPr>
          <a:lstStyle/>
          <a:p>
            <a:pPr algn="l">
              <a:defRPr sz="900" b="0">
                <a:solidFill>
                  <a:srgbClr val="374151"/>
                </a:solidFill>
                <a:latin typeface="Calibri"/>
              </a:defRPr>
            </a:pPr>
            <a:r>
              <a:t>BUY/SELL, status badges use text + colour (not colour alone)</a:t>
            </a:r>
          </a:p>
        </p:txBody>
      </p:sp>
      <p:sp>
        <p:nvSpPr>
          <p:cNvPr id="15" name="TextBox 14"/>
          <p:cNvSpPr txBox="1"/>
          <p:nvPr/>
        </p:nvSpPr>
        <p:spPr>
          <a:xfrm>
            <a:off x="731520" y="2606040"/>
            <a:ext cx="3200400" cy="457200"/>
          </a:xfrm>
          <a:prstGeom prst="rect">
            <a:avLst/>
          </a:prstGeom>
          <a:noFill/>
        </p:spPr>
        <p:txBody>
          <a:bodyPr wrap="square">
            <a:spAutoFit/>
          </a:bodyPr>
          <a:lstStyle/>
          <a:p>
            <a:pPr algn="l">
              <a:defRPr sz="1000" b="0">
                <a:solidFill>
                  <a:srgbClr val="1A1A2E"/>
                </a:solidFill>
                <a:latin typeface="Calibri"/>
              </a:defRPr>
            </a:pPr>
            <a:r>
              <a:t>1.4.3 Contrast (Minimum)</a:t>
            </a:r>
          </a:p>
        </p:txBody>
      </p:sp>
      <p:sp>
        <p:nvSpPr>
          <p:cNvPr id="16" name="TextBox 15"/>
          <p:cNvSpPr txBox="1"/>
          <p:nvPr/>
        </p:nvSpPr>
        <p:spPr>
          <a:xfrm>
            <a:off x="3931920" y="2606040"/>
            <a:ext cx="731520" cy="274320"/>
          </a:xfrm>
          <a:prstGeom prst="rect">
            <a:avLst/>
          </a:prstGeom>
          <a:noFill/>
        </p:spPr>
        <p:txBody>
          <a:bodyPr wrap="square">
            <a:spAutoFit/>
          </a:bodyPr>
          <a:lstStyle/>
          <a:p>
            <a:pPr algn="l">
              <a:defRPr sz="1000" b="0">
                <a:solidFill>
                  <a:srgbClr val="374151"/>
                </a:solidFill>
                <a:latin typeface="Calibri"/>
              </a:defRPr>
            </a:pPr>
            <a:r>
              <a:t>AA</a:t>
            </a:r>
          </a:p>
        </p:txBody>
      </p:sp>
      <p:sp>
        <p:nvSpPr>
          <p:cNvPr id="17" name="Rounded Rectangle 16"/>
          <p:cNvSpPr/>
          <p:nvPr/>
        </p:nvSpPr>
        <p:spPr>
          <a:xfrm>
            <a:off x="4663440" y="2624328"/>
            <a:ext cx="822960" cy="228600"/>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FAIL</a:t>
            </a:r>
          </a:p>
        </p:txBody>
      </p:sp>
      <p:sp>
        <p:nvSpPr>
          <p:cNvPr id="18" name="TextBox 17"/>
          <p:cNvSpPr txBox="1"/>
          <p:nvPr/>
        </p:nvSpPr>
        <p:spPr>
          <a:xfrm>
            <a:off x="5760720" y="2606040"/>
            <a:ext cx="5943600" cy="457200"/>
          </a:xfrm>
          <a:prstGeom prst="rect">
            <a:avLst/>
          </a:prstGeom>
          <a:noFill/>
        </p:spPr>
        <p:txBody>
          <a:bodyPr wrap="square">
            <a:spAutoFit/>
          </a:bodyPr>
          <a:lstStyle/>
          <a:p>
            <a:pPr algn="l">
              <a:defRPr sz="900" b="0">
                <a:solidFill>
                  <a:srgbClr val="374151"/>
                </a:solidFill>
                <a:latin typeface="Calibri"/>
              </a:defRPr>
            </a:pPr>
            <a:r>
              <a:t>7 contrast failures: green-600 (3.22:1), amber-600 (3.19:1), amber-500 (2.15:1), gray-400 (2.60:1) on white backgrounds</a:t>
            </a:r>
          </a:p>
        </p:txBody>
      </p:sp>
      <p:sp>
        <p:nvSpPr>
          <p:cNvPr id="19" name="TextBox 18"/>
          <p:cNvSpPr txBox="1"/>
          <p:nvPr/>
        </p:nvSpPr>
        <p:spPr>
          <a:xfrm>
            <a:off x="731520" y="3108960"/>
            <a:ext cx="3200400" cy="457200"/>
          </a:xfrm>
          <a:prstGeom prst="rect">
            <a:avLst/>
          </a:prstGeom>
          <a:noFill/>
        </p:spPr>
        <p:txBody>
          <a:bodyPr wrap="square">
            <a:spAutoFit/>
          </a:bodyPr>
          <a:lstStyle/>
          <a:p>
            <a:pPr algn="l">
              <a:defRPr sz="1000" b="0">
                <a:solidFill>
                  <a:srgbClr val="1A1A2E"/>
                </a:solidFill>
                <a:latin typeface="Calibri"/>
              </a:defRPr>
            </a:pPr>
            <a:r>
              <a:t>1.4.11 Non-text Contrast</a:t>
            </a:r>
          </a:p>
        </p:txBody>
      </p:sp>
      <p:sp>
        <p:nvSpPr>
          <p:cNvPr id="20" name="TextBox 19"/>
          <p:cNvSpPr txBox="1"/>
          <p:nvPr/>
        </p:nvSpPr>
        <p:spPr>
          <a:xfrm>
            <a:off x="3931920" y="3108960"/>
            <a:ext cx="731520" cy="274320"/>
          </a:xfrm>
          <a:prstGeom prst="rect">
            <a:avLst/>
          </a:prstGeom>
          <a:noFill/>
        </p:spPr>
        <p:txBody>
          <a:bodyPr wrap="square">
            <a:spAutoFit/>
          </a:bodyPr>
          <a:lstStyle/>
          <a:p>
            <a:pPr algn="l">
              <a:defRPr sz="1000" b="0">
                <a:solidFill>
                  <a:srgbClr val="374151"/>
                </a:solidFill>
                <a:latin typeface="Calibri"/>
              </a:defRPr>
            </a:pPr>
            <a:r>
              <a:t>AA</a:t>
            </a:r>
          </a:p>
        </p:txBody>
      </p:sp>
      <p:sp>
        <p:nvSpPr>
          <p:cNvPr id="21" name="Rounded Rectangle 20"/>
          <p:cNvSpPr/>
          <p:nvPr/>
        </p:nvSpPr>
        <p:spPr>
          <a:xfrm>
            <a:off x="4663440" y="3127248"/>
            <a:ext cx="822960" cy="228600"/>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FAIL</a:t>
            </a:r>
          </a:p>
        </p:txBody>
      </p:sp>
      <p:sp>
        <p:nvSpPr>
          <p:cNvPr id="22" name="TextBox 21"/>
          <p:cNvSpPr txBox="1"/>
          <p:nvPr/>
        </p:nvSpPr>
        <p:spPr>
          <a:xfrm>
            <a:off x="5760720" y="3108960"/>
            <a:ext cx="5943600" cy="457200"/>
          </a:xfrm>
          <a:prstGeom prst="rect">
            <a:avLst/>
          </a:prstGeom>
          <a:noFill/>
        </p:spPr>
        <p:txBody>
          <a:bodyPr wrap="square">
            <a:spAutoFit/>
          </a:bodyPr>
          <a:lstStyle/>
          <a:p>
            <a:pPr algn="l">
              <a:defRPr sz="900" b="0">
                <a:solidFill>
                  <a:srgbClr val="374151"/>
                </a:solidFill>
                <a:latin typeface="Calibri"/>
              </a:defRPr>
            </a:pPr>
            <a:r>
              <a:t>Info icon buttons (gray-400, 2.60:1) and chart elements lack sufficient contrast against backgrounds</a:t>
            </a:r>
          </a:p>
        </p:txBody>
      </p:sp>
      <p:sp>
        <p:nvSpPr>
          <p:cNvPr id="23" name="TextBox 22"/>
          <p:cNvSpPr txBox="1"/>
          <p:nvPr/>
        </p:nvSpPr>
        <p:spPr>
          <a:xfrm>
            <a:off x="731520" y="3611880"/>
            <a:ext cx="3200400" cy="457200"/>
          </a:xfrm>
          <a:prstGeom prst="rect">
            <a:avLst/>
          </a:prstGeom>
          <a:noFill/>
        </p:spPr>
        <p:txBody>
          <a:bodyPr wrap="square">
            <a:spAutoFit/>
          </a:bodyPr>
          <a:lstStyle/>
          <a:p>
            <a:pPr algn="l">
              <a:defRPr sz="1000" b="0">
                <a:solidFill>
                  <a:srgbClr val="1A1A2E"/>
                </a:solidFill>
                <a:latin typeface="Calibri"/>
              </a:defRPr>
            </a:pPr>
            <a:r>
              <a:t>2.1.1 Keyboard</a:t>
            </a:r>
          </a:p>
        </p:txBody>
      </p:sp>
      <p:sp>
        <p:nvSpPr>
          <p:cNvPr id="24" name="TextBox 23"/>
          <p:cNvSpPr txBox="1"/>
          <p:nvPr/>
        </p:nvSpPr>
        <p:spPr>
          <a:xfrm>
            <a:off x="3931920" y="361188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25" name="Rounded Rectangle 24"/>
          <p:cNvSpPr/>
          <p:nvPr/>
        </p:nvSpPr>
        <p:spPr>
          <a:xfrm>
            <a:off x="4663440" y="3630168"/>
            <a:ext cx="822960" cy="228600"/>
          </a:xfrm>
          <a:prstGeom prst="roundRect">
            <a:avLst>
              <a:gd name="adj" fmla="val 2000"/>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PARTIAL</a:t>
            </a:r>
          </a:p>
        </p:txBody>
      </p:sp>
      <p:sp>
        <p:nvSpPr>
          <p:cNvPr id="26" name="TextBox 25"/>
          <p:cNvSpPr txBox="1"/>
          <p:nvPr/>
        </p:nvSpPr>
        <p:spPr>
          <a:xfrm>
            <a:off x="5760720" y="3611880"/>
            <a:ext cx="5943600" cy="457200"/>
          </a:xfrm>
          <a:prstGeom prst="rect">
            <a:avLst/>
          </a:prstGeom>
          <a:noFill/>
        </p:spPr>
        <p:txBody>
          <a:bodyPr wrap="square">
            <a:spAutoFit/>
          </a:bodyPr>
          <a:lstStyle/>
          <a:p>
            <a:pPr algn="l">
              <a:defRPr sz="900" b="0">
                <a:solidFill>
                  <a:srgbClr val="374151"/>
                </a:solidFill>
                <a:latin typeface="Calibri"/>
              </a:defRPr>
            </a:pPr>
            <a:r>
              <a:t>Main navigation is keyboard-accessible but Trade dropdown menu lacks keyboard support (no Escape, no Arrow keys)</a:t>
            </a:r>
          </a:p>
        </p:txBody>
      </p:sp>
      <p:sp>
        <p:nvSpPr>
          <p:cNvPr id="27" name="TextBox 26"/>
          <p:cNvSpPr txBox="1"/>
          <p:nvPr/>
        </p:nvSpPr>
        <p:spPr>
          <a:xfrm>
            <a:off x="731520" y="4114800"/>
            <a:ext cx="3200400" cy="457200"/>
          </a:xfrm>
          <a:prstGeom prst="rect">
            <a:avLst/>
          </a:prstGeom>
          <a:noFill/>
        </p:spPr>
        <p:txBody>
          <a:bodyPr wrap="square">
            <a:spAutoFit/>
          </a:bodyPr>
          <a:lstStyle/>
          <a:p>
            <a:pPr algn="l">
              <a:defRPr sz="1000" b="0">
                <a:solidFill>
                  <a:srgbClr val="1A1A2E"/>
                </a:solidFill>
                <a:latin typeface="Calibri"/>
              </a:defRPr>
            </a:pPr>
            <a:r>
              <a:t>2.4.1 Bypass Blocks</a:t>
            </a:r>
          </a:p>
        </p:txBody>
      </p:sp>
      <p:sp>
        <p:nvSpPr>
          <p:cNvPr id="28" name="TextBox 27"/>
          <p:cNvSpPr txBox="1"/>
          <p:nvPr/>
        </p:nvSpPr>
        <p:spPr>
          <a:xfrm>
            <a:off x="3931920" y="411480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29" name="Rounded Rectangle 28"/>
          <p:cNvSpPr/>
          <p:nvPr/>
        </p:nvSpPr>
        <p:spPr>
          <a:xfrm>
            <a:off x="4663440" y="413308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30" name="TextBox 29"/>
          <p:cNvSpPr txBox="1"/>
          <p:nvPr/>
        </p:nvSpPr>
        <p:spPr>
          <a:xfrm>
            <a:off x="5760720" y="4114800"/>
            <a:ext cx="5943600" cy="457200"/>
          </a:xfrm>
          <a:prstGeom prst="rect">
            <a:avLst/>
          </a:prstGeom>
          <a:noFill/>
        </p:spPr>
        <p:txBody>
          <a:bodyPr wrap="square">
            <a:spAutoFit/>
          </a:bodyPr>
          <a:lstStyle/>
          <a:p>
            <a:pPr algn="l">
              <a:defRPr sz="900" b="0">
                <a:solidFill>
                  <a:srgbClr val="374151"/>
                </a:solidFill>
                <a:latin typeface="Calibri"/>
              </a:defRPr>
            </a:pPr>
            <a:r>
              <a:t>Skip-nav link present and functional — jumps to `#main-content`</a:t>
            </a:r>
          </a:p>
        </p:txBody>
      </p:sp>
      <p:sp>
        <p:nvSpPr>
          <p:cNvPr id="31" name="TextBox 30"/>
          <p:cNvSpPr txBox="1"/>
          <p:nvPr/>
        </p:nvSpPr>
        <p:spPr>
          <a:xfrm>
            <a:off x="731520" y="4617720"/>
            <a:ext cx="3200400" cy="457200"/>
          </a:xfrm>
          <a:prstGeom prst="rect">
            <a:avLst/>
          </a:prstGeom>
          <a:noFill/>
        </p:spPr>
        <p:txBody>
          <a:bodyPr wrap="square">
            <a:spAutoFit/>
          </a:bodyPr>
          <a:lstStyle/>
          <a:p>
            <a:pPr algn="l">
              <a:defRPr sz="1000" b="0">
                <a:solidFill>
                  <a:srgbClr val="1A1A2E"/>
                </a:solidFill>
                <a:latin typeface="Calibri"/>
              </a:defRPr>
            </a:pPr>
            <a:r>
              <a:t>2.4.3 Focus Order</a:t>
            </a:r>
          </a:p>
        </p:txBody>
      </p:sp>
      <p:sp>
        <p:nvSpPr>
          <p:cNvPr id="32" name="TextBox 31"/>
          <p:cNvSpPr txBox="1"/>
          <p:nvPr/>
        </p:nvSpPr>
        <p:spPr>
          <a:xfrm>
            <a:off x="3931920" y="461772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33" name="Rounded Rectangle 32"/>
          <p:cNvSpPr/>
          <p:nvPr/>
        </p:nvSpPr>
        <p:spPr>
          <a:xfrm>
            <a:off x="4663440" y="463600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34" name="TextBox 33"/>
          <p:cNvSpPr txBox="1"/>
          <p:nvPr/>
        </p:nvSpPr>
        <p:spPr>
          <a:xfrm>
            <a:off x="5760720" y="4617720"/>
            <a:ext cx="5943600" cy="457200"/>
          </a:xfrm>
          <a:prstGeom prst="rect">
            <a:avLst/>
          </a:prstGeom>
          <a:noFill/>
        </p:spPr>
        <p:txBody>
          <a:bodyPr wrap="square">
            <a:spAutoFit/>
          </a:bodyPr>
          <a:lstStyle/>
          <a:p>
            <a:pPr algn="l">
              <a:defRPr sz="900" b="0">
                <a:solidFill>
                  <a:srgbClr val="374151"/>
                </a:solidFill>
                <a:latin typeface="Calibri"/>
              </a:defRPr>
            </a:pPr>
            <a:r>
              <a:t>Focus order follows visual layout logically</a:t>
            </a:r>
          </a:p>
        </p:txBody>
      </p:sp>
      <p:sp>
        <p:nvSpPr>
          <p:cNvPr id="35" name="TextBox 34"/>
          <p:cNvSpPr txBox="1"/>
          <p:nvPr/>
        </p:nvSpPr>
        <p:spPr>
          <a:xfrm>
            <a:off x="731520" y="5120640"/>
            <a:ext cx="3200400" cy="457200"/>
          </a:xfrm>
          <a:prstGeom prst="rect">
            <a:avLst/>
          </a:prstGeom>
          <a:noFill/>
        </p:spPr>
        <p:txBody>
          <a:bodyPr wrap="square">
            <a:spAutoFit/>
          </a:bodyPr>
          <a:lstStyle/>
          <a:p>
            <a:pPr algn="l">
              <a:defRPr sz="1000" b="0">
                <a:solidFill>
                  <a:srgbClr val="1A1A2E"/>
                </a:solidFill>
                <a:latin typeface="Calibri"/>
              </a:defRPr>
            </a:pPr>
            <a:r>
              <a:t>2.4.7 Focus Visible</a:t>
            </a:r>
          </a:p>
        </p:txBody>
      </p:sp>
      <p:sp>
        <p:nvSpPr>
          <p:cNvPr id="36" name="TextBox 35"/>
          <p:cNvSpPr txBox="1"/>
          <p:nvPr/>
        </p:nvSpPr>
        <p:spPr>
          <a:xfrm>
            <a:off x="3931920" y="5120640"/>
            <a:ext cx="731520" cy="274320"/>
          </a:xfrm>
          <a:prstGeom prst="rect">
            <a:avLst/>
          </a:prstGeom>
          <a:noFill/>
        </p:spPr>
        <p:txBody>
          <a:bodyPr wrap="square">
            <a:spAutoFit/>
          </a:bodyPr>
          <a:lstStyle/>
          <a:p>
            <a:pPr algn="l">
              <a:defRPr sz="1000" b="0">
                <a:solidFill>
                  <a:srgbClr val="374151"/>
                </a:solidFill>
                <a:latin typeface="Calibri"/>
              </a:defRPr>
            </a:pPr>
            <a:r>
              <a:t>AA</a:t>
            </a:r>
          </a:p>
        </p:txBody>
      </p:sp>
      <p:sp>
        <p:nvSpPr>
          <p:cNvPr id="37" name="Rounded Rectangle 36"/>
          <p:cNvSpPr/>
          <p:nvPr/>
        </p:nvSpPr>
        <p:spPr>
          <a:xfrm>
            <a:off x="4663440" y="513892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38" name="TextBox 37"/>
          <p:cNvSpPr txBox="1"/>
          <p:nvPr/>
        </p:nvSpPr>
        <p:spPr>
          <a:xfrm>
            <a:off x="5760720" y="5120640"/>
            <a:ext cx="5943600" cy="457200"/>
          </a:xfrm>
          <a:prstGeom prst="rect">
            <a:avLst/>
          </a:prstGeom>
          <a:noFill/>
        </p:spPr>
        <p:txBody>
          <a:bodyPr wrap="square">
            <a:spAutoFit/>
          </a:bodyPr>
          <a:lstStyle/>
          <a:p>
            <a:pPr algn="l">
              <a:defRPr sz="900" b="0">
                <a:solidFill>
                  <a:srgbClr val="374151"/>
                </a:solidFill>
                <a:latin typeface="Calibri"/>
              </a:defRPr>
            </a:pPr>
            <a:r>
              <a:t>focus-visible ring styles present on all interactive elements</a:t>
            </a:r>
          </a:p>
        </p:txBody>
      </p:sp>
      <p:sp>
        <p:nvSpPr>
          <p:cNvPr id="39" name="TextBox 38"/>
          <p:cNvSpPr txBox="1"/>
          <p:nvPr/>
        </p:nvSpPr>
        <p:spPr>
          <a:xfrm>
            <a:off x="731520" y="5623560"/>
            <a:ext cx="3200400" cy="457200"/>
          </a:xfrm>
          <a:prstGeom prst="rect">
            <a:avLst/>
          </a:prstGeom>
          <a:noFill/>
        </p:spPr>
        <p:txBody>
          <a:bodyPr wrap="square">
            <a:spAutoFit/>
          </a:bodyPr>
          <a:lstStyle/>
          <a:p>
            <a:pPr algn="l">
              <a:defRPr sz="1000" b="0">
                <a:solidFill>
                  <a:srgbClr val="1A1A2E"/>
                </a:solidFill>
                <a:latin typeface="Calibri"/>
              </a:defRPr>
            </a:pPr>
            <a:r>
              <a:t>2.5.8 Target Size</a:t>
            </a:r>
          </a:p>
        </p:txBody>
      </p:sp>
      <p:sp>
        <p:nvSpPr>
          <p:cNvPr id="40" name="TextBox 39"/>
          <p:cNvSpPr txBox="1"/>
          <p:nvPr/>
        </p:nvSpPr>
        <p:spPr>
          <a:xfrm>
            <a:off x="3931920" y="5623560"/>
            <a:ext cx="731520" cy="274320"/>
          </a:xfrm>
          <a:prstGeom prst="rect">
            <a:avLst/>
          </a:prstGeom>
          <a:noFill/>
        </p:spPr>
        <p:txBody>
          <a:bodyPr wrap="square">
            <a:spAutoFit/>
          </a:bodyPr>
          <a:lstStyle/>
          <a:p>
            <a:pPr algn="l">
              <a:defRPr sz="1000" b="0">
                <a:solidFill>
                  <a:srgbClr val="374151"/>
                </a:solidFill>
                <a:latin typeface="Calibri"/>
              </a:defRPr>
            </a:pPr>
            <a:r>
              <a:t>AA</a:t>
            </a:r>
          </a:p>
        </p:txBody>
      </p:sp>
      <p:sp>
        <p:nvSpPr>
          <p:cNvPr id="41" name="Rounded Rectangle 40"/>
          <p:cNvSpPr/>
          <p:nvPr/>
        </p:nvSpPr>
        <p:spPr>
          <a:xfrm>
            <a:off x="4663440" y="5641848"/>
            <a:ext cx="822960" cy="228600"/>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FAIL</a:t>
            </a:r>
          </a:p>
        </p:txBody>
      </p:sp>
      <p:sp>
        <p:nvSpPr>
          <p:cNvPr id="42" name="TextBox 41"/>
          <p:cNvSpPr txBox="1"/>
          <p:nvPr/>
        </p:nvSpPr>
        <p:spPr>
          <a:xfrm>
            <a:off x="5760720" y="5623560"/>
            <a:ext cx="5943600" cy="457200"/>
          </a:xfrm>
          <a:prstGeom prst="rect">
            <a:avLst/>
          </a:prstGeom>
          <a:noFill/>
        </p:spPr>
        <p:txBody>
          <a:bodyPr wrap="square">
            <a:spAutoFit/>
          </a:bodyPr>
          <a:lstStyle/>
          <a:p>
            <a:pPr algn="l">
              <a:defRPr sz="900" b="0">
                <a:solidFill>
                  <a:srgbClr val="374151"/>
                </a:solidFill>
                <a:latin typeface="Calibri"/>
              </a:defRPr>
            </a:pPr>
            <a:r>
              <a:t>Default buttons 36px, inputs 36px, chart buttons 24px — all below 44px minimum</a:t>
            </a:r>
          </a:p>
        </p:txBody>
      </p:sp>
      <p:sp>
        <p:nvSpPr>
          <p:cNvPr id="43" name="TextBox 42"/>
          <p:cNvSpPr txBox="1"/>
          <p:nvPr/>
        </p:nvSpPr>
        <p:spPr>
          <a:xfrm>
            <a:off x="731520" y="6126480"/>
            <a:ext cx="3200400" cy="457200"/>
          </a:xfrm>
          <a:prstGeom prst="rect">
            <a:avLst/>
          </a:prstGeom>
          <a:noFill/>
        </p:spPr>
        <p:txBody>
          <a:bodyPr wrap="square">
            <a:spAutoFit/>
          </a:bodyPr>
          <a:lstStyle/>
          <a:p>
            <a:pPr algn="l">
              <a:defRPr sz="1000" b="0">
                <a:solidFill>
                  <a:srgbClr val="1A1A2E"/>
                </a:solidFill>
                <a:latin typeface="Calibri"/>
              </a:defRPr>
            </a:pPr>
            <a:r>
              <a:t>3.3.1 Error Identification</a:t>
            </a:r>
          </a:p>
        </p:txBody>
      </p:sp>
      <p:sp>
        <p:nvSpPr>
          <p:cNvPr id="44" name="TextBox 43"/>
          <p:cNvSpPr txBox="1"/>
          <p:nvPr/>
        </p:nvSpPr>
        <p:spPr>
          <a:xfrm>
            <a:off x="3931920" y="612648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45" name="Rounded Rectangle 44"/>
          <p:cNvSpPr/>
          <p:nvPr/>
        </p:nvSpPr>
        <p:spPr>
          <a:xfrm>
            <a:off x="4663440" y="6144768"/>
            <a:ext cx="822960" cy="228600"/>
          </a:xfrm>
          <a:prstGeom prst="roundRect">
            <a:avLst>
              <a:gd name="adj" fmla="val 2000"/>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PARTIAL</a:t>
            </a:r>
          </a:p>
        </p:txBody>
      </p:sp>
      <p:sp>
        <p:nvSpPr>
          <p:cNvPr id="46" name="TextBox 45"/>
          <p:cNvSpPr txBox="1"/>
          <p:nvPr/>
        </p:nvSpPr>
        <p:spPr>
          <a:xfrm>
            <a:off x="5760720" y="6126480"/>
            <a:ext cx="5943600" cy="457200"/>
          </a:xfrm>
          <a:prstGeom prst="rect">
            <a:avLst/>
          </a:prstGeom>
          <a:noFill/>
        </p:spPr>
        <p:txBody>
          <a:bodyPr wrap="square">
            <a:spAutoFit/>
          </a:bodyPr>
          <a:lstStyle/>
          <a:p>
            <a:pPr algn="l">
              <a:defRPr sz="900" b="0">
                <a:solidFill>
                  <a:srgbClr val="374151"/>
                </a:solidFill>
                <a:latin typeface="Calibri"/>
              </a:defRPr>
            </a:pPr>
            <a:r>
              <a:t>Errors identified via toast messages but not inline — screen reader users may miss auto-dismissing toasts</a:t>
            </a:r>
          </a:p>
        </p:txBody>
      </p:sp>
      <p:sp>
        <p:nvSpPr>
          <p:cNvPr id="47" name="TextBox 46"/>
          <p:cNvSpPr txBox="1"/>
          <p:nvPr/>
        </p:nvSpPr>
        <p:spPr>
          <a:xfrm>
            <a:off x="731520" y="6629400"/>
            <a:ext cx="3200400" cy="457200"/>
          </a:xfrm>
          <a:prstGeom prst="rect">
            <a:avLst/>
          </a:prstGeom>
          <a:noFill/>
        </p:spPr>
        <p:txBody>
          <a:bodyPr wrap="square">
            <a:spAutoFit/>
          </a:bodyPr>
          <a:lstStyle/>
          <a:p>
            <a:pPr algn="l">
              <a:defRPr sz="1000" b="0">
                <a:solidFill>
                  <a:srgbClr val="1A1A2E"/>
                </a:solidFill>
                <a:latin typeface="Calibri"/>
              </a:defRPr>
            </a:pPr>
            <a:r>
              <a:t>3.3.2 Labels or Instructions</a:t>
            </a:r>
          </a:p>
        </p:txBody>
      </p:sp>
      <p:sp>
        <p:nvSpPr>
          <p:cNvPr id="48" name="TextBox 47"/>
          <p:cNvSpPr txBox="1"/>
          <p:nvPr/>
        </p:nvSpPr>
        <p:spPr>
          <a:xfrm>
            <a:off x="3931920" y="662940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49" name="Rounded Rectangle 48"/>
          <p:cNvSpPr/>
          <p:nvPr/>
        </p:nvSpPr>
        <p:spPr>
          <a:xfrm>
            <a:off x="4663440" y="6647688"/>
            <a:ext cx="822960" cy="228600"/>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PASS</a:t>
            </a:r>
          </a:p>
        </p:txBody>
      </p:sp>
      <p:sp>
        <p:nvSpPr>
          <p:cNvPr id="50" name="TextBox 49"/>
          <p:cNvSpPr txBox="1"/>
          <p:nvPr/>
        </p:nvSpPr>
        <p:spPr>
          <a:xfrm>
            <a:off x="5760720" y="6629400"/>
            <a:ext cx="5943600" cy="457200"/>
          </a:xfrm>
          <a:prstGeom prst="rect">
            <a:avLst/>
          </a:prstGeom>
          <a:noFill/>
        </p:spPr>
        <p:txBody>
          <a:bodyPr wrap="square">
            <a:spAutoFit/>
          </a:bodyPr>
          <a:lstStyle/>
          <a:p>
            <a:pPr algn="l">
              <a:defRPr sz="900" b="0">
                <a:solidFill>
                  <a:srgbClr val="374151"/>
                </a:solidFill>
                <a:latin typeface="Calibri"/>
              </a:defRPr>
            </a:pPr>
            <a:r>
              <a:t>Form fields have labels, helper text for order types, tooltip explanations for Bid/Ask/Spread</a:t>
            </a:r>
          </a:p>
        </p:txBody>
      </p:sp>
      <p:sp>
        <p:nvSpPr>
          <p:cNvPr id="51" name="TextBox 50"/>
          <p:cNvSpPr txBox="1"/>
          <p:nvPr/>
        </p:nvSpPr>
        <p:spPr>
          <a:xfrm>
            <a:off x="731520" y="7132320"/>
            <a:ext cx="3200400" cy="457200"/>
          </a:xfrm>
          <a:prstGeom prst="rect">
            <a:avLst/>
          </a:prstGeom>
          <a:noFill/>
        </p:spPr>
        <p:txBody>
          <a:bodyPr wrap="square">
            <a:spAutoFit/>
          </a:bodyPr>
          <a:lstStyle/>
          <a:p>
            <a:pPr algn="l">
              <a:defRPr sz="1000" b="0">
                <a:solidFill>
                  <a:srgbClr val="1A1A2E"/>
                </a:solidFill>
                <a:latin typeface="Calibri"/>
              </a:defRPr>
            </a:pPr>
            <a:r>
              <a:t>4.1.2 Name, Role, Value</a:t>
            </a:r>
          </a:p>
        </p:txBody>
      </p:sp>
      <p:sp>
        <p:nvSpPr>
          <p:cNvPr id="52" name="TextBox 51"/>
          <p:cNvSpPr txBox="1"/>
          <p:nvPr/>
        </p:nvSpPr>
        <p:spPr>
          <a:xfrm>
            <a:off x="3931920" y="7132320"/>
            <a:ext cx="731520" cy="274320"/>
          </a:xfrm>
          <a:prstGeom prst="rect">
            <a:avLst/>
          </a:prstGeom>
          <a:noFill/>
        </p:spPr>
        <p:txBody>
          <a:bodyPr wrap="square">
            <a:spAutoFit/>
          </a:bodyPr>
          <a:lstStyle/>
          <a:p>
            <a:pPr algn="l">
              <a:defRPr sz="1000" b="0">
                <a:solidFill>
                  <a:srgbClr val="374151"/>
                </a:solidFill>
                <a:latin typeface="Calibri"/>
              </a:defRPr>
            </a:pPr>
            <a:r>
              <a:t>A</a:t>
            </a:r>
          </a:p>
        </p:txBody>
      </p:sp>
      <p:sp>
        <p:nvSpPr>
          <p:cNvPr id="53" name="Rounded Rectangle 52"/>
          <p:cNvSpPr/>
          <p:nvPr/>
        </p:nvSpPr>
        <p:spPr>
          <a:xfrm>
            <a:off x="4663440" y="7150608"/>
            <a:ext cx="822960" cy="228600"/>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latin typeface="Calibri"/>
              </a:defRPr>
            </a:pPr>
            <a:r>
              <a:t>FAIL</a:t>
            </a:r>
          </a:p>
        </p:txBody>
      </p:sp>
      <p:sp>
        <p:nvSpPr>
          <p:cNvPr id="54" name="TextBox 53"/>
          <p:cNvSpPr txBox="1"/>
          <p:nvPr/>
        </p:nvSpPr>
        <p:spPr>
          <a:xfrm>
            <a:off x="5760720" y="7132320"/>
            <a:ext cx="5943600" cy="457200"/>
          </a:xfrm>
          <a:prstGeom prst="rect">
            <a:avLst/>
          </a:prstGeom>
          <a:noFill/>
        </p:spPr>
        <p:txBody>
          <a:bodyPr wrap="square">
            <a:spAutoFit/>
          </a:bodyPr>
          <a:lstStyle/>
          <a:p>
            <a:pPr algn="l">
              <a:defRPr sz="900" b="0">
                <a:solidFill>
                  <a:srgbClr val="374151"/>
                </a:solidFill>
                <a:latin typeface="Calibri"/>
              </a:defRPr>
            </a:pPr>
            <a:r>
              <a:t>Trade dropdown missing aria-expanded; chart SVG missing role/aria-label; no aria-live for dynamic prices</a:t>
            </a:r>
          </a:p>
        </p:txBody>
      </p:sp>
      <p:sp>
        <p:nvSpPr>
          <p:cNvPr id="55" name="TextBox 54"/>
          <p:cNvSpPr txBox="1"/>
          <p:nvPr/>
        </p:nvSpPr>
        <p:spPr>
          <a:xfrm>
            <a:off x="731520" y="7909560"/>
            <a:ext cx="10058400" cy="365760"/>
          </a:xfrm>
          <a:prstGeom prst="rect">
            <a:avLst/>
          </a:prstGeom>
          <a:noFill/>
        </p:spPr>
        <p:txBody>
          <a:bodyPr wrap="square">
            <a:spAutoFit/>
          </a:bodyPr>
          <a:lstStyle/>
          <a:p>
            <a:pPr algn="l">
              <a:defRPr sz="1300" b="1">
                <a:solidFill>
                  <a:srgbClr val="EA580C"/>
                </a:solidFill>
                <a:latin typeface="Calibri"/>
              </a:defRPr>
            </a:pPr>
            <a:r>
              <a:t>Overall Accessibility Risk Level: HIGH — Three AA failures + missing Level A requirement.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What's Working Well</a:t>
            </a:r>
          </a:p>
        </p:txBody>
      </p:sp>
      <p:sp>
        <p:nvSpPr>
          <p:cNvPr id="3" name="Rounded Rectangle 2"/>
          <p:cNvSpPr/>
          <p:nvPr/>
        </p:nvSpPr>
        <p:spPr>
          <a:xfrm>
            <a:off x="731520" y="118872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280160"/>
            <a:ext cx="9875520" cy="274320"/>
          </a:xfrm>
          <a:prstGeom prst="rect">
            <a:avLst/>
          </a:prstGeom>
          <a:noFill/>
        </p:spPr>
        <p:txBody>
          <a:bodyPr wrap="square">
            <a:spAutoFit/>
          </a:bodyPr>
          <a:lstStyle/>
          <a:p>
            <a:pPr algn="l">
              <a:defRPr sz="1400" b="1">
                <a:solidFill>
                  <a:srgbClr val="166534"/>
                </a:solidFill>
                <a:latin typeface="Calibri"/>
              </a:defRPr>
            </a:pPr>
            <a:r>
              <a:t>Clear information architecture</a:t>
            </a:r>
          </a:p>
        </p:txBody>
      </p:sp>
      <p:sp>
        <p:nvSpPr>
          <p:cNvPr id="6" name="TextBox 5"/>
          <p:cNvSpPr txBox="1"/>
          <p:nvPr/>
        </p:nvSpPr>
        <p:spPr>
          <a:xfrm>
            <a:off x="1005840" y="1600200"/>
            <a:ext cx="9875520" cy="457200"/>
          </a:xfrm>
          <a:prstGeom prst="rect">
            <a:avLst/>
          </a:prstGeom>
          <a:noFill/>
        </p:spPr>
        <p:txBody>
          <a:bodyPr wrap="square">
            <a:spAutoFit/>
          </a:bodyPr>
          <a:lstStyle/>
          <a:p>
            <a:pPr algn="l">
              <a:defRPr sz="1100" b="0">
                <a:solidFill>
                  <a:srgbClr val="374151"/>
                </a:solidFill>
                <a:latin typeface="Calibri"/>
              </a:defRPr>
            </a:pPr>
            <a:r>
              <a:t>— The flat 4-page nav (Dashboard, Trade, Orders, Products) with the Trade dropdown for metal selection is intuitive. A novice can understand the app structure immediately.</a:t>
            </a:r>
          </a:p>
        </p:txBody>
      </p:sp>
      <p:sp>
        <p:nvSpPr>
          <p:cNvPr id="7" name="Rounded Rectangle 6"/>
          <p:cNvSpPr/>
          <p:nvPr/>
        </p:nvSpPr>
        <p:spPr>
          <a:xfrm>
            <a:off x="731520" y="224028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4028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31720"/>
            <a:ext cx="9875520" cy="274320"/>
          </a:xfrm>
          <a:prstGeom prst="rect">
            <a:avLst/>
          </a:prstGeom>
          <a:noFill/>
        </p:spPr>
        <p:txBody>
          <a:bodyPr wrap="square">
            <a:spAutoFit/>
          </a:bodyPr>
          <a:lstStyle/>
          <a:p>
            <a:pPr algn="l">
              <a:defRPr sz="1400" b="1">
                <a:solidFill>
                  <a:srgbClr val="166534"/>
                </a:solidFill>
                <a:latin typeface="Calibri"/>
              </a:defRPr>
            </a:pPr>
            <a:r>
              <a:t>Well-designed trade flow</a:t>
            </a:r>
          </a:p>
        </p:txBody>
      </p:sp>
      <p:sp>
        <p:nvSpPr>
          <p:cNvPr id="10" name="TextBox 9"/>
          <p:cNvSpPr txBox="1"/>
          <p:nvPr/>
        </p:nvSpPr>
        <p:spPr>
          <a:xfrm>
            <a:off x="1005840" y="2651760"/>
            <a:ext cx="9875520" cy="457200"/>
          </a:xfrm>
          <a:prstGeom prst="rect">
            <a:avLst/>
          </a:prstGeom>
          <a:noFill/>
        </p:spPr>
        <p:txBody>
          <a:bodyPr wrap="square">
            <a:spAutoFit/>
          </a:bodyPr>
          <a:lstStyle/>
          <a:p>
            <a:pPr algn="l">
              <a:defRPr sz="1100" b="0">
                <a:solidFill>
                  <a:srgbClr val="374151"/>
                </a:solidFill>
                <a:latin typeface="Calibri"/>
              </a:defRPr>
            </a:pPr>
            <a:r>
              <a:t>— The buy flow (Trade → Review → Confirm) follows financial industry best practices with a mandatory review step before execution. The "You'll receive ~X.XX ounce" calculation updates in real time, giving users immediate feedback.</a:t>
            </a:r>
          </a:p>
        </p:txBody>
      </p:sp>
      <p:sp>
        <p:nvSpPr>
          <p:cNvPr id="11" name="Rounded Rectangle 10"/>
          <p:cNvSpPr/>
          <p:nvPr/>
        </p:nvSpPr>
        <p:spPr>
          <a:xfrm>
            <a:off x="731520" y="329184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29184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383280"/>
            <a:ext cx="9875520" cy="274320"/>
          </a:xfrm>
          <a:prstGeom prst="rect">
            <a:avLst/>
          </a:prstGeom>
          <a:noFill/>
        </p:spPr>
        <p:txBody>
          <a:bodyPr wrap="square">
            <a:spAutoFit/>
          </a:bodyPr>
          <a:lstStyle/>
          <a:p>
            <a:pPr algn="l">
              <a:defRPr sz="1400" b="1">
                <a:solidFill>
                  <a:srgbClr val="166534"/>
                </a:solidFill>
                <a:latin typeface="Calibri"/>
              </a:defRPr>
            </a:pPr>
            <a:r>
              <a:t>Strong educational content</a:t>
            </a:r>
          </a:p>
        </p:txBody>
      </p:sp>
      <p:sp>
        <p:nvSpPr>
          <p:cNvPr id="14" name="TextBox 13"/>
          <p:cNvSpPr txBox="1"/>
          <p:nvPr/>
        </p:nvSpPr>
        <p:spPr>
          <a:xfrm>
            <a:off x="1005840" y="3703320"/>
            <a:ext cx="9875520" cy="457200"/>
          </a:xfrm>
          <a:prstGeom prst="rect">
            <a:avLst/>
          </a:prstGeom>
          <a:noFill/>
        </p:spPr>
        <p:txBody>
          <a:bodyPr wrap="square">
            <a:spAutoFit/>
          </a:bodyPr>
          <a:lstStyle/>
          <a:p>
            <a:pPr algn="l">
              <a:defRPr sz="1100" b="0">
                <a:solidFill>
                  <a:srgbClr val="374151"/>
                </a:solidFill>
                <a:latin typeface="Calibri"/>
              </a:defRPr>
            </a:pPr>
            <a:r>
              <a:t>— The Products page with "About Gold", "Why Invest in Gold?", and FAQ accordions is excellent for novice investors. Each metal has tailored educational content and clear CTAs.</a:t>
            </a:r>
          </a:p>
        </p:txBody>
      </p:sp>
      <p:sp>
        <p:nvSpPr>
          <p:cNvPr id="15" name="Rounded Rectangle 14"/>
          <p:cNvSpPr/>
          <p:nvPr/>
        </p:nvSpPr>
        <p:spPr>
          <a:xfrm>
            <a:off x="731520" y="434340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34340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434840"/>
            <a:ext cx="9875520" cy="274320"/>
          </a:xfrm>
          <a:prstGeom prst="rect">
            <a:avLst/>
          </a:prstGeom>
          <a:noFill/>
        </p:spPr>
        <p:txBody>
          <a:bodyPr wrap="square">
            <a:spAutoFit/>
          </a:bodyPr>
          <a:lstStyle/>
          <a:p>
            <a:pPr algn="l">
              <a:defRPr sz="1400" b="1">
                <a:solidFill>
                  <a:srgbClr val="166534"/>
                </a:solidFill>
                <a:latin typeface="Calibri"/>
              </a:defRPr>
            </a:pPr>
            <a:r>
              <a:t>Effective dashboard layout</a:t>
            </a:r>
          </a:p>
        </p:txBody>
      </p:sp>
      <p:sp>
        <p:nvSpPr>
          <p:cNvPr id="18" name="TextBox 17"/>
          <p:cNvSpPr txBox="1"/>
          <p:nvPr/>
        </p:nvSpPr>
        <p:spPr>
          <a:xfrm>
            <a:off x="1005840" y="4754880"/>
            <a:ext cx="9875520" cy="457200"/>
          </a:xfrm>
          <a:prstGeom prst="rect">
            <a:avLst/>
          </a:prstGeom>
          <a:noFill/>
        </p:spPr>
        <p:txBody>
          <a:bodyPr wrap="square">
            <a:spAutoFit/>
          </a:bodyPr>
          <a:lstStyle/>
          <a:p>
            <a:pPr algn="l">
              <a:defRPr sz="1100" b="0">
                <a:solidFill>
                  <a:srgbClr val="374151"/>
                </a:solidFill>
                <a:latin typeface="Calibri"/>
              </a:defRPr>
            </a:pPr>
            <a:r>
              <a:t>— The Market Overview → Portfolio Holdings → Recent Orders vertical flow creates a natural information hierarchy. The "Most Popular" badge on Gold guides novices, and the "Buy Your First Precious Metal" CTA in the empty holdings state is well-targeted.</a:t>
            </a:r>
          </a:p>
        </p:txBody>
      </p:sp>
      <p:sp>
        <p:nvSpPr>
          <p:cNvPr id="19" name="Rounded Rectangle 18"/>
          <p:cNvSpPr/>
          <p:nvPr/>
        </p:nvSpPr>
        <p:spPr>
          <a:xfrm>
            <a:off x="731520" y="539496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39496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86400"/>
            <a:ext cx="9875520" cy="274320"/>
          </a:xfrm>
          <a:prstGeom prst="rect">
            <a:avLst/>
          </a:prstGeom>
          <a:noFill/>
        </p:spPr>
        <p:txBody>
          <a:bodyPr wrap="square">
            <a:spAutoFit/>
          </a:bodyPr>
          <a:lstStyle/>
          <a:p>
            <a:pPr algn="l">
              <a:defRPr sz="1400" b="1">
                <a:solidFill>
                  <a:srgbClr val="166534"/>
                </a:solidFill>
                <a:latin typeface="Calibri"/>
              </a:defRPr>
            </a:pPr>
            <a:r>
              <a:t>Proper error recovery patterns</a:t>
            </a:r>
          </a:p>
        </p:txBody>
      </p:sp>
      <p:sp>
        <p:nvSpPr>
          <p:cNvPr id="22" name="TextBox 21"/>
          <p:cNvSpPr txBox="1"/>
          <p:nvPr/>
        </p:nvSpPr>
        <p:spPr>
          <a:xfrm>
            <a:off x="1005840" y="5806440"/>
            <a:ext cx="9875520" cy="457200"/>
          </a:xfrm>
          <a:prstGeom prst="rect">
            <a:avLst/>
          </a:prstGeom>
          <a:noFill/>
        </p:spPr>
        <p:txBody>
          <a:bodyPr wrap="square">
            <a:spAutoFit/>
          </a:bodyPr>
          <a:lstStyle/>
          <a:p>
            <a:pPr algn="l">
              <a:defRPr sz="1100" b="0">
                <a:solidFill>
                  <a:srgbClr val="374151"/>
                </a:solidFill>
                <a:latin typeface="Calibri"/>
              </a:defRPr>
            </a:pPr>
            <a:r>
              <a:t>— Order Review and Confirmation pages gracefully handle missing state by falling back to sessionStorage. The 404 page provides helpful navigation options instead of a dead end.</a:t>
            </a:r>
          </a:p>
        </p:txBody>
      </p:sp>
      <p:sp>
        <p:nvSpPr>
          <p:cNvPr id="23" name="Rounded Rectangle 22"/>
          <p:cNvSpPr/>
          <p:nvPr/>
        </p:nvSpPr>
        <p:spPr>
          <a:xfrm>
            <a:off x="731520" y="644652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644652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6537960"/>
            <a:ext cx="9875520" cy="274320"/>
          </a:xfrm>
          <a:prstGeom prst="rect">
            <a:avLst/>
          </a:prstGeom>
          <a:noFill/>
        </p:spPr>
        <p:txBody>
          <a:bodyPr wrap="square">
            <a:spAutoFit/>
          </a:bodyPr>
          <a:lstStyle/>
          <a:p>
            <a:pPr algn="l">
              <a:defRPr sz="1400" b="1">
                <a:solidFill>
                  <a:srgbClr val="166534"/>
                </a:solidFill>
                <a:latin typeface="Calibri"/>
              </a:defRPr>
            </a:pPr>
            <a:r>
              <a:t>Good baseline accessibility</a:t>
            </a:r>
          </a:p>
        </p:txBody>
      </p:sp>
      <p:sp>
        <p:nvSpPr>
          <p:cNvPr id="26" name="TextBox 25"/>
          <p:cNvSpPr txBox="1"/>
          <p:nvPr/>
        </p:nvSpPr>
        <p:spPr>
          <a:xfrm>
            <a:off x="1005840" y="6858000"/>
            <a:ext cx="9875520" cy="457200"/>
          </a:xfrm>
          <a:prstGeom prst="rect">
            <a:avLst/>
          </a:prstGeom>
          <a:noFill/>
        </p:spPr>
        <p:txBody>
          <a:bodyPr wrap="square">
            <a:spAutoFit/>
          </a:bodyPr>
          <a:lstStyle/>
          <a:p>
            <a:pPr algn="l">
              <a:defRPr sz="1100" b="0">
                <a:solidFill>
                  <a:srgbClr val="374151"/>
                </a:solidFill>
                <a:latin typeface="Calibri"/>
              </a:defRPr>
            </a:pPr>
            <a:r>
              <a:t>— Skip-nav link, semantic HTML, sr-only class, prefers-reduced-motion support, focus-visible rings, and forced-colors mode support demonstrate accessibility awareness in the foundation.</a:t>
            </a:r>
            <a:br/>
            <a:b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286000"/>
            <a:ext cx="10515600" cy="91440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3" name="TextBox 2"/>
          <p:cNvSpPr txBox="1"/>
          <p:nvPr/>
        </p:nvSpPr>
        <p:spPr>
          <a:xfrm>
            <a:off x="731520" y="3291840"/>
            <a:ext cx="10515600" cy="457200"/>
          </a:xfrm>
          <a:prstGeom prst="rect">
            <a:avLst/>
          </a:prstGeom>
          <a:noFill/>
        </p:spPr>
        <p:txBody>
          <a:bodyPr wrap="square">
            <a:spAutoFit/>
          </a:bodyPr>
          <a:lstStyle/>
          <a:p>
            <a:pPr algn="ctr">
              <a:defRPr sz="1400" b="0">
                <a:solidFill>
                  <a:srgbClr val="94A3B8"/>
                </a:solidFill>
                <a:latin typeface="Calibri"/>
              </a:defRPr>
            </a:pPr>
            <a:r>
              <a:t>Generated by UX Audit Skill  ·  2026-03-10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
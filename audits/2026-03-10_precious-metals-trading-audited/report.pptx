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l">
              <a:defRPr sz="3600" b="1">
                <a:solidFill>
                  <a:srgbClr val="FFFFFF"/>
                </a:solidFill>
                <a:latin typeface="Calibri"/>
              </a:defRPr>
            </a:pPr>
            <a:r>
              <a:t>UI/UX AUDIT REPORT: Precious Metals Trading App (Audited Version)</a:t>
            </a:r>
          </a:p>
        </p:txBody>
      </p:sp>
      <p:sp>
        <p:nvSpPr>
          <p:cNvPr id="3" name="TextBox 2"/>
          <p:cNvSpPr txBox="1"/>
          <p:nvPr/>
        </p:nvSpPr>
        <p:spPr>
          <a:xfrm>
            <a:off x="914400" y="2468880"/>
            <a:ext cx="10058400" cy="457200"/>
          </a:xfrm>
          <a:prstGeom prst="rect">
            <a:avLst/>
          </a:prstGeom>
          <a:noFill/>
        </p:spPr>
        <p:txBody>
          <a:bodyPr wrap="square">
            <a:spAutoFit/>
          </a:bodyPr>
          <a:lstStyle/>
          <a:p>
            <a:pPr algn="l">
              <a:defRPr sz="1800" b="0">
                <a:solidFill>
                  <a:srgbClr val="94A3B8"/>
                </a:solidFill>
                <a:latin typeface="Calibri"/>
              </a:defRPr>
            </a:pPr>
            <a:r>
              <a:t>Comprehensive UI/UX Audit Report</a:t>
            </a:r>
          </a:p>
        </p:txBody>
      </p:sp>
      <p:sp>
        <p:nvSpPr>
          <p:cNvPr id="4" name="TextBox 3"/>
          <p:cNvSpPr txBox="1"/>
          <p:nvPr/>
        </p:nvSpPr>
        <p:spPr>
          <a:xfrm>
            <a:off x="914400" y="3474720"/>
            <a:ext cx="1828800" cy="274320"/>
          </a:xfrm>
          <a:prstGeom prst="rect">
            <a:avLst/>
          </a:prstGeom>
          <a:noFill/>
        </p:spPr>
        <p:txBody>
          <a:bodyPr wrap="square">
            <a:spAutoFit/>
          </a:bodyPr>
          <a:lstStyle/>
          <a:p>
            <a:pPr algn="l">
              <a:defRPr sz="900" b="0">
                <a:solidFill>
                  <a:srgbClr val="64748B"/>
                </a:solidFill>
                <a:latin typeface="Calibri"/>
              </a:defRPr>
            </a:pPr>
            <a:r>
              <a:t>AUDIT DATE</a:t>
            </a:r>
          </a:p>
        </p:txBody>
      </p:sp>
      <p:sp>
        <p:nvSpPr>
          <p:cNvPr id="5" name="TextBox 4"/>
          <p:cNvSpPr txBox="1"/>
          <p:nvPr/>
        </p:nvSpPr>
        <p:spPr>
          <a:xfrm>
            <a:off x="914400" y="3703320"/>
            <a:ext cx="4572000" cy="274320"/>
          </a:xfrm>
          <a:prstGeom prst="rect">
            <a:avLst/>
          </a:prstGeom>
          <a:noFill/>
        </p:spPr>
        <p:txBody>
          <a:bodyPr wrap="square">
            <a:spAutoFit/>
          </a:bodyPr>
          <a:lstStyle/>
          <a:p>
            <a:pPr algn="l">
              <a:defRPr sz="1300" b="0">
                <a:solidFill>
                  <a:srgbClr val="FFFFFF"/>
                </a:solidFill>
                <a:latin typeface="Calibri"/>
              </a:defRPr>
            </a:pPr>
            <a:r>
              <a:t>2026-03-10</a:t>
            </a:r>
          </a:p>
        </p:txBody>
      </p:sp>
      <p:sp>
        <p:nvSpPr>
          <p:cNvPr id="6" name="TextBox 5"/>
          <p:cNvSpPr txBox="1"/>
          <p:nvPr/>
        </p:nvSpPr>
        <p:spPr>
          <a:xfrm>
            <a:off x="914400" y="4069080"/>
            <a:ext cx="1828800" cy="274320"/>
          </a:xfrm>
          <a:prstGeom prst="rect">
            <a:avLst/>
          </a:prstGeom>
          <a:noFill/>
        </p:spPr>
        <p:txBody>
          <a:bodyPr wrap="square">
            <a:spAutoFit/>
          </a:bodyPr>
          <a:lstStyle/>
          <a:p>
            <a:pPr algn="l">
              <a:defRPr sz="900" b="0">
                <a:solidFill>
                  <a:srgbClr val="64748B"/>
                </a:solidFill>
                <a:latin typeface="Calibri"/>
              </a:defRPr>
            </a:pPr>
            <a:r>
              <a:t>PLATFORM</a:t>
            </a:r>
          </a:p>
        </p:txBody>
      </p:sp>
      <p:sp>
        <p:nvSpPr>
          <p:cNvPr id="7" name="TextBox 6"/>
          <p:cNvSpPr txBox="1"/>
          <p:nvPr/>
        </p:nvSpPr>
        <p:spPr>
          <a:xfrm>
            <a:off x="914400" y="4297680"/>
            <a:ext cx="4572000" cy="274320"/>
          </a:xfrm>
          <a:prstGeom prst="rect">
            <a:avLst/>
          </a:prstGeom>
          <a:noFill/>
        </p:spPr>
        <p:txBody>
          <a:bodyPr wrap="square">
            <a:spAutoFit/>
          </a:bodyPr>
          <a:lstStyle/>
          <a:p>
            <a:pPr algn="l">
              <a:defRPr sz="1300" b="0">
                <a:solidFill>
                  <a:srgbClr val="FFFFFF"/>
                </a:solidFill>
                <a:latin typeface="Calibri"/>
              </a:defRPr>
            </a:pPr>
            <a:r>
              <a:t>Web desktop (1280x1080)</a:t>
            </a:r>
          </a:p>
        </p:txBody>
      </p:sp>
      <p:sp>
        <p:nvSpPr>
          <p:cNvPr id="8" name="TextBox 7"/>
          <p:cNvSpPr txBox="1"/>
          <p:nvPr/>
        </p:nvSpPr>
        <p:spPr>
          <a:xfrm>
            <a:off x="914400" y="4663440"/>
            <a:ext cx="1828800" cy="274320"/>
          </a:xfrm>
          <a:prstGeom prst="rect">
            <a:avLst/>
          </a:prstGeom>
          <a:noFill/>
        </p:spPr>
        <p:txBody>
          <a:bodyPr wrap="square">
            <a:spAutoFit/>
          </a:bodyPr>
          <a:lstStyle/>
          <a:p>
            <a:pPr algn="l">
              <a:defRPr sz="900" b="0">
                <a:solidFill>
                  <a:srgbClr val="64748B"/>
                </a:solidFill>
                <a:latin typeface="Calibri"/>
              </a:defRPr>
            </a:pPr>
            <a:r>
              <a:t>AUDITOR PERSONA</a:t>
            </a:r>
          </a:p>
        </p:txBody>
      </p:sp>
      <p:sp>
        <p:nvSpPr>
          <p:cNvPr id="9" name="TextBox 8"/>
          <p:cNvSpPr txBox="1"/>
          <p:nvPr/>
        </p:nvSpPr>
        <p:spPr>
          <a:xfrm>
            <a:off x="914400" y="4892040"/>
            <a:ext cx="4572000" cy="274320"/>
          </a:xfrm>
          <a:prstGeom prst="rect">
            <a:avLst/>
          </a:prstGeom>
          <a:noFill/>
        </p:spPr>
        <p:txBody>
          <a:bodyPr wrap="square">
            <a:spAutoFit/>
          </a:bodyPr>
          <a:lstStyle/>
          <a:p>
            <a:pPr algn="l">
              <a:defRPr sz="1300" b="0">
                <a:solidFill>
                  <a:srgbClr val="FFFFFF"/>
                </a:solidFill>
                <a:latin typeface="Calibri"/>
              </a:defRPr>
            </a:pPr>
            <a:r>
              <a:t>Novice investor, new to precious metals</a:t>
            </a:r>
          </a:p>
        </p:txBody>
      </p:sp>
      <p:sp>
        <p:nvSpPr>
          <p:cNvPr id="10" name="TextBox 9"/>
          <p:cNvSpPr txBox="1"/>
          <p:nvPr/>
        </p:nvSpPr>
        <p:spPr>
          <a:xfrm>
            <a:off x="914400" y="5257800"/>
            <a:ext cx="1828800" cy="274320"/>
          </a:xfrm>
          <a:prstGeom prst="rect">
            <a:avLst/>
          </a:prstGeom>
          <a:noFill/>
        </p:spPr>
        <p:txBody>
          <a:bodyPr wrap="square">
            <a:spAutoFit/>
          </a:bodyPr>
          <a:lstStyle/>
          <a:p>
            <a:pPr algn="l">
              <a:defRPr sz="900" b="0">
                <a:solidFill>
                  <a:srgbClr val="64748B"/>
                </a:solidFill>
                <a:latin typeface="Calibri"/>
              </a:defRPr>
            </a:pPr>
            <a:r>
              <a:t>URL</a:t>
            </a:r>
          </a:p>
        </p:txBody>
      </p:sp>
      <p:sp>
        <p:nvSpPr>
          <p:cNvPr id="11" name="TextBox 10"/>
          <p:cNvSpPr txBox="1"/>
          <p:nvPr/>
        </p:nvSpPr>
        <p:spPr>
          <a:xfrm>
            <a:off x="914400" y="5486400"/>
            <a:ext cx="4572000" cy="274320"/>
          </a:xfrm>
          <a:prstGeom prst="rect">
            <a:avLst/>
          </a:prstGeom>
          <a:noFill/>
        </p:spPr>
        <p:txBody>
          <a:bodyPr wrap="square">
            <a:spAutoFit/>
          </a:bodyPr>
          <a:lstStyle/>
          <a:p>
            <a:pPr algn="l">
              <a:defRPr sz="1300" b="0">
                <a:solidFill>
                  <a:srgbClr val="FFFFFF"/>
                </a:solidFill>
                <a:latin typeface="Calibri"/>
              </a:defRPr>
            </a:pPr>
            <a:r>
              <a:t>https://git-mocha-82857934.figma.site</a:t>
            </a:r>
          </a:p>
        </p:txBody>
      </p:sp>
      <p:sp>
        <p:nvSpPr>
          <p:cNvPr id="12" name="TextBox 11"/>
          <p:cNvSpPr txBox="1"/>
          <p:nvPr/>
        </p:nvSpPr>
        <p:spPr>
          <a:xfrm>
            <a:off x="8686800" y="2926080"/>
            <a:ext cx="2286000" cy="1371600"/>
          </a:xfrm>
          <a:prstGeom prst="rect">
            <a:avLst/>
          </a:prstGeom>
          <a:noFill/>
        </p:spPr>
        <p:txBody>
          <a:bodyPr wrap="square">
            <a:spAutoFit/>
          </a:bodyPr>
          <a:lstStyle/>
          <a:p>
            <a:pPr algn="ctr">
              <a:defRPr sz="7200" b="1">
                <a:solidFill>
                  <a:srgbClr val="EA580C"/>
                </a:solidFill>
                <a:latin typeface="Calibri"/>
              </a:defRPr>
            </a:pPr>
            <a:r>
              <a:t>7.8</a:t>
            </a:r>
          </a:p>
        </p:txBody>
      </p:sp>
      <p:sp>
        <p:nvSpPr>
          <p:cNvPr id="13" name="TextBox 12"/>
          <p:cNvSpPr txBox="1"/>
          <p:nvPr/>
        </p:nvSpPr>
        <p:spPr>
          <a:xfrm>
            <a:off x="8686800" y="4297680"/>
            <a:ext cx="2286000" cy="365760"/>
          </a:xfrm>
          <a:prstGeom prst="rect">
            <a:avLst/>
          </a:prstGeom>
          <a:noFill/>
        </p:spPr>
        <p:txBody>
          <a:bodyPr wrap="square">
            <a:spAutoFit/>
          </a:bodyPr>
          <a:lstStyle/>
          <a:p>
            <a:pPr algn="ctr">
              <a:defRPr sz="1200" b="0">
                <a:solidFill>
                  <a:srgbClr val="94A3B8"/>
                </a:solidFill>
                <a:latin typeface="Calibri"/>
              </a:defRPr>
            </a:pPr>
            <a:r>
              <a:t>UX Health Score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Executive Summary</a:t>
            </a:r>
          </a:p>
        </p:txBody>
      </p:sp>
      <p:sp>
        <p:nvSpPr>
          <p:cNvPr id="3" name="TextBox 2"/>
          <p:cNvSpPr txBox="1"/>
          <p:nvPr/>
        </p:nvSpPr>
        <p:spPr>
          <a:xfrm>
            <a:off x="731520" y="1097280"/>
            <a:ext cx="7315200" cy="2286000"/>
          </a:xfrm>
          <a:prstGeom prst="rect">
            <a:avLst/>
          </a:prstGeom>
          <a:noFill/>
        </p:spPr>
        <p:txBody>
          <a:bodyPr wrap="square">
            <a:spAutoFit/>
          </a:bodyPr>
          <a:lstStyle/>
          <a:p>
            <a:pPr algn="l">
              <a:defRPr sz="1300" b="0">
                <a:solidFill>
                  <a:srgbClr val="374151"/>
                </a:solidFill>
                <a:latin typeface="Calibri"/>
              </a:defRPr>
            </a:pPr>
            <a:r>
              <a:t>This is an significantly improved version of the Precious Metals Trading App. The team has addressed 14 of 21 original findings, including all 3 critical issues. The sell flow now correctly prevents zero-balance sells with an inline message, tooltips provide educational scaffolding for trading terminology (Bid, Ask, Spread, Order Type), the order review page includes a full cost breakdown with explicit fee disclosure, the "Amount to Invest" label is clear with a computed "You'll receive ~X.XX ounce" display, and the Gold card carries a "Most Popular" badge to guide beginners. The muted text contrast has been fixed, a skip-navigation link has been added, and `prefers-reduced-motion` is now supported. However, 4 original issues remain unfixed and several new issues have emerged from the improvements themselves. The most significant remaining gap is that interactive element heights are still 36px (below the WCAG 2.2 44px minimum), the green-600 colour used for positive price changes and buy states fails WCAG AA contrast, and ironically, the new tooltip trigger icons meant to educate novices are themselves too small and low-contrast to be discovered. The currency selector, while now showing conversion rates, still presents all 5 currencies upfront with potential for costly accidental switches.</a:t>
            </a:r>
          </a:p>
        </p:txBody>
      </p:sp>
      <p:sp>
        <p:nvSpPr>
          <p:cNvPr id="4" name="Rounded Rectangle 3"/>
          <p:cNvSpPr/>
          <p:nvPr/>
        </p:nvSpPr>
        <p:spPr>
          <a:xfrm>
            <a:off x="731520" y="4114800"/>
            <a:ext cx="2560320" cy="1645920"/>
          </a:xfrm>
          <a:prstGeom prst="roundRect">
            <a:avLst>
              <a:gd name="adj" fmla="val 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297680"/>
            <a:ext cx="1828800" cy="731520"/>
          </a:xfrm>
          <a:prstGeom prst="rect">
            <a:avLst/>
          </a:prstGeom>
          <a:noFill/>
        </p:spPr>
        <p:txBody>
          <a:bodyPr wrap="square">
            <a:spAutoFit/>
          </a:bodyPr>
          <a:lstStyle/>
          <a:p>
            <a:pPr algn="ctr">
              <a:defRPr sz="4200" b="1">
                <a:solidFill>
                  <a:srgbClr val="DC2626"/>
                </a:solidFill>
                <a:latin typeface="Calibri"/>
              </a:defRPr>
            </a:pPr>
            <a:r>
              <a:t>0</a:t>
            </a:r>
          </a:p>
        </p:txBody>
      </p:sp>
      <p:sp>
        <p:nvSpPr>
          <p:cNvPr id="6" name="TextBox 5"/>
          <p:cNvSpPr txBox="1"/>
          <p:nvPr/>
        </p:nvSpPr>
        <p:spPr>
          <a:xfrm>
            <a:off x="1005840" y="5120640"/>
            <a:ext cx="1828800" cy="365760"/>
          </a:xfrm>
          <a:prstGeom prst="rect">
            <a:avLst/>
          </a:prstGeom>
          <a:noFill/>
        </p:spPr>
        <p:txBody>
          <a:bodyPr wrap="square">
            <a:spAutoFit/>
          </a:bodyPr>
          <a:lstStyle/>
          <a:p>
            <a:pPr algn="ctr">
              <a:defRPr sz="1100" b="1">
                <a:solidFill>
                  <a:srgbClr val="DC2626"/>
                </a:solidFill>
                <a:latin typeface="Calibri"/>
              </a:defRPr>
            </a:pPr>
            <a:r>
              <a:t>CRITICAL</a:t>
            </a:r>
          </a:p>
        </p:txBody>
      </p:sp>
      <p:sp>
        <p:nvSpPr>
          <p:cNvPr id="7" name="Rounded Rectangle 6"/>
          <p:cNvSpPr/>
          <p:nvPr/>
        </p:nvSpPr>
        <p:spPr>
          <a:xfrm>
            <a:off x="3566160" y="4114800"/>
            <a:ext cx="2560320" cy="1645920"/>
          </a:xfrm>
          <a:prstGeom prst="roundRect">
            <a:avLst>
              <a:gd name="adj" fmla="val 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4297680"/>
            <a:ext cx="1828800" cy="731520"/>
          </a:xfrm>
          <a:prstGeom prst="rect">
            <a:avLst/>
          </a:prstGeom>
          <a:noFill/>
        </p:spPr>
        <p:txBody>
          <a:bodyPr wrap="square">
            <a:spAutoFit/>
          </a:bodyPr>
          <a:lstStyle/>
          <a:p>
            <a:pPr algn="ctr">
              <a:defRPr sz="4200" b="1">
                <a:solidFill>
                  <a:srgbClr val="EA580C"/>
                </a:solidFill>
                <a:latin typeface="Calibri"/>
              </a:defRPr>
            </a:pPr>
            <a:r>
              <a:t>4</a:t>
            </a:r>
          </a:p>
        </p:txBody>
      </p:sp>
      <p:sp>
        <p:nvSpPr>
          <p:cNvPr id="9" name="TextBox 8"/>
          <p:cNvSpPr txBox="1"/>
          <p:nvPr/>
        </p:nvSpPr>
        <p:spPr>
          <a:xfrm>
            <a:off x="3840480" y="5120640"/>
            <a:ext cx="1828800" cy="365760"/>
          </a:xfrm>
          <a:prstGeom prst="rect">
            <a:avLst/>
          </a:prstGeom>
          <a:noFill/>
        </p:spPr>
        <p:txBody>
          <a:bodyPr wrap="square">
            <a:spAutoFit/>
          </a:bodyPr>
          <a:lstStyle/>
          <a:p>
            <a:pPr algn="ctr">
              <a:defRPr sz="1100" b="1">
                <a:solidFill>
                  <a:srgbClr val="EA580C"/>
                </a:solidFill>
                <a:latin typeface="Calibri"/>
              </a:defRPr>
            </a:pPr>
            <a:r>
              <a:t>HIGH</a:t>
            </a:r>
          </a:p>
        </p:txBody>
      </p:sp>
      <p:sp>
        <p:nvSpPr>
          <p:cNvPr id="10" name="Rounded Rectangle 9"/>
          <p:cNvSpPr/>
          <p:nvPr/>
        </p:nvSpPr>
        <p:spPr>
          <a:xfrm>
            <a:off x="6400800" y="4114800"/>
            <a:ext cx="2560320" cy="1645920"/>
          </a:xfrm>
          <a:prstGeom prst="roundRect">
            <a:avLst>
              <a:gd name="adj" fmla="val 2000"/>
            </a:avLst>
          </a:prstGeom>
          <a:solidFill>
            <a:srgbClr val="FEFCE8"/>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4297680"/>
            <a:ext cx="1828800" cy="731520"/>
          </a:xfrm>
          <a:prstGeom prst="rect">
            <a:avLst/>
          </a:prstGeom>
          <a:noFill/>
        </p:spPr>
        <p:txBody>
          <a:bodyPr wrap="square">
            <a:spAutoFit/>
          </a:bodyPr>
          <a:lstStyle/>
          <a:p>
            <a:pPr algn="ctr">
              <a:defRPr sz="4200" b="1">
                <a:solidFill>
                  <a:srgbClr val="CA8A04"/>
                </a:solidFill>
                <a:latin typeface="Calibri"/>
              </a:defRPr>
            </a:pPr>
            <a:r>
              <a:t>6</a:t>
            </a:r>
          </a:p>
        </p:txBody>
      </p:sp>
      <p:sp>
        <p:nvSpPr>
          <p:cNvPr id="12" name="TextBox 11"/>
          <p:cNvSpPr txBox="1"/>
          <p:nvPr/>
        </p:nvSpPr>
        <p:spPr>
          <a:xfrm>
            <a:off x="6675120" y="5120640"/>
            <a:ext cx="1828800" cy="365760"/>
          </a:xfrm>
          <a:prstGeom prst="rect">
            <a:avLst/>
          </a:prstGeom>
          <a:noFill/>
        </p:spPr>
        <p:txBody>
          <a:bodyPr wrap="square">
            <a:spAutoFit/>
          </a:bodyPr>
          <a:lstStyle/>
          <a:p>
            <a:pPr algn="ctr">
              <a:defRPr sz="1100" b="1">
                <a:solidFill>
                  <a:srgbClr val="CA8A04"/>
                </a:solidFill>
                <a:latin typeface="Calibri"/>
              </a:defRPr>
            </a:pPr>
            <a:r>
              <a:t>MEDIUM</a:t>
            </a:r>
          </a:p>
        </p:txBody>
      </p:sp>
      <p:sp>
        <p:nvSpPr>
          <p:cNvPr id="13" name="Rounded Rectangle 12"/>
          <p:cNvSpPr/>
          <p:nvPr/>
        </p:nvSpPr>
        <p:spPr>
          <a:xfrm>
            <a:off x="9235440" y="4114800"/>
            <a:ext cx="2560320" cy="1645920"/>
          </a:xfrm>
          <a:prstGeom prst="roundRect">
            <a:avLst>
              <a:gd name="adj" fmla="val 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4297680"/>
            <a:ext cx="1828800" cy="731520"/>
          </a:xfrm>
          <a:prstGeom prst="rect">
            <a:avLst/>
          </a:prstGeom>
          <a:noFill/>
        </p:spPr>
        <p:txBody>
          <a:bodyPr wrap="square">
            <a:spAutoFit/>
          </a:bodyPr>
          <a:lstStyle/>
          <a:p>
            <a:pPr algn="ctr">
              <a:defRPr sz="4200" b="1">
                <a:solidFill>
                  <a:srgbClr val="16A34A"/>
                </a:solidFill>
                <a:latin typeface="Calibri"/>
              </a:defRPr>
            </a:pPr>
            <a:r>
              <a:t>5</a:t>
            </a:r>
          </a:p>
        </p:txBody>
      </p:sp>
      <p:sp>
        <p:nvSpPr>
          <p:cNvPr id="15" name="TextBox 14"/>
          <p:cNvSpPr txBox="1"/>
          <p:nvPr/>
        </p:nvSpPr>
        <p:spPr>
          <a:xfrm>
            <a:off x="9509760" y="5120640"/>
            <a:ext cx="1828800" cy="365760"/>
          </a:xfrm>
          <a:prstGeom prst="rect">
            <a:avLst/>
          </a:prstGeom>
          <a:noFill/>
        </p:spPr>
        <p:txBody>
          <a:bodyPr wrap="square">
            <a:spAutoFit/>
          </a:bodyPr>
          <a:lstStyle/>
          <a:p>
            <a:pPr algn="ctr">
              <a:defRPr sz="1100" b="1">
                <a:solidFill>
                  <a:srgbClr val="16A34A"/>
                </a:solidFill>
                <a:latin typeface="Calibri"/>
              </a:defRPr>
            </a:pPr>
            <a:r>
              <a:t>LOW</a:t>
            </a:r>
          </a:p>
        </p:txBody>
      </p:sp>
      <p:sp>
        <p:nvSpPr>
          <p:cNvPr id="16" name="TextBox 15"/>
          <p:cNvSpPr txBox="1"/>
          <p:nvPr/>
        </p:nvSpPr>
        <p:spPr>
          <a:xfrm>
            <a:off x="731520" y="6035040"/>
            <a:ext cx="10058400" cy="365760"/>
          </a:xfrm>
          <a:prstGeom prst="rect">
            <a:avLst/>
          </a:prstGeom>
          <a:noFill/>
        </p:spPr>
        <p:txBody>
          <a:bodyPr wrap="square">
            <a:spAutoFit/>
          </a:bodyPr>
          <a:lstStyle/>
          <a:p>
            <a:pPr algn="l">
              <a:defRPr sz="1400" b="1">
                <a:solidFill>
                  <a:srgbClr val="6B7280"/>
                </a:solidFill>
                <a:latin typeface="Calibri"/>
              </a:defRPr>
            </a:pPr>
            <a:r>
              <a:t>Total Findings: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(1/3)</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Global -- Interactive Elements</a:t>
            </a:r>
          </a:p>
        </p:txBody>
      </p:sp>
      <p:sp>
        <p:nvSpPr>
          <p:cNvPr id="12" name="Rounded Rectangle 11"/>
          <p:cNvSpPr/>
          <p:nvPr/>
        </p:nvSpPr>
        <p:spPr>
          <a:xfrm>
            <a:off x="3383280" y="1645920"/>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Button/input height still 36px (h-9) -- below WCAG 2.2 SC 2.5.8 minimum of 44px, no @media (pointer: coarse) override</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min-height: 44px for all interactive elements via @media (pointer: coarse) query</a:t>
            </a:r>
          </a:p>
        </p:txBody>
      </p:sp>
      <p:sp>
        <p:nvSpPr>
          <p:cNvPr id="15" name="Rectangle 14"/>
          <p:cNvSpPr/>
          <p:nvPr/>
        </p:nvSpPr>
        <p:spPr>
          <a:xfrm>
            <a:off x="731520" y="258775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Global -- Price Changes &amp; Buy State</a:t>
            </a:r>
          </a:p>
        </p:txBody>
      </p:sp>
      <p:sp>
        <p:nvSpPr>
          <p:cNvPr id="19" name="Rounded Rectangle 18"/>
          <p:cNvSpPr/>
          <p:nvPr/>
        </p:nvSpPr>
        <p:spPr>
          <a:xfrm>
            <a:off x="3383280" y="2724912"/>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green-600 text (#16a34a) on white background fails WCAG AA at 3.30:1 -- used for positive price changes, buy toggle, and status badges</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Switch to green-700 (#15803d) which passes at 4.79:1, or use green text on green-50 background only</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 Tooltip Triggers</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Tooltip trigger icons are gray-400 (#9ca3af) at 14px (w-3.5) -- 2.54:1 contrast fails WCAG AA and size is below WCAG 2.5.8 touch target</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Increase icon size to at least 20px (w-5), darken to gray-600 (#4b5563) for 7.23:1 contrast</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Currency selector still shows all 5 currencies upfront -- switching from SGD to JPY multiplies amounts ~111x with only a small info box warning</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Default to SGD, collapse currency behind 'Change currency' link, add confirmation dialog when switching currencies mid-form</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No guided first-trade walkthrough -- tooltips added but no dismissible onboarding banner or step-by-step tour for first-time users</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a dismissible 3-step first-visit banner: 1) Choose metal, 2) Set amount, 3) Review and confirm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(2/3)</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Global -- Footer</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No footer whatsoever -- no Help, Terms, Privacy, Contact, or regulatory disclosure links</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standard footer with: Help Centre, Terms of Service, Privacy Policy, Contact Us, MAS regulatory notice</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Order Confirmation</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No receipt download option on order confirmation -- order ID is now human-readable but no way to save proof of transaction</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'Download Receipt' button generating PDF with order details, timestamp, and reference number</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 Sell Flow</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Sell quantity validation error appears as auto-dismissing toast -- 'Cannot sell more than holdings' disappears after a few seconds</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Show persistent inline error below the amount field instead of an auto-dismissing toast for form validation errors</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 Limit Orders</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Limit price field has no guidance -- novice user has no reference for what constitutes a reasonable limit price relative to current market</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Show current bid/ask next to limit price input, add helper text: 'Current ask: $X. Set below to wait for a dip.'</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 Price Display</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Live price refreshes every 5 seconds with no visual indicator of update -- prices change silently, user may not notice stale vs fresh data</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subtle pulse/flash animation on price change, show 'Updated Xs ago' countdown near the timestamp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(3/3)</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Trade -- Debit Account</a:t>
            </a:r>
          </a:p>
        </p:txBody>
      </p:sp>
      <p:sp>
        <p:nvSpPr>
          <p:cNvPr id="12" name="Rounded Rectangle 11"/>
          <p:cNvSpPr/>
          <p:nvPr/>
        </p:nvSpPr>
        <p:spPr>
          <a:xfrm>
            <a:off x="3383280" y="1645920"/>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Account dropdown still shows full account numbers (501-100234-001) adding visual noise</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Simplify to 'Current Account -- S$50,000.00'. Show account numbers only in account settings.</a:t>
            </a:r>
          </a:p>
        </p:txBody>
      </p:sp>
      <p:sp>
        <p:nvSpPr>
          <p:cNvPr id="15" name="Rectangle 14"/>
          <p:cNvSpPr/>
          <p:nvPr/>
        </p:nvSpPr>
        <p:spPr>
          <a:xfrm>
            <a:off x="731520" y="2587752"/>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 Price Chart</a:t>
            </a:r>
          </a:p>
        </p:txBody>
      </p:sp>
      <p:sp>
        <p:nvSpPr>
          <p:cNvPr id="19" name="Rounded Rectangle 18"/>
          <p:cNvSpPr/>
          <p:nvPr/>
        </p:nvSpPr>
        <p:spPr>
          <a:xfrm>
            <a:off x="3383280" y="2724912"/>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Chart time interval buttons display abbreviations (1H, 1D, 1W) as primary labels -- tooltips help but novices may not hover</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Show full labels on desktop ('1 Hour', '1 Day') or at minimum on first visit</a:t>
            </a:r>
          </a:p>
        </p:txBody>
      </p:sp>
      <p:sp>
        <p:nvSpPr>
          <p:cNvPr id="22" name="Rectangle 21"/>
          <p:cNvSpPr/>
          <p:nvPr/>
        </p:nvSpPr>
        <p:spPr>
          <a:xfrm>
            <a:off x="731520" y="3666744"/>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Global</a:t>
            </a:r>
          </a:p>
        </p:txBody>
      </p:sp>
      <p:sp>
        <p:nvSpPr>
          <p:cNvPr id="26" name="Rounded Rectangle 25"/>
          <p:cNvSpPr/>
          <p:nvPr/>
        </p:nvSpPr>
        <p:spPr>
          <a:xfrm>
            <a:off x="3383280" y="3803904"/>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No responsive font scaling -- base font-size is fixed at 16px with no breakpoint adjustments for larger/smaller screens</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Use fluid typography: clamp(14px, 1vw + 0.5rem, 18px) for base, or add media query adjustments at sm/lg breakpoints</a:t>
            </a:r>
          </a:p>
        </p:txBody>
      </p:sp>
      <p:sp>
        <p:nvSpPr>
          <p:cNvPr id="29" name="Rectangle 28"/>
          <p:cNvSpPr/>
          <p:nvPr/>
        </p:nvSpPr>
        <p:spPr>
          <a:xfrm>
            <a:off x="731520" y="4745736"/>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Products Page</a:t>
            </a:r>
          </a:p>
        </p:txBody>
      </p:sp>
      <p:sp>
        <p:nvSpPr>
          <p:cNvPr id="33" name="Rounded Rectangle 32"/>
          <p:cNvSpPr/>
          <p:nvPr/>
        </p:nvSpPr>
        <p:spPr>
          <a:xfrm>
            <a:off x="3383280" y="4882896"/>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Compare All Metals table requires explicit toggle -- users must discover and click 'Compare All Metals' link, defaults to hidden</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Show comparison table by default on desktop, collapse to toggle on mobile only</a:t>
            </a:r>
          </a:p>
        </p:txBody>
      </p:sp>
      <p:sp>
        <p:nvSpPr>
          <p:cNvPr id="36" name="Rectangle 35"/>
          <p:cNvSpPr/>
          <p:nvPr/>
        </p:nvSpPr>
        <p:spPr>
          <a:xfrm>
            <a:off x="731520" y="5824728"/>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40" name="Rounded Rectangle 39"/>
          <p:cNvSpPr/>
          <p:nvPr/>
        </p:nvSpPr>
        <p:spPr>
          <a:xfrm>
            <a:off x="3383280" y="5961888"/>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Order form shows 'Minimum quantity: X ounce' at bottom of form -- easy to miss, only discovered after validation failure</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Move minimum quantity notice next to the 'You'll receive' display where quantity context is visible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Homepage</a:t>
            </a:r>
          </a:p>
        </p:txBody>
      </p:sp>
      <p:pic>
        <p:nvPicPr>
          <p:cNvPr id="3" name="Picture 2" descr="homepage-annotated.png"/>
          <p:cNvPicPr>
            <a:picLocks noChangeAspect="1"/>
          </p:cNvPicPr>
          <p:nvPr/>
        </p:nvPicPr>
        <p:blipFill>
          <a:blip r:embed="rId2"/>
          <a:stretch>
            <a:fillRect/>
          </a:stretch>
        </p:blipFill>
        <p:spPr>
          <a:xfrm>
            <a:off x="274320" y="914400"/>
            <a:ext cx="5067512"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Button/input height still 36px (h-9) -- below WCAG 2.2 SC 2.5.8 minimum of 44px, no @media (pointer: coarse) override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min-height: 44px for all interactive elements via @media (pointer: coarse) query</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 footer whatsoever -- no Help, Terms, Privacy, Contact, or regulatory disclosure links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standard footer with: Help Centre, Terms of Service, Privacy Policy, Contact Us, MAS regulatory notice</a:t>
            </a:r>
          </a:p>
        </p:txBody>
      </p:sp>
      <p:sp>
        <p:nvSpPr>
          <p:cNvPr id="11" name="Oval 10"/>
          <p:cNvSpPr/>
          <p:nvPr/>
        </p:nvSpPr>
        <p:spPr>
          <a:xfrm>
            <a:off x="7498079" y="269748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13</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16A34A"/>
                </a:solidFill>
                <a:latin typeface="Calibri"/>
              </a:defRPr>
            </a:pPr>
            <a:r>
              <a:t>[LOW] No responsive font scaling -- base font-size is fixed at 16px with no breakpoint adjustments for larger/smaller screens</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Use fluid typography: clamp(14px, 1vw + 0.5rem, 18px) for base, or add media query adjustments at sm/lg breakpoints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Orders</a:t>
            </a:r>
          </a:p>
        </p:txBody>
      </p:sp>
      <p:pic>
        <p:nvPicPr>
          <p:cNvPr id="3" name="Picture 2" descr="orders-annotated.png"/>
          <p:cNvPicPr>
            <a:picLocks noChangeAspect="1"/>
          </p:cNvPicPr>
          <p:nvPr/>
        </p:nvPicPr>
        <p:blipFill>
          <a:blip r:embed="rId2"/>
          <a:stretch>
            <a:fillRect/>
          </a:stretch>
        </p:blipFill>
        <p:spPr>
          <a:xfrm>
            <a:off x="274320" y="914400"/>
            <a:ext cx="6479177"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Button/input height still 36px (h-9) -- below WCAG 2.2 SC 2.5.8 minimum of 44px, no @media (pointer: coarse) override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min-height: 44px for all interactive elements via @media (pointer: coarse) query</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 footer whatsoever -- no Help, Terms, Privacy, Contact, or regulatory disclosure links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standard footer with: Help Centre, Terms of Service, Privacy Policy, Contact Us, MAS regulatory notice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Products</a:t>
            </a:r>
          </a:p>
        </p:txBody>
      </p:sp>
      <p:pic>
        <p:nvPicPr>
          <p:cNvPr id="3" name="Picture 2" descr="products-annotated.png"/>
          <p:cNvPicPr>
            <a:picLocks noChangeAspect="1"/>
          </p:cNvPicPr>
          <p:nvPr/>
        </p:nvPicPr>
        <p:blipFill>
          <a:blip r:embed="rId2"/>
          <a:stretch>
            <a:fillRect/>
          </a:stretch>
        </p:blipFill>
        <p:spPr>
          <a:xfrm>
            <a:off x="274320" y="914400"/>
            <a:ext cx="5607943"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14</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16A34A"/>
                </a:solidFill>
                <a:latin typeface="Calibri"/>
              </a:defRPr>
            </a:pPr>
            <a:r>
              <a:t>[LOW] Compare All Metals table requires explicit toggle -- users must discover and click 'Compare All Metals' link, defaults to hidden</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Show comparison table by default on desktop, collapse to toggle on mobile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Trade Xau</a:t>
            </a:r>
          </a:p>
        </p:txBody>
      </p:sp>
      <p:pic>
        <p:nvPicPr>
          <p:cNvPr id="3" name="Picture 2" descr="trade-xau-annotated.png"/>
          <p:cNvPicPr>
            <a:picLocks noChangeAspect="1"/>
          </p:cNvPicPr>
          <p:nvPr/>
        </p:nvPicPr>
        <p:blipFill>
          <a:blip r:embed="rId2"/>
          <a:stretch>
            <a:fillRect/>
          </a:stretch>
        </p:blipFill>
        <p:spPr>
          <a:xfrm>
            <a:off x="274320" y="914400"/>
            <a:ext cx="6479177"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green-600 text (#16a34a) on white background fails WCAG AA at 3.30:1 -- used for positive price changes, buy toggle, and status badges</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Switch to green-700 (#15803d) which passes at 4.79:1, or use green text on green-50 background only</a:t>
            </a:r>
          </a:p>
        </p:txBody>
      </p:sp>
      <p:sp>
        <p:nvSpPr>
          <p:cNvPr id="8" name="Oval 7"/>
          <p:cNvSpPr/>
          <p:nvPr/>
        </p:nvSpPr>
        <p:spPr>
          <a:xfrm>
            <a:off x="7498079" y="205740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3</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EA580C"/>
                </a:solidFill>
                <a:latin typeface="Calibri"/>
              </a:defRPr>
            </a:pPr>
            <a:r>
              <a:t>[HIGH] Tooltip trigger icons are gray-400 (#9ca3af) at 14px (w-3.5) -- 2.54:1 contrast fails WCAG AA and size is below WCAG 2.5.8 touch target</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Increase icon size to at least 20px (w-5), darken to gray-600 (#4b5563) for 7.23:1 contrast</a:t>
            </a:r>
          </a:p>
        </p:txBody>
      </p:sp>
      <p:sp>
        <p:nvSpPr>
          <p:cNvPr id="11" name="Oval 10"/>
          <p:cNvSpPr/>
          <p:nvPr/>
        </p:nvSpPr>
        <p:spPr>
          <a:xfrm>
            <a:off x="7498079" y="269748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4</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EA580C"/>
                </a:solidFill>
                <a:latin typeface="Calibri"/>
              </a:defRPr>
            </a:pPr>
            <a:r>
              <a:t>[HIGH] Currency selector still shows all 5 currencies upfront -- switching from SGD to JPY multiplies amounts ~111x with only a small info box warning</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Default to SGD, collapse currency behind 'Change currency' link, add confirmation dialog when switching currencies mid-form</a:t>
            </a:r>
          </a:p>
        </p:txBody>
      </p:sp>
      <p:sp>
        <p:nvSpPr>
          <p:cNvPr id="14" name="Oval 13"/>
          <p:cNvSpPr/>
          <p:nvPr/>
        </p:nvSpPr>
        <p:spPr>
          <a:xfrm>
            <a:off x="7498079" y="333756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EA580C"/>
                </a:solidFill>
                <a:latin typeface="Calibri"/>
              </a:defRPr>
            </a:pPr>
            <a:r>
              <a:t>[HIGH] Button/input height still 36px (h-9) -- below WCAG 2.2 SC 2.5.8 minimum of 44px, no @media (pointer: coarse) override</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Add min-height: 44px for all interactive elements via @media (pointer: coarse) query</a:t>
            </a:r>
          </a:p>
        </p:txBody>
      </p:sp>
      <p:sp>
        <p:nvSpPr>
          <p:cNvPr id="17" name="Oval 16"/>
          <p:cNvSpPr/>
          <p:nvPr/>
        </p:nvSpPr>
        <p:spPr>
          <a:xfrm>
            <a:off x="7498079" y="397764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5</a:t>
            </a:r>
          </a:p>
        </p:txBody>
      </p:sp>
      <p:sp>
        <p:nvSpPr>
          <p:cNvPr id="18" name="TextBox 17"/>
          <p:cNvSpPr txBox="1"/>
          <p:nvPr/>
        </p:nvSpPr>
        <p:spPr>
          <a:xfrm>
            <a:off x="7772399" y="3931920"/>
            <a:ext cx="4114800" cy="201168"/>
          </a:xfrm>
          <a:prstGeom prst="rect">
            <a:avLst/>
          </a:prstGeom>
          <a:noFill/>
        </p:spPr>
        <p:txBody>
          <a:bodyPr wrap="square">
            <a:spAutoFit/>
          </a:bodyPr>
          <a:lstStyle/>
          <a:p>
            <a:pPr algn="l">
              <a:defRPr sz="900" b="0">
                <a:solidFill>
                  <a:srgbClr val="CA8A04"/>
                </a:solidFill>
                <a:latin typeface="Calibri"/>
              </a:defRPr>
            </a:pPr>
            <a:r>
              <a:t>[MEDIUM] No guided first-trade walkthrough -- tooltips added but no dismissible onboarding banner or step-by-step tour for first-time users</a:t>
            </a:r>
          </a:p>
        </p:txBody>
      </p:sp>
      <p:sp>
        <p:nvSpPr>
          <p:cNvPr id="19" name="TextBox 18"/>
          <p:cNvSpPr txBox="1"/>
          <p:nvPr/>
        </p:nvSpPr>
        <p:spPr>
          <a:xfrm>
            <a:off x="7772399" y="4133088"/>
            <a:ext cx="4114800" cy="365760"/>
          </a:xfrm>
          <a:prstGeom prst="rect">
            <a:avLst/>
          </a:prstGeom>
          <a:noFill/>
        </p:spPr>
        <p:txBody>
          <a:bodyPr wrap="square">
            <a:spAutoFit/>
          </a:bodyPr>
          <a:lstStyle/>
          <a:p>
            <a:pPr algn="l">
              <a:defRPr sz="800" b="0">
                <a:solidFill>
                  <a:srgbClr val="6B7280"/>
                </a:solidFill>
                <a:latin typeface="Calibri"/>
              </a:defRPr>
            </a:pPr>
            <a:r>
              <a:t>→ Add a dismissible 3-step first-visit banner: 1) Choose metal, 2) Set amount, 3) Review and confirm</a:t>
            </a:r>
          </a:p>
        </p:txBody>
      </p:sp>
      <p:sp>
        <p:nvSpPr>
          <p:cNvPr id="20" name="Oval 19"/>
          <p:cNvSpPr/>
          <p:nvPr/>
        </p:nvSpPr>
        <p:spPr>
          <a:xfrm>
            <a:off x="7498079" y="46177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8</a:t>
            </a:r>
          </a:p>
        </p:txBody>
      </p:sp>
      <p:sp>
        <p:nvSpPr>
          <p:cNvPr id="21" name="TextBox 20"/>
          <p:cNvSpPr txBox="1"/>
          <p:nvPr/>
        </p:nvSpPr>
        <p:spPr>
          <a:xfrm>
            <a:off x="7772399" y="4572000"/>
            <a:ext cx="4114800" cy="201168"/>
          </a:xfrm>
          <a:prstGeom prst="rect">
            <a:avLst/>
          </a:prstGeom>
          <a:noFill/>
        </p:spPr>
        <p:txBody>
          <a:bodyPr wrap="square">
            <a:spAutoFit/>
          </a:bodyPr>
          <a:lstStyle/>
          <a:p>
            <a:pPr algn="l">
              <a:defRPr sz="900" b="0">
                <a:solidFill>
                  <a:srgbClr val="CA8A04"/>
                </a:solidFill>
                <a:latin typeface="Calibri"/>
              </a:defRPr>
            </a:pPr>
            <a:r>
              <a:t>[MEDIUM] Sell quantity validation error appears as auto-dismissing toast -- 'Cannot sell more than holdings' disappears after a few seconds</a:t>
            </a:r>
          </a:p>
        </p:txBody>
      </p:sp>
      <p:sp>
        <p:nvSpPr>
          <p:cNvPr id="22" name="TextBox 21"/>
          <p:cNvSpPr txBox="1"/>
          <p:nvPr/>
        </p:nvSpPr>
        <p:spPr>
          <a:xfrm>
            <a:off x="7772399" y="4773168"/>
            <a:ext cx="4114800" cy="365760"/>
          </a:xfrm>
          <a:prstGeom prst="rect">
            <a:avLst/>
          </a:prstGeom>
          <a:noFill/>
        </p:spPr>
        <p:txBody>
          <a:bodyPr wrap="square">
            <a:spAutoFit/>
          </a:bodyPr>
          <a:lstStyle/>
          <a:p>
            <a:pPr algn="l">
              <a:defRPr sz="800" b="0">
                <a:solidFill>
                  <a:srgbClr val="6B7280"/>
                </a:solidFill>
                <a:latin typeface="Calibri"/>
              </a:defRPr>
            </a:pPr>
            <a:r>
              <a:t>→ Show persistent inline error below the amount field instead of an auto-dismissing toast for form validation errors</a:t>
            </a:r>
          </a:p>
        </p:txBody>
      </p:sp>
      <p:sp>
        <p:nvSpPr>
          <p:cNvPr id="23" name="Oval 22"/>
          <p:cNvSpPr/>
          <p:nvPr/>
        </p:nvSpPr>
        <p:spPr>
          <a:xfrm>
            <a:off x="7498079" y="52578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9</a:t>
            </a:r>
          </a:p>
        </p:txBody>
      </p:sp>
      <p:sp>
        <p:nvSpPr>
          <p:cNvPr id="24" name="TextBox 23"/>
          <p:cNvSpPr txBox="1"/>
          <p:nvPr/>
        </p:nvSpPr>
        <p:spPr>
          <a:xfrm>
            <a:off x="7772399" y="5212080"/>
            <a:ext cx="4114800" cy="201168"/>
          </a:xfrm>
          <a:prstGeom prst="rect">
            <a:avLst/>
          </a:prstGeom>
          <a:noFill/>
        </p:spPr>
        <p:txBody>
          <a:bodyPr wrap="square">
            <a:spAutoFit/>
          </a:bodyPr>
          <a:lstStyle/>
          <a:p>
            <a:pPr algn="l">
              <a:defRPr sz="900" b="0">
                <a:solidFill>
                  <a:srgbClr val="CA8A04"/>
                </a:solidFill>
                <a:latin typeface="Calibri"/>
              </a:defRPr>
            </a:pPr>
            <a:r>
              <a:t>[MEDIUM] Limit price field has no guidance -- novice user has no reference for what constitutes a reasonable limit price relative to current market</a:t>
            </a:r>
          </a:p>
        </p:txBody>
      </p:sp>
      <p:sp>
        <p:nvSpPr>
          <p:cNvPr id="25" name="TextBox 24"/>
          <p:cNvSpPr txBox="1"/>
          <p:nvPr/>
        </p:nvSpPr>
        <p:spPr>
          <a:xfrm>
            <a:off x="7772399" y="5413248"/>
            <a:ext cx="4114800" cy="365760"/>
          </a:xfrm>
          <a:prstGeom prst="rect">
            <a:avLst/>
          </a:prstGeom>
          <a:noFill/>
        </p:spPr>
        <p:txBody>
          <a:bodyPr wrap="square">
            <a:spAutoFit/>
          </a:bodyPr>
          <a:lstStyle/>
          <a:p>
            <a:pPr algn="l">
              <a:defRPr sz="800" b="0">
                <a:solidFill>
                  <a:srgbClr val="6B7280"/>
                </a:solidFill>
                <a:latin typeface="Calibri"/>
              </a:defRPr>
            </a:pPr>
            <a:r>
              <a:t>→ Show current bid/ask next to limit price input, add helper text: 'Current ask: $X. Set below to wait for a dip.'</a:t>
            </a:r>
          </a:p>
        </p:txBody>
      </p:sp>
      <p:sp>
        <p:nvSpPr>
          <p:cNvPr id="26" name="Oval 25"/>
          <p:cNvSpPr/>
          <p:nvPr/>
        </p:nvSpPr>
        <p:spPr>
          <a:xfrm>
            <a:off x="7498079" y="58978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10</a:t>
            </a:r>
          </a:p>
        </p:txBody>
      </p:sp>
      <p:sp>
        <p:nvSpPr>
          <p:cNvPr id="27" name="TextBox 26"/>
          <p:cNvSpPr txBox="1"/>
          <p:nvPr/>
        </p:nvSpPr>
        <p:spPr>
          <a:xfrm>
            <a:off x="7772399" y="5852160"/>
            <a:ext cx="4114800" cy="201168"/>
          </a:xfrm>
          <a:prstGeom prst="rect">
            <a:avLst/>
          </a:prstGeom>
          <a:noFill/>
        </p:spPr>
        <p:txBody>
          <a:bodyPr wrap="square">
            <a:spAutoFit/>
          </a:bodyPr>
          <a:lstStyle/>
          <a:p>
            <a:pPr algn="l">
              <a:defRPr sz="900" b="0">
                <a:solidFill>
                  <a:srgbClr val="CA8A04"/>
                </a:solidFill>
                <a:latin typeface="Calibri"/>
              </a:defRPr>
            </a:pPr>
            <a:r>
              <a:t>[MEDIUM] Live price refreshes every 5 seconds with no visual indicator of update -- prices change silently, user may not notice stale vs fresh data</a:t>
            </a:r>
          </a:p>
        </p:txBody>
      </p:sp>
      <p:sp>
        <p:nvSpPr>
          <p:cNvPr id="28" name="TextBox 27"/>
          <p:cNvSpPr txBox="1"/>
          <p:nvPr/>
        </p:nvSpPr>
        <p:spPr>
          <a:xfrm>
            <a:off x="7772399" y="6053328"/>
            <a:ext cx="4114800" cy="365760"/>
          </a:xfrm>
          <a:prstGeom prst="rect">
            <a:avLst/>
          </a:prstGeom>
          <a:noFill/>
        </p:spPr>
        <p:txBody>
          <a:bodyPr wrap="square">
            <a:spAutoFit/>
          </a:bodyPr>
          <a:lstStyle/>
          <a:p>
            <a:pPr algn="l">
              <a:defRPr sz="800" b="0">
                <a:solidFill>
                  <a:srgbClr val="6B7280"/>
                </a:solidFill>
                <a:latin typeface="Calibri"/>
              </a:defRPr>
            </a:pPr>
            <a:r>
              <a:t>→ Add subtle pulse/flash animation on price change, show 'Updated Xs ago' countdown near the timestamp</a:t>
            </a:r>
          </a:p>
        </p:txBody>
      </p:sp>
      <p:sp>
        <p:nvSpPr>
          <p:cNvPr id="29" name="Oval 28"/>
          <p:cNvSpPr/>
          <p:nvPr/>
        </p:nvSpPr>
        <p:spPr>
          <a:xfrm>
            <a:off x="7498079" y="653796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11</a:t>
            </a:r>
          </a:p>
        </p:txBody>
      </p:sp>
      <p:sp>
        <p:nvSpPr>
          <p:cNvPr id="30" name="TextBox 29"/>
          <p:cNvSpPr txBox="1"/>
          <p:nvPr/>
        </p:nvSpPr>
        <p:spPr>
          <a:xfrm>
            <a:off x="7772399" y="6492240"/>
            <a:ext cx="4114800" cy="201168"/>
          </a:xfrm>
          <a:prstGeom prst="rect">
            <a:avLst/>
          </a:prstGeom>
          <a:noFill/>
        </p:spPr>
        <p:txBody>
          <a:bodyPr wrap="square">
            <a:spAutoFit/>
          </a:bodyPr>
          <a:lstStyle/>
          <a:p>
            <a:pPr algn="l">
              <a:defRPr sz="900" b="0">
                <a:solidFill>
                  <a:srgbClr val="16A34A"/>
                </a:solidFill>
                <a:latin typeface="Calibri"/>
              </a:defRPr>
            </a:pPr>
            <a:r>
              <a:t>[LOW] Account dropdown still shows full account numbers (501-100234-001) adding visual noise</a:t>
            </a:r>
          </a:p>
        </p:txBody>
      </p:sp>
      <p:sp>
        <p:nvSpPr>
          <p:cNvPr id="31" name="TextBox 30"/>
          <p:cNvSpPr txBox="1"/>
          <p:nvPr/>
        </p:nvSpPr>
        <p:spPr>
          <a:xfrm>
            <a:off x="7772399" y="6693408"/>
            <a:ext cx="4114800" cy="365760"/>
          </a:xfrm>
          <a:prstGeom prst="rect">
            <a:avLst/>
          </a:prstGeom>
          <a:noFill/>
        </p:spPr>
        <p:txBody>
          <a:bodyPr wrap="square">
            <a:spAutoFit/>
          </a:bodyPr>
          <a:lstStyle/>
          <a:p>
            <a:pPr algn="l">
              <a:defRPr sz="800" b="0">
                <a:solidFill>
                  <a:srgbClr val="6B7280"/>
                </a:solidFill>
                <a:latin typeface="Calibri"/>
              </a:defRPr>
            </a:pPr>
            <a:r>
              <a:t>→ Simplify to 'Current Account -- S$50,000.00'. Show account numbers only in account settings.</a:t>
            </a:r>
          </a:p>
        </p:txBody>
      </p:sp>
      <p:sp>
        <p:nvSpPr>
          <p:cNvPr id="32" name="Oval 31"/>
          <p:cNvSpPr/>
          <p:nvPr/>
        </p:nvSpPr>
        <p:spPr>
          <a:xfrm>
            <a:off x="7498079" y="717804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12</a:t>
            </a:r>
          </a:p>
        </p:txBody>
      </p:sp>
      <p:sp>
        <p:nvSpPr>
          <p:cNvPr id="33" name="TextBox 32"/>
          <p:cNvSpPr txBox="1"/>
          <p:nvPr/>
        </p:nvSpPr>
        <p:spPr>
          <a:xfrm>
            <a:off x="7772399" y="7132320"/>
            <a:ext cx="4114800" cy="201168"/>
          </a:xfrm>
          <a:prstGeom prst="rect">
            <a:avLst/>
          </a:prstGeom>
          <a:noFill/>
        </p:spPr>
        <p:txBody>
          <a:bodyPr wrap="square">
            <a:spAutoFit/>
          </a:bodyPr>
          <a:lstStyle/>
          <a:p>
            <a:pPr algn="l">
              <a:defRPr sz="900" b="0">
                <a:solidFill>
                  <a:srgbClr val="16A34A"/>
                </a:solidFill>
                <a:latin typeface="Calibri"/>
              </a:defRPr>
            </a:pPr>
            <a:r>
              <a:t>[LOW] Chart time interval buttons display abbreviations (1H, 1D, 1W) as primary labels -- tooltips help but novices may not hover</a:t>
            </a:r>
          </a:p>
        </p:txBody>
      </p:sp>
      <p:sp>
        <p:nvSpPr>
          <p:cNvPr id="34" name="TextBox 33"/>
          <p:cNvSpPr txBox="1"/>
          <p:nvPr/>
        </p:nvSpPr>
        <p:spPr>
          <a:xfrm>
            <a:off x="7772399" y="7333488"/>
            <a:ext cx="4114800" cy="365760"/>
          </a:xfrm>
          <a:prstGeom prst="rect">
            <a:avLst/>
          </a:prstGeom>
          <a:noFill/>
        </p:spPr>
        <p:txBody>
          <a:bodyPr wrap="square">
            <a:spAutoFit/>
          </a:bodyPr>
          <a:lstStyle/>
          <a:p>
            <a:pPr algn="l">
              <a:defRPr sz="800" b="0">
                <a:solidFill>
                  <a:srgbClr val="6B7280"/>
                </a:solidFill>
                <a:latin typeface="Calibri"/>
              </a:defRPr>
            </a:pPr>
            <a:r>
              <a:t>→ Show full labels on desktop ('1 Hour', '1 Day') or at minimum on first visit</a:t>
            </a:r>
          </a:p>
        </p:txBody>
      </p:sp>
      <p:sp>
        <p:nvSpPr>
          <p:cNvPr id="35" name="Oval 34"/>
          <p:cNvSpPr/>
          <p:nvPr/>
        </p:nvSpPr>
        <p:spPr>
          <a:xfrm>
            <a:off x="7498079" y="781812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15</a:t>
            </a:r>
          </a:p>
        </p:txBody>
      </p:sp>
      <p:sp>
        <p:nvSpPr>
          <p:cNvPr id="36" name="TextBox 35"/>
          <p:cNvSpPr txBox="1"/>
          <p:nvPr/>
        </p:nvSpPr>
        <p:spPr>
          <a:xfrm>
            <a:off x="7772399" y="7772400"/>
            <a:ext cx="4114800" cy="201168"/>
          </a:xfrm>
          <a:prstGeom prst="rect">
            <a:avLst/>
          </a:prstGeom>
          <a:noFill/>
        </p:spPr>
        <p:txBody>
          <a:bodyPr wrap="square">
            <a:spAutoFit/>
          </a:bodyPr>
          <a:lstStyle/>
          <a:p>
            <a:pPr algn="l">
              <a:defRPr sz="900" b="0">
                <a:solidFill>
                  <a:srgbClr val="16A34A"/>
                </a:solidFill>
                <a:latin typeface="Calibri"/>
              </a:defRPr>
            </a:pPr>
            <a:r>
              <a:t>[LOW] Order form shows 'Minimum quantity: X ounce' at bottom of form -- easy to miss, only discovered after validation failure</a:t>
            </a:r>
          </a:p>
        </p:txBody>
      </p:sp>
      <p:sp>
        <p:nvSpPr>
          <p:cNvPr id="37" name="TextBox 36"/>
          <p:cNvSpPr txBox="1"/>
          <p:nvPr/>
        </p:nvSpPr>
        <p:spPr>
          <a:xfrm>
            <a:off x="7772399" y="7973568"/>
            <a:ext cx="4114800" cy="365760"/>
          </a:xfrm>
          <a:prstGeom prst="rect">
            <a:avLst/>
          </a:prstGeom>
          <a:noFill/>
        </p:spPr>
        <p:txBody>
          <a:bodyPr wrap="square">
            <a:spAutoFit/>
          </a:bodyPr>
          <a:lstStyle/>
          <a:p>
            <a:pPr algn="l">
              <a:defRPr sz="800" b="0">
                <a:solidFill>
                  <a:srgbClr val="6B7280"/>
                </a:solidFill>
                <a:latin typeface="Calibri"/>
              </a:defRPr>
            </a:pPr>
            <a:r>
              <a:t>→ Move minimum quantity notice next to the 'You'll receive' display where quantity context is visible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Top 5 Priority Recommendations</a:t>
            </a:r>
          </a:p>
        </p:txBody>
      </p:sp>
      <p:sp>
        <p:nvSpPr>
          <p:cNvPr id="3" name="Rounded Rectangle 2"/>
          <p:cNvSpPr/>
          <p:nvPr/>
        </p:nvSpPr>
        <p:spPr>
          <a:xfrm>
            <a:off x="731520" y="1188720"/>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32588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5" name="TextBox 4"/>
          <p:cNvSpPr txBox="1"/>
          <p:nvPr/>
        </p:nvSpPr>
        <p:spPr>
          <a:xfrm>
            <a:off x="1463040" y="1280160"/>
            <a:ext cx="7315200" cy="320040"/>
          </a:xfrm>
          <a:prstGeom prst="rect">
            <a:avLst/>
          </a:prstGeom>
          <a:noFill/>
        </p:spPr>
        <p:txBody>
          <a:bodyPr wrap="square">
            <a:spAutoFit/>
          </a:bodyPr>
          <a:lstStyle/>
          <a:p>
            <a:pPr algn="l">
              <a:defRPr sz="1400" b="1">
                <a:solidFill>
                  <a:srgbClr val="1E40AF"/>
                </a:solidFill>
                <a:latin typeface="Calibri"/>
              </a:defRPr>
            </a:pPr>
            <a:r>
              <a:t>Fix WCAG 2.2 Touch Target Compliance</a:t>
            </a:r>
          </a:p>
        </p:txBody>
      </p:sp>
      <p:sp>
        <p:nvSpPr>
          <p:cNvPr id="6" name="TextBox 5"/>
          <p:cNvSpPr txBox="1"/>
          <p:nvPr/>
        </p:nvSpPr>
        <p:spPr>
          <a:xfrm>
            <a:off x="1463040" y="1600200"/>
            <a:ext cx="7772400" cy="457200"/>
          </a:xfrm>
          <a:prstGeom prst="rect">
            <a:avLst/>
          </a:prstGeom>
          <a:noFill/>
        </p:spPr>
        <p:txBody>
          <a:bodyPr wrap="square">
            <a:spAutoFit/>
          </a:bodyPr>
          <a:lstStyle/>
          <a:p>
            <a:pPr algn="l">
              <a:defRPr sz="1000" b="0">
                <a:solidFill>
                  <a:srgbClr val="374151"/>
                </a:solidFill>
                <a:latin typeface="Calibri"/>
              </a:defRPr>
            </a:pPr>
            <a:r>
              <a:t>What to fix: Interactive element heights (buttons, inputs, selects) are 36px, below the 44px minimum. | Why it matters: WCAG 2.2 SC 2.5.8 failure. Legal compliance risk for a financial product. Touch users on tablets/touchscreens will struggle. | How to fix it: Add `@media (pointer: coarse) { button, input, select, [role="button"] { min-height: 44px; } }`. Consider increasing default height to h-10 (40px) for all pointers.</a:t>
            </a:r>
          </a:p>
        </p:txBody>
      </p:sp>
      <p:sp>
        <p:nvSpPr>
          <p:cNvPr id="7" name="TextBox 6"/>
          <p:cNvSpPr txBox="1"/>
          <p:nvPr/>
        </p:nvSpPr>
        <p:spPr>
          <a:xfrm>
            <a:off x="9601200" y="1325880"/>
            <a:ext cx="1371600" cy="274320"/>
          </a:xfrm>
          <a:prstGeom prst="rect">
            <a:avLst/>
          </a:prstGeom>
          <a:noFill/>
        </p:spPr>
        <p:txBody>
          <a:bodyPr wrap="square">
            <a:spAutoFit/>
          </a:bodyPr>
          <a:lstStyle/>
          <a:p>
            <a:pPr algn="r">
              <a:defRPr sz="1000" b="1">
                <a:solidFill>
                  <a:srgbClr val="166534"/>
                </a:solidFill>
                <a:latin typeface="Calibri"/>
              </a:defRPr>
            </a:pPr>
            <a:r>
              <a:t>Quick Win</a:t>
            </a:r>
          </a:p>
        </p:txBody>
      </p:sp>
      <p:sp>
        <p:nvSpPr>
          <p:cNvPr id="8" name="Rounded Rectangle 7"/>
          <p:cNvSpPr/>
          <p:nvPr/>
        </p:nvSpPr>
        <p:spPr>
          <a:xfrm>
            <a:off x="731520" y="2212848"/>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350008"/>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10" name="TextBox 9"/>
          <p:cNvSpPr txBox="1"/>
          <p:nvPr/>
        </p:nvSpPr>
        <p:spPr>
          <a:xfrm>
            <a:off x="1463040" y="2304288"/>
            <a:ext cx="7315200" cy="320040"/>
          </a:xfrm>
          <a:prstGeom prst="rect">
            <a:avLst/>
          </a:prstGeom>
          <a:noFill/>
        </p:spPr>
        <p:txBody>
          <a:bodyPr wrap="square">
            <a:spAutoFit/>
          </a:bodyPr>
          <a:lstStyle/>
          <a:p>
            <a:pPr algn="l">
              <a:defRPr sz="1400" b="1">
                <a:solidFill>
                  <a:srgbClr val="1E40AF"/>
                </a:solidFill>
                <a:latin typeface="Calibri"/>
              </a:defRPr>
            </a:pPr>
            <a:r>
              <a:t>Fix Green Text Contrast for Price Changes</a:t>
            </a:r>
          </a:p>
        </p:txBody>
      </p:sp>
      <p:sp>
        <p:nvSpPr>
          <p:cNvPr id="11" name="TextBox 10"/>
          <p:cNvSpPr txBox="1"/>
          <p:nvPr/>
        </p:nvSpPr>
        <p:spPr>
          <a:xfrm>
            <a:off x="1463040" y="2624328"/>
            <a:ext cx="7772400" cy="457200"/>
          </a:xfrm>
          <a:prstGeom prst="rect">
            <a:avLst/>
          </a:prstGeom>
          <a:noFill/>
        </p:spPr>
        <p:txBody>
          <a:bodyPr wrap="square">
            <a:spAutoFit/>
          </a:bodyPr>
          <a:lstStyle/>
          <a:p>
            <a:pPr algn="l">
              <a:defRPr sz="1000" b="0">
                <a:solidFill>
                  <a:srgbClr val="374151"/>
                </a:solidFill>
                <a:latin typeface="Calibri"/>
              </a:defRPr>
            </a:pPr>
            <a:r>
              <a:t>What to fix: green-600 (#16a34a) on white background fails WCAG AA at 3.30:1. Used extensively for positive price movements and buy state. | Why it matters: Price direction (up/down) is critical information in a trading app. Low-vision users literally cannot distinguish positive from negative prices. | How to fix it: Replace green-600 with green-700 (#15803d) which passes at 4.79:1. Or always pair green text with green-50 background for 4.79:1.</a:t>
            </a:r>
          </a:p>
        </p:txBody>
      </p:sp>
      <p:sp>
        <p:nvSpPr>
          <p:cNvPr id="12" name="TextBox 11"/>
          <p:cNvSpPr txBox="1"/>
          <p:nvPr/>
        </p:nvSpPr>
        <p:spPr>
          <a:xfrm>
            <a:off x="9601200" y="2350008"/>
            <a:ext cx="1371600" cy="274320"/>
          </a:xfrm>
          <a:prstGeom prst="rect">
            <a:avLst/>
          </a:prstGeom>
          <a:noFill/>
        </p:spPr>
        <p:txBody>
          <a:bodyPr wrap="square">
            <a:spAutoFit/>
          </a:bodyPr>
          <a:lstStyle/>
          <a:p>
            <a:pPr algn="r">
              <a:defRPr sz="1000" b="1">
                <a:solidFill>
                  <a:srgbClr val="166534"/>
                </a:solidFill>
                <a:latin typeface="Calibri"/>
              </a:defRPr>
            </a:pPr>
            <a:r>
              <a:t>Quick Win</a:t>
            </a:r>
          </a:p>
        </p:txBody>
      </p:sp>
      <p:sp>
        <p:nvSpPr>
          <p:cNvPr id="13" name="Rounded Rectangle 12"/>
          <p:cNvSpPr/>
          <p:nvPr/>
        </p:nvSpPr>
        <p:spPr>
          <a:xfrm>
            <a:off x="731520" y="3236976"/>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374136"/>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5" name="TextBox 14"/>
          <p:cNvSpPr txBox="1"/>
          <p:nvPr/>
        </p:nvSpPr>
        <p:spPr>
          <a:xfrm>
            <a:off x="1463040" y="3328416"/>
            <a:ext cx="7315200" cy="320040"/>
          </a:xfrm>
          <a:prstGeom prst="rect">
            <a:avLst/>
          </a:prstGeom>
          <a:noFill/>
        </p:spPr>
        <p:txBody>
          <a:bodyPr wrap="square">
            <a:spAutoFit/>
          </a:bodyPr>
          <a:lstStyle/>
          <a:p>
            <a:pPr algn="l">
              <a:defRPr sz="1400" b="1">
                <a:solidFill>
                  <a:srgbClr val="1E40AF"/>
                </a:solidFill>
                <a:latin typeface="Calibri"/>
              </a:defRPr>
            </a:pPr>
            <a:r>
              <a:t>Make Tooltip Triggers Discoverable</a:t>
            </a:r>
          </a:p>
        </p:txBody>
      </p:sp>
      <p:sp>
        <p:nvSpPr>
          <p:cNvPr id="16" name="TextBox 15"/>
          <p:cNvSpPr txBox="1"/>
          <p:nvPr/>
        </p:nvSpPr>
        <p:spPr>
          <a:xfrm>
            <a:off x="1463040" y="3648456"/>
            <a:ext cx="7772400" cy="457200"/>
          </a:xfrm>
          <a:prstGeom prst="rect">
            <a:avLst/>
          </a:prstGeom>
          <a:noFill/>
        </p:spPr>
        <p:txBody>
          <a:bodyPr wrap="square">
            <a:spAutoFit/>
          </a:bodyPr>
          <a:lstStyle/>
          <a:p>
            <a:pPr algn="l">
              <a:defRPr sz="1000" b="0">
                <a:solidFill>
                  <a:srgbClr val="374151"/>
                </a:solidFill>
                <a:latin typeface="Calibri"/>
              </a:defRPr>
            </a:pPr>
            <a:r>
              <a:t>What to fix: The educational tooltip icons (ⓘ) are 14px with 2.54:1 contrast. They're the gateway to all novice-friendly content but nearly invisible. | Why it matters: The team invested in excellent tooltip content (Bid, Ask, Spread, Order Type explanations) but the entry point is hidden in plain sight. Novice users -- the exact target audience -- will never discover them. | How to fix it: (a) Increase to 20px (w-5 h-5). (b) Darken to gray-600. (c) On first visit, auto-open one tooltip to teach the pattern. (d) Consider using text labels "What's this?" instead of icon-only triggers.</a:t>
            </a:r>
          </a:p>
        </p:txBody>
      </p:sp>
      <p:sp>
        <p:nvSpPr>
          <p:cNvPr id="17" name="TextBox 16"/>
          <p:cNvSpPr txBox="1"/>
          <p:nvPr/>
        </p:nvSpPr>
        <p:spPr>
          <a:xfrm>
            <a:off x="9601200" y="3374136"/>
            <a:ext cx="1371600" cy="274320"/>
          </a:xfrm>
          <a:prstGeom prst="rect">
            <a:avLst/>
          </a:prstGeom>
          <a:noFill/>
        </p:spPr>
        <p:txBody>
          <a:bodyPr wrap="square">
            <a:spAutoFit/>
          </a:bodyPr>
          <a:lstStyle/>
          <a:p>
            <a:pPr algn="r">
              <a:defRPr sz="1000" b="1">
                <a:solidFill>
                  <a:srgbClr val="166534"/>
                </a:solidFill>
                <a:latin typeface="Calibri"/>
              </a:defRPr>
            </a:pPr>
            <a:r>
              <a:t>Quick Win</a:t>
            </a:r>
          </a:p>
        </p:txBody>
      </p:sp>
      <p:sp>
        <p:nvSpPr>
          <p:cNvPr id="18" name="Rounded Rectangle 17"/>
          <p:cNvSpPr/>
          <p:nvPr/>
        </p:nvSpPr>
        <p:spPr>
          <a:xfrm>
            <a:off x="731520" y="4261104"/>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4398264"/>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20" name="TextBox 19"/>
          <p:cNvSpPr txBox="1"/>
          <p:nvPr/>
        </p:nvSpPr>
        <p:spPr>
          <a:xfrm>
            <a:off x="1463040" y="4352544"/>
            <a:ext cx="7315200" cy="320040"/>
          </a:xfrm>
          <a:prstGeom prst="rect">
            <a:avLst/>
          </a:prstGeom>
          <a:noFill/>
        </p:spPr>
        <p:txBody>
          <a:bodyPr wrap="square">
            <a:spAutoFit/>
          </a:bodyPr>
          <a:lstStyle/>
          <a:p>
            <a:pPr algn="l">
              <a:defRPr sz="1400" b="1">
                <a:solidFill>
                  <a:srgbClr val="1E40AF"/>
                </a:solidFill>
                <a:latin typeface="Calibri"/>
              </a:defRPr>
            </a:pPr>
            <a:r>
              <a:t>Collapse Currency Selector with Confirmation</a:t>
            </a:r>
          </a:p>
        </p:txBody>
      </p:sp>
      <p:sp>
        <p:nvSpPr>
          <p:cNvPr id="21" name="TextBox 20"/>
          <p:cNvSpPr txBox="1"/>
          <p:nvPr/>
        </p:nvSpPr>
        <p:spPr>
          <a:xfrm>
            <a:off x="1463040" y="4672584"/>
            <a:ext cx="7772400" cy="457200"/>
          </a:xfrm>
          <a:prstGeom prst="rect">
            <a:avLst/>
          </a:prstGeom>
          <a:noFill/>
        </p:spPr>
        <p:txBody>
          <a:bodyPr wrap="square">
            <a:spAutoFit/>
          </a:bodyPr>
          <a:lstStyle/>
          <a:p>
            <a:pPr algn="l">
              <a:defRPr sz="1000" b="0">
                <a:solidFill>
                  <a:srgbClr val="374151"/>
                </a:solidFill>
                <a:latin typeface="Calibri"/>
              </a:defRPr>
            </a:pPr>
            <a:r>
              <a:t>What to fix: 5 currencies shown upfront in dropdown. Switching from SGD to JPY changes the entire form with a ~111x multiplier. | Why it matters: A novice investor in Singapore trading in SGD has no reason to see JPY/EUR/HKD options. Accidental switches cause confusion and potential financial mistakes. | How to fix it: (a) Default to SGD, show "Change currency" link. (b) When clicked, show currency options. (c) On selection, show a confirmation: "Switch to Japanese Yen? Your amount will be converted at 1 SGD = 111.11 JPY."</a:t>
            </a:r>
          </a:p>
        </p:txBody>
      </p:sp>
      <p:sp>
        <p:nvSpPr>
          <p:cNvPr id="22" name="TextBox 21"/>
          <p:cNvSpPr txBox="1"/>
          <p:nvPr/>
        </p:nvSpPr>
        <p:spPr>
          <a:xfrm>
            <a:off x="9601200" y="4398264"/>
            <a:ext cx="1371600" cy="274320"/>
          </a:xfrm>
          <a:prstGeom prst="rect">
            <a:avLst/>
          </a:prstGeom>
          <a:noFill/>
        </p:spPr>
        <p:txBody>
          <a:bodyPr wrap="square">
            <a:spAutoFit/>
          </a:bodyPr>
          <a:lstStyle/>
          <a:p>
            <a:pPr algn="r">
              <a:defRPr sz="1000" b="1">
                <a:solidFill>
                  <a:srgbClr val="92400E"/>
                </a:solidFill>
                <a:latin typeface="Calibri"/>
              </a:defRPr>
            </a:pPr>
            <a:r>
              <a:t>Medium Lift</a:t>
            </a:r>
          </a:p>
        </p:txBody>
      </p:sp>
      <p:sp>
        <p:nvSpPr>
          <p:cNvPr id="23" name="Rounded Rectangle 22"/>
          <p:cNvSpPr/>
          <p:nvPr/>
        </p:nvSpPr>
        <p:spPr>
          <a:xfrm>
            <a:off x="731520" y="5285232"/>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422392"/>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25" name="TextBox 24"/>
          <p:cNvSpPr txBox="1"/>
          <p:nvPr/>
        </p:nvSpPr>
        <p:spPr>
          <a:xfrm>
            <a:off x="1463040" y="5376672"/>
            <a:ext cx="7315200" cy="320040"/>
          </a:xfrm>
          <a:prstGeom prst="rect">
            <a:avLst/>
          </a:prstGeom>
          <a:noFill/>
        </p:spPr>
        <p:txBody>
          <a:bodyPr wrap="square">
            <a:spAutoFit/>
          </a:bodyPr>
          <a:lstStyle/>
          <a:p>
            <a:pPr algn="l">
              <a:defRPr sz="1400" b="1">
                <a:solidFill>
                  <a:srgbClr val="1E40AF"/>
                </a:solidFill>
                <a:latin typeface="Calibri"/>
              </a:defRPr>
            </a:pPr>
            <a:r>
              <a:t>Add Regulatory Footer and Receipt Downloads</a:t>
            </a:r>
          </a:p>
        </p:txBody>
      </p:sp>
      <p:sp>
        <p:nvSpPr>
          <p:cNvPr id="26" name="TextBox 25"/>
          <p:cNvSpPr txBox="1"/>
          <p:nvPr/>
        </p:nvSpPr>
        <p:spPr>
          <a:xfrm>
            <a:off x="1463040" y="5696712"/>
            <a:ext cx="7772400" cy="457200"/>
          </a:xfrm>
          <a:prstGeom prst="rect">
            <a:avLst/>
          </a:prstGeom>
          <a:noFill/>
        </p:spPr>
        <p:txBody>
          <a:bodyPr wrap="square">
            <a:spAutoFit/>
          </a:bodyPr>
          <a:lstStyle/>
          <a:p>
            <a:pPr algn="l">
              <a:defRPr sz="1000" b="0">
                <a:solidFill>
                  <a:srgbClr val="374151"/>
                </a:solidFill>
                <a:latin typeface="Calibri"/>
              </a:defRPr>
            </a:pPr>
            <a:r>
              <a:t>What to fix: No footer with regulatory links. No receipt download on order confirmation. | Why it matters: A financial trading product requires Terms, Privacy, and regulatory disclosure (MAS in Singapore). Users need transaction records for tax and disputes. | How to fix it: (a) Add footer: Help, Terms, Privacy, Contact, "Regulated by MAS" notice. (b) Add "Download Receipt" on confirmation page generating PDF.</a:t>
            </a:r>
          </a:p>
        </p:txBody>
      </p:sp>
      <p:sp>
        <p:nvSpPr>
          <p:cNvPr id="27" name="TextBox 26"/>
          <p:cNvSpPr txBox="1"/>
          <p:nvPr/>
        </p:nvSpPr>
        <p:spPr>
          <a:xfrm>
            <a:off x="9601200" y="5422392"/>
            <a:ext cx="1371600" cy="274320"/>
          </a:xfrm>
          <a:prstGeom prst="rect">
            <a:avLst/>
          </a:prstGeom>
          <a:noFill/>
        </p:spPr>
        <p:txBody>
          <a:bodyPr wrap="square">
            <a:spAutoFit/>
          </a:bodyPr>
          <a:lstStyle/>
          <a:p>
            <a:pPr algn="r">
              <a:defRPr sz="1000" b="1">
                <a:solidFill>
                  <a:srgbClr val="92400E"/>
                </a:solidFill>
                <a:latin typeface="Calibri"/>
              </a:defRPr>
            </a:pPr>
            <a:r>
              <a:t>Medium Lift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Accessibility Summary</a:t>
            </a:r>
          </a:p>
        </p:txBody>
      </p:sp>
      <p:sp>
        <p:nvSpPr>
          <p:cNvPr id="3" name="TextBox 2"/>
          <p:cNvSpPr txBox="1"/>
          <p:nvPr/>
        </p:nvSpPr>
        <p:spPr>
          <a:xfrm>
            <a:off x="731520" y="1188720"/>
            <a:ext cx="3200400" cy="320040"/>
          </a:xfrm>
          <a:prstGeom prst="rect">
            <a:avLst/>
          </a:prstGeom>
          <a:noFill/>
        </p:spPr>
        <p:txBody>
          <a:bodyPr wrap="square">
            <a:spAutoFit/>
          </a:bodyPr>
          <a:lstStyle/>
          <a:p>
            <a:pPr algn="l">
              <a:defRPr sz="900" b="1">
                <a:solidFill>
                  <a:srgbClr val="6B7280"/>
                </a:solidFill>
                <a:latin typeface="Calibri"/>
              </a:defRPr>
            </a:pPr>
            <a:r>
              <a:t>WCAG Criterion</a:t>
            </a:r>
          </a:p>
        </p:txBody>
      </p:sp>
      <p:sp>
        <p:nvSpPr>
          <p:cNvPr id="4" name="TextBox 3"/>
          <p:cNvSpPr txBox="1"/>
          <p:nvPr/>
        </p:nvSpPr>
        <p:spPr>
          <a:xfrm>
            <a:off x="3931920" y="1188720"/>
            <a:ext cx="731520" cy="320040"/>
          </a:xfrm>
          <a:prstGeom prst="rect">
            <a:avLst/>
          </a:prstGeom>
          <a:noFill/>
        </p:spPr>
        <p:txBody>
          <a:bodyPr wrap="square">
            <a:spAutoFit/>
          </a:bodyPr>
          <a:lstStyle/>
          <a:p>
            <a:pPr algn="l">
              <a:defRPr sz="900" b="1">
                <a:solidFill>
                  <a:srgbClr val="6B7280"/>
                </a:solidFill>
                <a:latin typeface="Calibri"/>
              </a:defRPr>
            </a:pPr>
            <a:r>
              <a:t>Level</a:t>
            </a:r>
          </a:p>
        </p:txBody>
      </p:sp>
      <p:sp>
        <p:nvSpPr>
          <p:cNvPr id="5" name="TextBox 4"/>
          <p:cNvSpPr txBox="1"/>
          <p:nvPr/>
        </p:nvSpPr>
        <p:spPr>
          <a:xfrm>
            <a:off x="4663440" y="1188720"/>
            <a:ext cx="1097280" cy="320040"/>
          </a:xfrm>
          <a:prstGeom prst="rect">
            <a:avLst/>
          </a:prstGeom>
          <a:noFill/>
        </p:spPr>
        <p:txBody>
          <a:bodyPr wrap="square">
            <a:spAutoFit/>
          </a:bodyPr>
          <a:lstStyle/>
          <a:p>
            <a:pPr algn="l">
              <a:defRPr sz="900" b="1">
                <a:solidFill>
                  <a:srgbClr val="6B7280"/>
                </a:solidFill>
                <a:latin typeface="Calibri"/>
              </a:defRPr>
            </a:pPr>
            <a:r>
              <a:t>Status</a:t>
            </a:r>
          </a:p>
        </p:txBody>
      </p:sp>
      <p:sp>
        <p:nvSpPr>
          <p:cNvPr id="6" name="TextBox 5"/>
          <p:cNvSpPr txBox="1"/>
          <p:nvPr/>
        </p:nvSpPr>
        <p:spPr>
          <a:xfrm>
            <a:off x="5760720" y="1188720"/>
            <a:ext cx="5943600" cy="320040"/>
          </a:xfrm>
          <a:prstGeom prst="rect">
            <a:avLst/>
          </a:prstGeom>
          <a:noFill/>
        </p:spPr>
        <p:txBody>
          <a:bodyPr wrap="square">
            <a:spAutoFit/>
          </a:bodyPr>
          <a:lstStyle/>
          <a:p>
            <a:pPr algn="l">
              <a:defRPr sz="900" b="1">
                <a:solidFill>
                  <a:srgbClr val="6B7280"/>
                </a:solidFill>
                <a:latin typeface="Calibri"/>
              </a:defRPr>
            </a:pPr>
            <a:r>
              <a:t>Details</a:t>
            </a:r>
          </a:p>
        </p:txBody>
      </p:sp>
      <p:sp>
        <p:nvSpPr>
          <p:cNvPr id="7" name="TextBox 6"/>
          <p:cNvSpPr txBox="1"/>
          <p:nvPr/>
        </p:nvSpPr>
        <p:spPr>
          <a:xfrm>
            <a:off x="731520" y="1600200"/>
            <a:ext cx="3200400" cy="457200"/>
          </a:xfrm>
          <a:prstGeom prst="rect">
            <a:avLst/>
          </a:prstGeom>
          <a:noFill/>
        </p:spPr>
        <p:txBody>
          <a:bodyPr wrap="square">
            <a:spAutoFit/>
          </a:bodyPr>
          <a:lstStyle/>
          <a:p>
            <a:pPr algn="l">
              <a:defRPr sz="1000" b="0">
                <a:solidFill>
                  <a:srgbClr val="1A1A2E"/>
                </a:solidFill>
                <a:latin typeface="Calibri"/>
              </a:defRPr>
            </a:pPr>
            <a:r>
              <a:t>| 1.4.3 Contrast (Minimum)</a:t>
            </a:r>
          </a:p>
        </p:txBody>
      </p:sp>
      <p:sp>
        <p:nvSpPr>
          <p:cNvPr id="8" name="TextBox 7"/>
          <p:cNvSpPr txBox="1"/>
          <p:nvPr/>
        </p:nvSpPr>
        <p:spPr>
          <a:xfrm>
            <a:off x="3931920" y="160020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9" name="Rounded Rectangle 8"/>
          <p:cNvSpPr/>
          <p:nvPr/>
        </p:nvSpPr>
        <p:spPr>
          <a:xfrm>
            <a:off x="4663440" y="1618488"/>
            <a:ext cx="822960" cy="228600"/>
          </a:xfrm>
          <a:prstGeom prst="roundRect">
            <a:avLst>
              <a:gd name="adj" fmla="val 2000"/>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PARTIAL FAIL</a:t>
            </a:r>
          </a:p>
        </p:txBody>
      </p:sp>
      <p:sp>
        <p:nvSpPr>
          <p:cNvPr id="10" name="TextBox 9"/>
          <p:cNvSpPr txBox="1"/>
          <p:nvPr/>
        </p:nvSpPr>
        <p:spPr>
          <a:xfrm>
            <a:off x="5760720" y="1600200"/>
            <a:ext cx="5943600" cy="457200"/>
          </a:xfrm>
          <a:prstGeom prst="rect">
            <a:avLst/>
          </a:prstGeom>
          <a:noFill/>
        </p:spPr>
        <p:txBody>
          <a:bodyPr wrap="square">
            <a:spAutoFit/>
          </a:bodyPr>
          <a:lstStyle/>
          <a:p>
            <a:pPr algn="l">
              <a:defRPr sz="900" b="0">
                <a:solidFill>
                  <a:srgbClr val="374151"/>
                </a:solidFill>
                <a:latin typeface="Calibri"/>
              </a:defRPr>
            </a:pPr>
            <a:r>
              <a:t>green-600 on white: 3.30:1, gray-400 icons on white: 2.54:1. Muted-foreground now PASSES at 6.76:1.</a:t>
            </a:r>
          </a:p>
        </p:txBody>
      </p:sp>
      <p:sp>
        <p:nvSpPr>
          <p:cNvPr id="11" name="TextBox 10"/>
          <p:cNvSpPr txBox="1"/>
          <p:nvPr/>
        </p:nvSpPr>
        <p:spPr>
          <a:xfrm>
            <a:off x="731520" y="2103120"/>
            <a:ext cx="3200400" cy="457200"/>
          </a:xfrm>
          <a:prstGeom prst="rect">
            <a:avLst/>
          </a:prstGeom>
          <a:noFill/>
        </p:spPr>
        <p:txBody>
          <a:bodyPr wrap="square">
            <a:spAutoFit/>
          </a:bodyPr>
          <a:lstStyle/>
          <a:p>
            <a:pPr algn="l">
              <a:defRPr sz="1000" b="0">
                <a:solidFill>
                  <a:srgbClr val="1A1A2E"/>
                </a:solidFill>
                <a:latin typeface="Calibri"/>
              </a:defRPr>
            </a:pPr>
            <a:r>
              <a:t>2.3.3 Animation from Interactions</a:t>
            </a:r>
          </a:p>
        </p:txBody>
      </p:sp>
      <p:sp>
        <p:nvSpPr>
          <p:cNvPr id="12" name="TextBox 11"/>
          <p:cNvSpPr txBox="1"/>
          <p:nvPr/>
        </p:nvSpPr>
        <p:spPr>
          <a:xfrm>
            <a:off x="3931920" y="2103120"/>
            <a:ext cx="731520" cy="274320"/>
          </a:xfrm>
          <a:prstGeom prst="rect">
            <a:avLst/>
          </a:prstGeom>
          <a:noFill/>
        </p:spPr>
        <p:txBody>
          <a:bodyPr wrap="square">
            <a:spAutoFit/>
          </a:bodyPr>
          <a:lstStyle/>
          <a:p>
            <a:pPr algn="l">
              <a:defRPr sz="1000" b="0">
                <a:solidFill>
                  <a:srgbClr val="374151"/>
                </a:solidFill>
                <a:latin typeface="Calibri"/>
              </a:defRPr>
            </a:pPr>
            <a:r>
              <a:t>AAA</a:t>
            </a:r>
          </a:p>
        </p:txBody>
      </p:sp>
      <p:sp>
        <p:nvSpPr>
          <p:cNvPr id="13" name="Rounded Rectangle 12"/>
          <p:cNvSpPr/>
          <p:nvPr/>
        </p:nvSpPr>
        <p:spPr>
          <a:xfrm>
            <a:off x="4663440" y="212140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14" name="TextBox 13"/>
          <p:cNvSpPr txBox="1"/>
          <p:nvPr/>
        </p:nvSpPr>
        <p:spPr>
          <a:xfrm>
            <a:off x="5760720" y="2103120"/>
            <a:ext cx="5943600" cy="457200"/>
          </a:xfrm>
          <a:prstGeom prst="rect">
            <a:avLst/>
          </a:prstGeom>
          <a:noFill/>
        </p:spPr>
        <p:txBody>
          <a:bodyPr wrap="square">
            <a:spAutoFit/>
          </a:bodyPr>
          <a:lstStyle/>
          <a:p>
            <a:pPr algn="l">
              <a:defRPr sz="900" b="0">
                <a:solidFill>
                  <a:srgbClr val="374151"/>
                </a:solidFill>
                <a:latin typeface="Calibri"/>
              </a:defRPr>
            </a:pPr>
            <a:r>
              <a:t>`prefers-reduced-motion: reduce` now implemented</a:t>
            </a:r>
          </a:p>
        </p:txBody>
      </p:sp>
      <p:sp>
        <p:nvSpPr>
          <p:cNvPr id="15" name="TextBox 14"/>
          <p:cNvSpPr txBox="1"/>
          <p:nvPr/>
        </p:nvSpPr>
        <p:spPr>
          <a:xfrm>
            <a:off x="731520" y="2606040"/>
            <a:ext cx="3200400" cy="457200"/>
          </a:xfrm>
          <a:prstGeom prst="rect">
            <a:avLst/>
          </a:prstGeom>
          <a:noFill/>
        </p:spPr>
        <p:txBody>
          <a:bodyPr wrap="square">
            <a:spAutoFit/>
          </a:bodyPr>
          <a:lstStyle/>
          <a:p>
            <a:pPr algn="l">
              <a:defRPr sz="1000" b="0">
                <a:solidFill>
                  <a:srgbClr val="1A1A2E"/>
                </a:solidFill>
                <a:latin typeface="Calibri"/>
              </a:defRPr>
            </a:pPr>
            <a:r>
              <a:t>2.5.8 Target Size (Minimum)</a:t>
            </a:r>
          </a:p>
        </p:txBody>
      </p:sp>
      <p:sp>
        <p:nvSpPr>
          <p:cNvPr id="16" name="TextBox 15"/>
          <p:cNvSpPr txBox="1"/>
          <p:nvPr/>
        </p:nvSpPr>
        <p:spPr>
          <a:xfrm>
            <a:off x="3931920" y="260604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17" name="Rounded Rectangle 16"/>
          <p:cNvSpPr/>
          <p:nvPr/>
        </p:nvSpPr>
        <p:spPr>
          <a:xfrm>
            <a:off x="4663440" y="2624328"/>
            <a:ext cx="822960" cy="228600"/>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FAIL</a:t>
            </a:r>
          </a:p>
        </p:txBody>
      </p:sp>
      <p:sp>
        <p:nvSpPr>
          <p:cNvPr id="18" name="TextBox 17"/>
          <p:cNvSpPr txBox="1"/>
          <p:nvPr/>
        </p:nvSpPr>
        <p:spPr>
          <a:xfrm>
            <a:off x="5760720" y="2606040"/>
            <a:ext cx="5943600" cy="457200"/>
          </a:xfrm>
          <a:prstGeom prst="rect">
            <a:avLst/>
          </a:prstGeom>
          <a:noFill/>
        </p:spPr>
        <p:txBody>
          <a:bodyPr wrap="square">
            <a:spAutoFit/>
          </a:bodyPr>
          <a:lstStyle/>
          <a:p>
            <a:pPr algn="l">
              <a:defRPr sz="900" b="0">
                <a:solidFill>
                  <a:srgbClr val="374151"/>
                </a:solidFill>
                <a:latin typeface="Calibri"/>
              </a:defRPr>
            </a:pPr>
            <a:r>
              <a:t>Default button height h-9 = 36px, below 44px minimum. No coarse pointer override.</a:t>
            </a:r>
          </a:p>
        </p:txBody>
      </p:sp>
      <p:sp>
        <p:nvSpPr>
          <p:cNvPr id="19" name="TextBox 18"/>
          <p:cNvSpPr txBox="1"/>
          <p:nvPr/>
        </p:nvSpPr>
        <p:spPr>
          <a:xfrm>
            <a:off x="731520" y="3108960"/>
            <a:ext cx="3200400" cy="457200"/>
          </a:xfrm>
          <a:prstGeom prst="rect">
            <a:avLst/>
          </a:prstGeom>
          <a:noFill/>
        </p:spPr>
        <p:txBody>
          <a:bodyPr wrap="square">
            <a:spAutoFit/>
          </a:bodyPr>
          <a:lstStyle/>
          <a:p>
            <a:pPr algn="l">
              <a:defRPr sz="1000" b="0">
                <a:solidFill>
                  <a:srgbClr val="1A1A2E"/>
                </a:solidFill>
                <a:latin typeface="Calibri"/>
              </a:defRPr>
            </a:pPr>
            <a:r>
              <a:t>2.4.1 Bypass Blocks</a:t>
            </a:r>
          </a:p>
        </p:txBody>
      </p:sp>
      <p:sp>
        <p:nvSpPr>
          <p:cNvPr id="20" name="TextBox 19"/>
          <p:cNvSpPr txBox="1"/>
          <p:nvPr/>
        </p:nvSpPr>
        <p:spPr>
          <a:xfrm>
            <a:off x="3931920" y="310896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21" name="Rounded Rectangle 20"/>
          <p:cNvSpPr/>
          <p:nvPr/>
        </p:nvSpPr>
        <p:spPr>
          <a:xfrm>
            <a:off x="4663440" y="312724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22" name="TextBox 21"/>
          <p:cNvSpPr txBox="1"/>
          <p:nvPr/>
        </p:nvSpPr>
        <p:spPr>
          <a:xfrm>
            <a:off x="5760720" y="3108960"/>
            <a:ext cx="5943600" cy="457200"/>
          </a:xfrm>
          <a:prstGeom prst="rect">
            <a:avLst/>
          </a:prstGeom>
          <a:noFill/>
        </p:spPr>
        <p:txBody>
          <a:bodyPr wrap="square">
            <a:spAutoFit/>
          </a:bodyPr>
          <a:lstStyle/>
          <a:p>
            <a:pPr algn="l">
              <a:defRPr sz="900" b="0">
                <a:solidFill>
                  <a:srgbClr val="374151"/>
                </a:solidFill>
                <a:latin typeface="Calibri"/>
              </a:defRPr>
            </a:pPr>
            <a:r>
              <a:t>Skip-navigation link "Skip to main content" implemented with focus styling</a:t>
            </a:r>
          </a:p>
        </p:txBody>
      </p:sp>
      <p:sp>
        <p:nvSpPr>
          <p:cNvPr id="23" name="TextBox 22"/>
          <p:cNvSpPr txBox="1"/>
          <p:nvPr/>
        </p:nvSpPr>
        <p:spPr>
          <a:xfrm>
            <a:off x="731520" y="3611880"/>
            <a:ext cx="3200400" cy="457200"/>
          </a:xfrm>
          <a:prstGeom prst="rect">
            <a:avLst/>
          </a:prstGeom>
          <a:noFill/>
        </p:spPr>
        <p:txBody>
          <a:bodyPr wrap="square">
            <a:spAutoFit/>
          </a:bodyPr>
          <a:lstStyle/>
          <a:p>
            <a:pPr algn="l">
              <a:defRPr sz="1000" b="0">
                <a:solidFill>
                  <a:srgbClr val="1A1A2E"/>
                </a:solidFill>
                <a:latin typeface="Calibri"/>
              </a:defRPr>
            </a:pPr>
            <a:r>
              <a:t>1.3.1 Info and Relationships</a:t>
            </a:r>
          </a:p>
        </p:txBody>
      </p:sp>
      <p:sp>
        <p:nvSpPr>
          <p:cNvPr id="24" name="TextBox 23"/>
          <p:cNvSpPr txBox="1"/>
          <p:nvPr/>
        </p:nvSpPr>
        <p:spPr>
          <a:xfrm>
            <a:off x="3931920" y="361188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25" name="Rounded Rectangle 24"/>
          <p:cNvSpPr/>
          <p:nvPr/>
        </p:nvSpPr>
        <p:spPr>
          <a:xfrm>
            <a:off x="4663440" y="363016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LIKELY PASS</a:t>
            </a:r>
          </a:p>
        </p:txBody>
      </p:sp>
      <p:sp>
        <p:nvSpPr>
          <p:cNvPr id="26" name="TextBox 25"/>
          <p:cNvSpPr txBox="1"/>
          <p:nvPr/>
        </p:nvSpPr>
        <p:spPr>
          <a:xfrm>
            <a:off x="5760720" y="3611880"/>
            <a:ext cx="5943600" cy="457200"/>
          </a:xfrm>
          <a:prstGeom prst="rect">
            <a:avLst/>
          </a:prstGeom>
          <a:noFill/>
        </p:spPr>
        <p:txBody>
          <a:bodyPr wrap="square">
            <a:spAutoFit/>
          </a:bodyPr>
          <a:lstStyle/>
          <a:p>
            <a:pPr algn="l">
              <a:defRPr sz="900" b="0">
                <a:solidFill>
                  <a:srgbClr val="374151"/>
                </a:solidFill>
                <a:latin typeface="Calibri"/>
              </a:defRPr>
            </a:pPr>
            <a:r>
              <a:t>Semantic headings, table structure, labelled inputs. Tooltip triggers have aria-label.</a:t>
            </a:r>
          </a:p>
        </p:txBody>
      </p:sp>
      <p:sp>
        <p:nvSpPr>
          <p:cNvPr id="27" name="TextBox 26"/>
          <p:cNvSpPr txBox="1"/>
          <p:nvPr/>
        </p:nvSpPr>
        <p:spPr>
          <a:xfrm>
            <a:off x="731520" y="4114800"/>
            <a:ext cx="3200400" cy="457200"/>
          </a:xfrm>
          <a:prstGeom prst="rect">
            <a:avLst/>
          </a:prstGeom>
          <a:noFill/>
        </p:spPr>
        <p:txBody>
          <a:bodyPr wrap="square">
            <a:spAutoFit/>
          </a:bodyPr>
          <a:lstStyle/>
          <a:p>
            <a:pPr algn="l">
              <a:defRPr sz="1000" b="0">
                <a:solidFill>
                  <a:srgbClr val="1A1A2E"/>
                </a:solidFill>
                <a:latin typeface="Calibri"/>
              </a:defRPr>
            </a:pPr>
            <a:r>
              <a:t>4.1.3 Status Messages</a:t>
            </a:r>
          </a:p>
        </p:txBody>
      </p:sp>
      <p:sp>
        <p:nvSpPr>
          <p:cNvPr id="28" name="TextBox 27"/>
          <p:cNvSpPr txBox="1"/>
          <p:nvPr/>
        </p:nvSpPr>
        <p:spPr>
          <a:xfrm>
            <a:off x="3931920" y="411480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29" name="Rounded Rectangle 28"/>
          <p:cNvSpPr/>
          <p:nvPr/>
        </p:nvSpPr>
        <p:spPr>
          <a:xfrm>
            <a:off x="4663440" y="413308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LIKELY PASS</a:t>
            </a:r>
          </a:p>
        </p:txBody>
      </p:sp>
      <p:sp>
        <p:nvSpPr>
          <p:cNvPr id="30" name="TextBox 29"/>
          <p:cNvSpPr txBox="1"/>
          <p:nvPr/>
        </p:nvSpPr>
        <p:spPr>
          <a:xfrm>
            <a:off x="5760720" y="4114800"/>
            <a:ext cx="5943600" cy="457200"/>
          </a:xfrm>
          <a:prstGeom prst="rect">
            <a:avLst/>
          </a:prstGeom>
          <a:noFill/>
        </p:spPr>
        <p:txBody>
          <a:bodyPr wrap="square">
            <a:spAutoFit/>
          </a:bodyPr>
          <a:lstStyle/>
          <a:p>
            <a:pPr algn="l">
              <a:defRPr sz="900" b="0">
                <a:solidFill>
                  <a:srgbClr val="374151"/>
                </a:solidFill>
                <a:latin typeface="Calibri"/>
              </a:defRPr>
            </a:pPr>
            <a:r>
              <a:t>Sonner toasts likely use ARIA live regions. Inline messages present for sell-zero-holdings.</a:t>
            </a:r>
          </a:p>
        </p:txBody>
      </p:sp>
      <p:sp>
        <p:nvSpPr>
          <p:cNvPr id="31" name="TextBox 30"/>
          <p:cNvSpPr txBox="1"/>
          <p:nvPr/>
        </p:nvSpPr>
        <p:spPr>
          <a:xfrm>
            <a:off x="731520" y="4617720"/>
            <a:ext cx="3200400" cy="457200"/>
          </a:xfrm>
          <a:prstGeom prst="rect">
            <a:avLst/>
          </a:prstGeom>
          <a:noFill/>
        </p:spPr>
        <p:txBody>
          <a:bodyPr wrap="square">
            <a:spAutoFit/>
          </a:bodyPr>
          <a:lstStyle/>
          <a:p>
            <a:pPr algn="l">
              <a:defRPr sz="1000" b="0">
                <a:solidFill>
                  <a:srgbClr val="1A1A2E"/>
                </a:solidFill>
                <a:latin typeface="Calibri"/>
              </a:defRPr>
            </a:pPr>
            <a:r>
              <a:t>2.1.1 Keyboard</a:t>
            </a:r>
          </a:p>
        </p:txBody>
      </p:sp>
      <p:sp>
        <p:nvSpPr>
          <p:cNvPr id="32" name="TextBox 31"/>
          <p:cNvSpPr txBox="1"/>
          <p:nvPr/>
        </p:nvSpPr>
        <p:spPr>
          <a:xfrm>
            <a:off x="3931920" y="461772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33" name="Rounded Rectangle 32"/>
          <p:cNvSpPr/>
          <p:nvPr/>
        </p:nvSpPr>
        <p:spPr>
          <a:xfrm>
            <a:off x="4663440" y="463600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34" name="TextBox 33"/>
          <p:cNvSpPr txBox="1"/>
          <p:nvPr/>
        </p:nvSpPr>
        <p:spPr>
          <a:xfrm>
            <a:off x="5760720" y="4617720"/>
            <a:ext cx="5943600" cy="457200"/>
          </a:xfrm>
          <a:prstGeom prst="rect">
            <a:avLst/>
          </a:prstGeom>
          <a:noFill/>
        </p:spPr>
        <p:txBody>
          <a:bodyPr wrap="square">
            <a:spAutoFit/>
          </a:bodyPr>
          <a:lstStyle/>
          <a:p>
            <a:pPr algn="l">
              <a:defRPr sz="900" b="0">
                <a:solidFill>
                  <a:srgbClr val="374151"/>
                </a:solidFill>
                <a:latin typeface="Calibri"/>
              </a:defRPr>
            </a:pPr>
            <a:r>
              <a:t>Radix UI provides keyboard support. Focus rings visible.</a:t>
            </a:r>
          </a:p>
        </p:txBody>
      </p:sp>
      <p:sp>
        <p:nvSpPr>
          <p:cNvPr id="35" name="TextBox 34"/>
          <p:cNvSpPr txBox="1"/>
          <p:nvPr/>
        </p:nvSpPr>
        <p:spPr>
          <a:xfrm>
            <a:off x="731520" y="5120640"/>
            <a:ext cx="3200400" cy="457200"/>
          </a:xfrm>
          <a:prstGeom prst="rect">
            <a:avLst/>
          </a:prstGeom>
          <a:noFill/>
        </p:spPr>
        <p:txBody>
          <a:bodyPr wrap="square">
            <a:spAutoFit/>
          </a:bodyPr>
          <a:lstStyle/>
          <a:p>
            <a:pPr algn="l">
              <a:defRPr sz="1000" b="0">
                <a:solidFill>
                  <a:srgbClr val="1A1A2E"/>
                </a:solidFill>
                <a:latin typeface="Calibri"/>
              </a:defRPr>
            </a:pPr>
            <a:r>
              <a:t>2.4.7 Focus Visible</a:t>
            </a:r>
          </a:p>
        </p:txBody>
      </p:sp>
      <p:sp>
        <p:nvSpPr>
          <p:cNvPr id="36" name="TextBox 35"/>
          <p:cNvSpPr txBox="1"/>
          <p:nvPr/>
        </p:nvSpPr>
        <p:spPr>
          <a:xfrm>
            <a:off x="3931920" y="512064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37" name="Rounded Rectangle 36"/>
          <p:cNvSpPr/>
          <p:nvPr/>
        </p:nvSpPr>
        <p:spPr>
          <a:xfrm>
            <a:off x="4663440" y="513892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38" name="TextBox 37"/>
          <p:cNvSpPr txBox="1"/>
          <p:nvPr/>
        </p:nvSpPr>
        <p:spPr>
          <a:xfrm>
            <a:off x="5760720" y="5120640"/>
            <a:ext cx="5943600" cy="457200"/>
          </a:xfrm>
          <a:prstGeom prst="rect">
            <a:avLst/>
          </a:prstGeom>
          <a:noFill/>
        </p:spPr>
        <p:txBody>
          <a:bodyPr wrap="square">
            <a:spAutoFit/>
          </a:bodyPr>
          <a:lstStyle/>
          <a:p>
            <a:pPr algn="l">
              <a:defRPr sz="900" b="0">
                <a:solidFill>
                  <a:srgbClr val="374151"/>
                </a:solidFill>
                <a:latin typeface="Calibri"/>
              </a:defRPr>
            </a:pPr>
            <a:r>
              <a:t>:focus-visible rings with forced-colors fallback</a:t>
            </a:r>
          </a:p>
        </p:txBody>
      </p:sp>
      <p:sp>
        <p:nvSpPr>
          <p:cNvPr id="39" name="TextBox 38"/>
          <p:cNvSpPr txBox="1"/>
          <p:nvPr/>
        </p:nvSpPr>
        <p:spPr>
          <a:xfrm>
            <a:off x="731520" y="5623560"/>
            <a:ext cx="3200400" cy="457200"/>
          </a:xfrm>
          <a:prstGeom prst="rect">
            <a:avLst/>
          </a:prstGeom>
          <a:noFill/>
        </p:spPr>
        <p:txBody>
          <a:bodyPr wrap="square">
            <a:spAutoFit/>
          </a:bodyPr>
          <a:lstStyle/>
          <a:p>
            <a:pPr algn="l">
              <a:defRPr sz="1000" b="0">
                <a:solidFill>
                  <a:srgbClr val="1A1A2E"/>
                </a:solidFill>
                <a:latin typeface="Calibri"/>
              </a:defRPr>
            </a:pPr>
            <a:r>
              <a:t>1.4.12 Text Spacing</a:t>
            </a:r>
          </a:p>
        </p:txBody>
      </p:sp>
      <p:sp>
        <p:nvSpPr>
          <p:cNvPr id="40" name="TextBox 39"/>
          <p:cNvSpPr txBox="1"/>
          <p:nvPr/>
        </p:nvSpPr>
        <p:spPr>
          <a:xfrm>
            <a:off x="3931920" y="562356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41" name="Rounded Rectangle 40"/>
          <p:cNvSpPr/>
          <p:nvPr/>
        </p:nvSpPr>
        <p:spPr>
          <a:xfrm>
            <a:off x="4663440" y="564184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42" name="TextBox 41"/>
          <p:cNvSpPr txBox="1"/>
          <p:nvPr/>
        </p:nvSpPr>
        <p:spPr>
          <a:xfrm>
            <a:off x="5760720" y="5623560"/>
            <a:ext cx="5943600" cy="457200"/>
          </a:xfrm>
          <a:prstGeom prst="rect">
            <a:avLst/>
          </a:prstGeom>
          <a:noFill/>
        </p:spPr>
        <p:txBody>
          <a:bodyPr wrap="square">
            <a:spAutoFit/>
          </a:bodyPr>
          <a:lstStyle/>
          <a:p>
            <a:pPr algn="l">
              <a:defRPr sz="900" b="0">
                <a:solidFill>
                  <a:srgbClr val="374151"/>
                </a:solidFill>
                <a:latin typeface="Calibri"/>
              </a:defRPr>
            </a:pPr>
            <a:r>
              <a:t>Tailwind line-height 1.5, standard spacing, no fixed containers</a:t>
            </a:r>
          </a:p>
        </p:txBody>
      </p:sp>
      <p:sp>
        <p:nvSpPr>
          <p:cNvPr id="43" name="TextBox 42"/>
          <p:cNvSpPr txBox="1"/>
          <p:nvPr/>
        </p:nvSpPr>
        <p:spPr>
          <a:xfrm>
            <a:off x="731520" y="6400800"/>
            <a:ext cx="10058400" cy="365760"/>
          </a:xfrm>
          <a:prstGeom prst="rect">
            <a:avLst/>
          </a:prstGeom>
          <a:noFill/>
        </p:spPr>
        <p:txBody>
          <a:bodyPr wrap="square">
            <a:spAutoFit/>
          </a:bodyPr>
          <a:lstStyle/>
          <a:p>
            <a:pPr algn="l">
              <a:defRPr sz="1300" b="1">
                <a:solidFill>
                  <a:srgbClr val="EA580C"/>
                </a:solidFill>
                <a:latin typeface="Calibri"/>
              </a:defRPr>
            </a:pPr>
            <a:r>
              <a:t>Overall Accessibility Risk Level: HIGH — Three AA failures + missing Level A requirement.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What's Working Well</a:t>
            </a:r>
          </a:p>
        </p:txBody>
      </p:sp>
      <p:sp>
        <p:nvSpPr>
          <p:cNvPr id="3" name="Rounded Rectangle 2"/>
          <p:cNvSpPr/>
          <p:nvPr/>
        </p:nvSpPr>
        <p:spPr>
          <a:xfrm>
            <a:off x="731520" y="118872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280160"/>
            <a:ext cx="9875520" cy="274320"/>
          </a:xfrm>
          <a:prstGeom prst="rect">
            <a:avLst/>
          </a:prstGeom>
          <a:noFill/>
        </p:spPr>
        <p:txBody>
          <a:bodyPr wrap="square">
            <a:spAutoFit/>
          </a:bodyPr>
          <a:lstStyle/>
          <a:p>
            <a:pPr algn="l">
              <a:defRPr sz="1400" b="1">
                <a:solidFill>
                  <a:srgbClr val="166534"/>
                </a:solidFill>
                <a:latin typeface="Calibri"/>
              </a:defRPr>
            </a:pPr>
            <a:r>
              <a:t>Excellent educational tooltip content.</a:t>
            </a:r>
          </a:p>
        </p:txBody>
      </p:sp>
      <p:sp>
        <p:nvSpPr>
          <p:cNvPr id="6" name="TextBox 5"/>
          <p:cNvSpPr txBox="1"/>
          <p:nvPr/>
        </p:nvSpPr>
        <p:spPr>
          <a:xfrm>
            <a:off x="1005840" y="1600200"/>
            <a:ext cx="9875520" cy="457200"/>
          </a:xfrm>
          <a:prstGeom prst="rect">
            <a:avLst/>
          </a:prstGeom>
          <a:noFill/>
        </p:spPr>
        <p:txBody>
          <a:bodyPr wrap="square">
            <a:spAutoFit/>
          </a:bodyPr>
          <a:lstStyle/>
          <a:p>
            <a:pPr algn="l">
              <a:defRPr sz="1100" b="0">
                <a:solidFill>
                  <a:srgbClr val="374151"/>
                </a:solidFill>
                <a:latin typeface="Calibri"/>
              </a:defRPr>
            </a:pPr>
            <a:r>
              <a:t>The Bid/Ask/Spread/Order Type tooltips are well-written, concise, and genuinely helpful. The tooltip architecture (va/wa components) with hover+click triggers is thoughtful. The content quality is first-rate -- just needs more visible trigger icons.</a:t>
            </a:r>
          </a:p>
        </p:txBody>
      </p:sp>
      <p:sp>
        <p:nvSpPr>
          <p:cNvPr id="7" name="Rounded Rectangle 6"/>
          <p:cNvSpPr/>
          <p:nvPr/>
        </p:nvSpPr>
        <p:spPr>
          <a:xfrm>
            <a:off x="731520" y="224028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4028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31720"/>
            <a:ext cx="9875520" cy="274320"/>
          </a:xfrm>
          <a:prstGeom prst="rect">
            <a:avLst/>
          </a:prstGeom>
          <a:noFill/>
        </p:spPr>
        <p:txBody>
          <a:bodyPr wrap="square">
            <a:spAutoFit/>
          </a:bodyPr>
          <a:lstStyle/>
          <a:p>
            <a:pPr algn="l">
              <a:defRPr sz="1400" b="1">
                <a:solidFill>
                  <a:srgbClr val="166534"/>
                </a:solidFill>
                <a:latin typeface="Calibri"/>
              </a:defRPr>
            </a:pPr>
            <a:r>
              <a:t>Cost transparency on order review.</a:t>
            </a:r>
          </a:p>
        </p:txBody>
      </p:sp>
      <p:sp>
        <p:nvSpPr>
          <p:cNvPr id="10" name="TextBox 9"/>
          <p:cNvSpPr txBox="1"/>
          <p:nvPr/>
        </p:nvSpPr>
        <p:spPr>
          <a:xfrm>
            <a:off x="1005840" y="2651760"/>
            <a:ext cx="9875520" cy="457200"/>
          </a:xfrm>
          <a:prstGeom prst="rect">
            <a:avLst/>
          </a:prstGeom>
          <a:noFill/>
        </p:spPr>
        <p:txBody>
          <a:bodyPr wrap="square">
            <a:spAutoFit/>
          </a:bodyPr>
          <a:lstStyle/>
          <a:p>
            <a:pPr algn="l">
              <a:defRPr sz="1100" b="0">
                <a:solidFill>
                  <a:srgbClr val="374151"/>
                </a:solidFill>
                <a:latin typeface="Calibri"/>
              </a:defRPr>
            </a:pPr>
            <a:r>
              <a:t>The cost breakdown (mid price, spread 0.5%, effective ask/bid price, quantity, total, explicit "No additional fees") is exactly what a financial product needs. This builds trust and meets regulatory standards.</a:t>
            </a:r>
          </a:p>
        </p:txBody>
      </p:sp>
      <p:sp>
        <p:nvSpPr>
          <p:cNvPr id="11" name="Rounded Rectangle 10"/>
          <p:cNvSpPr/>
          <p:nvPr/>
        </p:nvSpPr>
        <p:spPr>
          <a:xfrm>
            <a:off x="731520" y="329184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29184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383280"/>
            <a:ext cx="9875520" cy="274320"/>
          </a:xfrm>
          <a:prstGeom prst="rect">
            <a:avLst/>
          </a:prstGeom>
          <a:noFill/>
        </p:spPr>
        <p:txBody>
          <a:bodyPr wrap="square">
            <a:spAutoFit/>
          </a:bodyPr>
          <a:lstStyle/>
          <a:p>
            <a:pPr algn="l">
              <a:defRPr sz="1400" b="1">
                <a:solidFill>
                  <a:srgbClr val="166534"/>
                </a:solidFill>
                <a:latin typeface="Calibri"/>
              </a:defRPr>
            </a:pPr>
            <a:r>
              <a:t>Intelligent sell-flow error prevention.</a:t>
            </a:r>
          </a:p>
        </p:txBody>
      </p:sp>
      <p:sp>
        <p:nvSpPr>
          <p:cNvPr id="14" name="TextBox 13"/>
          <p:cNvSpPr txBox="1"/>
          <p:nvPr/>
        </p:nvSpPr>
        <p:spPr>
          <a:xfrm>
            <a:off x="1005840" y="3703320"/>
            <a:ext cx="9875520" cy="457200"/>
          </a:xfrm>
          <a:prstGeom prst="rect">
            <a:avLst/>
          </a:prstGeom>
          <a:noFill/>
        </p:spPr>
        <p:txBody>
          <a:bodyPr wrap="square">
            <a:spAutoFit/>
          </a:bodyPr>
          <a:lstStyle/>
          <a:p>
            <a:pPr algn="l">
              <a:defRPr sz="1100" b="0">
                <a:solidFill>
                  <a:srgbClr val="374151"/>
                </a:solidFill>
                <a:latin typeface="Calibri"/>
              </a:defRPr>
            </a:pPr>
            <a:r>
              <a:t>The sell toggle now shows an inline message ("You don't have any Gold to sell. Buy some first to start selling.") with a direct "Buy Gold" CTA. This is textbook error prevention -- the user never enters a dead-end.</a:t>
            </a:r>
          </a:p>
        </p:txBody>
      </p:sp>
      <p:sp>
        <p:nvSpPr>
          <p:cNvPr id="15" name="Rounded Rectangle 14"/>
          <p:cNvSpPr/>
          <p:nvPr/>
        </p:nvSpPr>
        <p:spPr>
          <a:xfrm>
            <a:off x="731520" y="434340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34340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434840"/>
            <a:ext cx="9875520" cy="274320"/>
          </a:xfrm>
          <a:prstGeom prst="rect">
            <a:avLst/>
          </a:prstGeom>
          <a:noFill/>
        </p:spPr>
        <p:txBody>
          <a:bodyPr wrap="square">
            <a:spAutoFit/>
          </a:bodyPr>
          <a:lstStyle/>
          <a:p>
            <a:pPr algn="l">
              <a:defRPr sz="1400" b="1">
                <a:solidFill>
                  <a:srgbClr val="166534"/>
                </a:solidFill>
                <a:latin typeface="Calibri"/>
              </a:defRPr>
            </a:pPr>
            <a:r>
              <a:t>Strong beginner guidance architecture.</a:t>
            </a:r>
          </a:p>
        </p:txBody>
      </p:sp>
      <p:sp>
        <p:nvSpPr>
          <p:cNvPr id="18" name="TextBox 17"/>
          <p:cNvSpPr txBox="1"/>
          <p:nvPr/>
        </p:nvSpPr>
        <p:spPr>
          <a:xfrm>
            <a:off x="1005840" y="4754880"/>
            <a:ext cx="9875520" cy="457200"/>
          </a:xfrm>
          <a:prstGeom prst="rect">
            <a:avLst/>
          </a:prstGeom>
          <a:noFill/>
        </p:spPr>
        <p:txBody>
          <a:bodyPr wrap="square">
            <a:spAutoFit/>
          </a:bodyPr>
          <a:lstStyle/>
          <a:p>
            <a:pPr algn="l">
              <a:defRPr sz="1100" b="0">
                <a:solidFill>
                  <a:srgbClr val="374151"/>
                </a:solidFill>
                <a:latin typeface="Calibri"/>
              </a:defRPr>
            </a:pPr>
            <a:r>
              <a:t>"Most Popular" badge on Gold, "Buy Your First Precious Metal" CTA in empty holdings, metal-specific "Best For" labels (Beginners, Growth-oriented, Experienced), Compare All Metals table with volatility ratings -- the information architecture now actively guides novice investors rather than treating all users as experts.</a:t>
            </a:r>
          </a:p>
        </p:txBody>
      </p:sp>
      <p:sp>
        <p:nvSpPr>
          <p:cNvPr id="19" name="Rounded Rectangle 18"/>
          <p:cNvSpPr/>
          <p:nvPr/>
        </p:nvSpPr>
        <p:spPr>
          <a:xfrm>
            <a:off x="731520" y="539496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39496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86400"/>
            <a:ext cx="9875520" cy="274320"/>
          </a:xfrm>
          <a:prstGeom prst="rect">
            <a:avLst/>
          </a:prstGeom>
          <a:noFill/>
        </p:spPr>
        <p:txBody>
          <a:bodyPr wrap="square">
            <a:spAutoFit/>
          </a:bodyPr>
          <a:lstStyle/>
          <a:p>
            <a:pPr algn="l">
              <a:defRPr sz="1400" b="1">
                <a:solidFill>
                  <a:srgbClr val="166534"/>
                </a:solidFill>
                <a:latin typeface="Calibri"/>
              </a:defRPr>
            </a:pPr>
            <a:r>
              <a:t>Improved navigation and information architecture.</a:t>
            </a:r>
          </a:p>
        </p:txBody>
      </p:sp>
      <p:sp>
        <p:nvSpPr>
          <p:cNvPr id="22" name="TextBox 21"/>
          <p:cNvSpPr txBox="1"/>
          <p:nvPr/>
        </p:nvSpPr>
        <p:spPr>
          <a:xfrm>
            <a:off x="1005840" y="5806440"/>
            <a:ext cx="9875520" cy="457200"/>
          </a:xfrm>
          <a:prstGeom prst="rect">
            <a:avLst/>
          </a:prstGeom>
          <a:noFill/>
        </p:spPr>
        <p:txBody>
          <a:bodyPr wrap="square">
            <a:spAutoFit/>
          </a:bodyPr>
          <a:lstStyle/>
          <a:p>
            <a:pPr algn="l">
              <a:defRPr sz="1100" b="0">
                <a:solidFill>
                  <a:srgbClr val="374151"/>
                </a:solidFill>
                <a:latin typeface="Calibri"/>
              </a:defRPr>
            </a:pPr>
            <a:r>
              <a:t>Trade dropdown with all 4 metals, "Gold (XAU)" tab format (name-first, code-second), human-readable order IDs (PM-2026-XXXX), and a comprehensive 404 page with suggested links. Navigation now serves both discovery and direct access patterns.</a:t>
            </a:r>
            <a:br/>
            <a:b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286000"/>
            <a:ext cx="10515600" cy="91440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3" name="TextBox 2"/>
          <p:cNvSpPr txBox="1"/>
          <p:nvPr/>
        </p:nvSpPr>
        <p:spPr>
          <a:xfrm>
            <a:off x="731520" y="3291840"/>
            <a:ext cx="10515600" cy="457200"/>
          </a:xfrm>
          <a:prstGeom prst="rect">
            <a:avLst/>
          </a:prstGeom>
          <a:noFill/>
        </p:spPr>
        <p:txBody>
          <a:bodyPr wrap="square">
            <a:spAutoFit/>
          </a:bodyPr>
          <a:lstStyle/>
          <a:p>
            <a:pPr algn="ctr">
              <a:defRPr sz="1400" b="0">
                <a:solidFill>
                  <a:srgbClr val="94A3B8"/>
                </a:solidFill>
                <a:latin typeface="Calibri"/>
              </a:defRPr>
            </a:pPr>
            <a:r>
              <a:t>Generated by UX Audit Skill  ·  2026-03-10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
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1371600"/>
            <a:ext cx="10058400" cy="1097280"/>
          </a:xfrm>
          <a:prstGeom prst="rect">
            <a:avLst/>
          </a:prstGeom>
          <a:noFill/>
        </p:spPr>
        <p:txBody>
          <a:bodyPr wrap="square">
            <a:spAutoFit/>
          </a:bodyPr>
          <a:lstStyle/>
          <a:p>
            <a:pPr algn="l">
              <a:defRPr sz="3600" b="1">
                <a:solidFill>
                  <a:srgbClr val="FFFFFF"/>
                </a:solidFill>
                <a:latin typeface="Calibri"/>
              </a:defRPr>
            </a:pPr>
            <a:r>
              <a:t>UI/UX Audit Report: OCBC Dual Currency Investment (DCI)</a:t>
            </a:r>
          </a:p>
        </p:txBody>
      </p:sp>
      <p:sp>
        <p:nvSpPr>
          <p:cNvPr id="3" name="TextBox 2"/>
          <p:cNvSpPr txBox="1"/>
          <p:nvPr/>
        </p:nvSpPr>
        <p:spPr>
          <a:xfrm>
            <a:off x="914400" y="2468880"/>
            <a:ext cx="10058400" cy="457200"/>
          </a:xfrm>
          <a:prstGeom prst="rect">
            <a:avLst/>
          </a:prstGeom>
          <a:noFill/>
        </p:spPr>
        <p:txBody>
          <a:bodyPr wrap="square">
            <a:spAutoFit/>
          </a:bodyPr>
          <a:lstStyle/>
          <a:p>
            <a:pPr algn="l">
              <a:defRPr sz="1800" b="0">
                <a:solidFill>
                  <a:srgbClr val="94A3B8"/>
                </a:solidFill>
                <a:latin typeface="Calibri"/>
              </a:defRPr>
            </a:pPr>
            <a:r>
              <a:t>Comprehensive UI/UX Audit Report</a:t>
            </a:r>
          </a:p>
        </p:txBody>
      </p:sp>
      <p:sp>
        <p:nvSpPr>
          <p:cNvPr id="4" name="TextBox 3"/>
          <p:cNvSpPr txBox="1"/>
          <p:nvPr/>
        </p:nvSpPr>
        <p:spPr>
          <a:xfrm>
            <a:off x="914400" y="3474720"/>
            <a:ext cx="1828800" cy="274320"/>
          </a:xfrm>
          <a:prstGeom prst="rect">
            <a:avLst/>
          </a:prstGeom>
          <a:noFill/>
        </p:spPr>
        <p:txBody>
          <a:bodyPr wrap="square">
            <a:spAutoFit/>
          </a:bodyPr>
          <a:lstStyle/>
          <a:p>
            <a:pPr algn="l">
              <a:defRPr sz="900" b="0">
                <a:solidFill>
                  <a:srgbClr val="64748B"/>
                </a:solidFill>
                <a:latin typeface="Calibri"/>
              </a:defRPr>
            </a:pPr>
            <a:r>
              <a:t>AUDIT DATE</a:t>
            </a:r>
          </a:p>
        </p:txBody>
      </p:sp>
      <p:sp>
        <p:nvSpPr>
          <p:cNvPr id="5" name="TextBox 4"/>
          <p:cNvSpPr txBox="1"/>
          <p:nvPr/>
        </p:nvSpPr>
        <p:spPr>
          <a:xfrm>
            <a:off x="914400" y="3703320"/>
            <a:ext cx="4572000" cy="274320"/>
          </a:xfrm>
          <a:prstGeom prst="rect">
            <a:avLst/>
          </a:prstGeom>
          <a:noFill/>
        </p:spPr>
        <p:txBody>
          <a:bodyPr wrap="square">
            <a:spAutoFit/>
          </a:bodyPr>
          <a:lstStyle/>
          <a:p>
            <a:pPr algn="l">
              <a:defRPr sz="1300" b="0">
                <a:solidFill>
                  <a:srgbClr val="FFFFFF"/>
                </a:solidFill>
                <a:latin typeface="Calibri"/>
              </a:defRPr>
            </a:pPr>
            <a:r>
              <a:t>N/A</a:t>
            </a:r>
          </a:p>
        </p:txBody>
      </p:sp>
      <p:sp>
        <p:nvSpPr>
          <p:cNvPr id="6" name="TextBox 5"/>
          <p:cNvSpPr txBox="1"/>
          <p:nvPr/>
        </p:nvSpPr>
        <p:spPr>
          <a:xfrm>
            <a:off x="914400" y="4069080"/>
            <a:ext cx="1828800" cy="274320"/>
          </a:xfrm>
          <a:prstGeom prst="rect">
            <a:avLst/>
          </a:prstGeom>
          <a:noFill/>
        </p:spPr>
        <p:txBody>
          <a:bodyPr wrap="square">
            <a:spAutoFit/>
          </a:bodyPr>
          <a:lstStyle/>
          <a:p>
            <a:pPr algn="l">
              <a:defRPr sz="900" b="0">
                <a:solidFill>
                  <a:srgbClr val="64748B"/>
                </a:solidFill>
                <a:latin typeface="Calibri"/>
              </a:defRPr>
            </a:pPr>
            <a:r>
              <a:t>PLATFORM</a:t>
            </a:r>
          </a:p>
        </p:txBody>
      </p:sp>
      <p:sp>
        <p:nvSpPr>
          <p:cNvPr id="7" name="TextBox 6"/>
          <p:cNvSpPr txBox="1"/>
          <p:nvPr/>
        </p:nvSpPr>
        <p:spPr>
          <a:xfrm>
            <a:off x="914400" y="4297680"/>
            <a:ext cx="4572000" cy="274320"/>
          </a:xfrm>
          <a:prstGeom prst="rect">
            <a:avLst/>
          </a:prstGeom>
          <a:noFill/>
        </p:spPr>
        <p:txBody>
          <a:bodyPr wrap="square">
            <a:spAutoFit/>
          </a:bodyPr>
          <a:lstStyle/>
          <a:p>
            <a:pPr algn="l">
              <a:defRPr sz="1300" b="0">
                <a:solidFill>
                  <a:srgbClr val="FFFFFF"/>
                </a:solidFill>
                <a:latin typeface="Calibri"/>
              </a:defRPr>
            </a:pPr>
            <a:r>
              <a:t>N/A</a:t>
            </a:r>
          </a:p>
        </p:txBody>
      </p:sp>
      <p:sp>
        <p:nvSpPr>
          <p:cNvPr id="8" name="TextBox 7"/>
          <p:cNvSpPr txBox="1"/>
          <p:nvPr/>
        </p:nvSpPr>
        <p:spPr>
          <a:xfrm>
            <a:off x="914400" y="4663440"/>
            <a:ext cx="1828800" cy="274320"/>
          </a:xfrm>
          <a:prstGeom prst="rect">
            <a:avLst/>
          </a:prstGeom>
          <a:noFill/>
        </p:spPr>
        <p:txBody>
          <a:bodyPr wrap="square">
            <a:spAutoFit/>
          </a:bodyPr>
          <a:lstStyle/>
          <a:p>
            <a:pPr algn="l">
              <a:defRPr sz="900" b="0">
                <a:solidFill>
                  <a:srgbClr val="64748B"/>
                </a:solidFill>
                <a:latin typeface="Calibri"/>
              </a:defRPr>
            </a:pPr>
            <a:r>
              <a:t>AUDITOR PERSONA</a:t>
            </a:r>
          </a:p>
        </p:txBody>
      </p:sp>
      <p:sp>
        <p:nvSpPr>
          <p:cNvPr id="9" name="TextBox 8"/>
          <p:cNvSpPr txBox="1"/>
          <p:nvPr/>
        </p:nvSpPr>
        <p:spPr>
          <a:xfrm>
            <a:off x="914400" y="4892040"/>
            <a:ext cx="4572000" cy="274320"/>
          </a:xfrm>
          <a:prstGeom prst="rect">
            <a:avLst/>
          </a:prstGeom>
          <a:noFill/>
        </p:spPr>
        <p:txBody>
          <a:bodyPr wrap="square">
            <a:spAutoFit/>
          </a:bodyPr>
          <a:lstStyle/>
          <a:p>
            <a:pPr algn="l">
              <a:defRPr sz="1300" b="0">
                <a:solidFill>
                  <a:srgbClr val="FFFFFF"/>
                </a:solidFill>
                <a:latin typeface="Calibri"/>
              </a:defRPr>
            </a:pPr>
            <a:r>
              <a:t>N/A</a:t>
            </a:r>
          </a:p>
        </p:txBody>
      </p:sp>
      <p:sp>
        <p:nvSpPr>
          <p:cNvPr id="10" name="TextBox 9"/>
          <p:cNvSpPr txBox="1"/>
          <p:nvPr/>
        </p:nvSpPr>
        <p:spPr>
          <a:xfrm>
            <a:off x="914400" y="5257800"/>
            <a:ext cx="1828800" cy="274320"/>
          </a:xfrm>
          <a:prstGeom prst="rect">
            <a:avLst/>
          </a:prstGeom>
          <a:noFill/>
        </p:spPr>
        <p:txBody>
          <a:bodyPr wrap="square">
            <a:spAutoFit/>
          </a:bodyPr>
          <a:lstStyle/>
          <a:p>
            <a:pPr algn="l">
              <a:defRPr sz="900" b="0">
                <a:solidFill>
                  <a:srgbClr val="64748B"/>
                </a:solidFill>
                <a:latin typeface="Calibri"/>
              </a:defRPr>
            </a:pPr>
            <a:r>
              <a:t>URL</a:t>
            </a:r>
          </a:p>
        </p:txBody>
      </p:sp>
      <p:sp>
        <p:nvSpPr>
          <p:cNvPr id="11" name="TextBox 10"/>
          <p:cNvSpPr txBox="1"/>
          <p:nvPr/>
        </p:nvSpPr>
        <p:spPr>
          <a:xfrm>
            <a:off x="914400" y="5486400"/>
            <a:ext cx="4572000" cy="274320"/>
          </a:xfrm>
          <a:prstGeom prst="rect">
            <a:avLst/>
          </a:prstGeom>
          <a:noFill/>
        </p:spPr>
        <p:txBody>
          <a:bodyPr wrap="square">
            <a:spAutoFit/>
          </a:bodyPr>
          <a:lstStyle/>
          <a:p>
            <a:pPr algn="l">
              <a:defRPr sz="1300" b="0">
                <a:solidFill>
                  <a:srgbClr val="FFFFFF"/>
                </a:solidFill>
                <a:latin typeface="Calibri"/>
              </a:defRPr>
            </a:pPr>
            <a:r>
              <a:t>N/A</a:t>
            </a:r>
          </a:p>
        </p:txBody>
      </p:sp>
      <p:sp>
        <p:nvSpPr>
          <p:cNvPr id="12" name="TextBox 11"/>
          <p:cNvSpPr txBox="1"/>
          <p:nvPr/>
        </p:nvSpPr>
        <p:spPr>
          <a:xfrm>
            <a:off x="8686800" y="2926080"/>
            <a:ext cx="2286000" cy="1371600"/>
          </a:xfrm>
          <a:prstGeom prst="rect">
            <a:avLst/>
          </a:prstGeom>
          <a:noFill/>
        </p:spPr>
        <p:txBody>
          <a:bodyPr wrap="square">
            <a:spAutoFit/>
          </a:bodyPr>
          <a:lstStyle/>
          <a:p>
            <a:pPr algn="ctr">
              <a:defRPr sz="7200" b="1">
                <a:solidFill>
                  <a:srgbClr val="EA580C"/>
                </a:solidFill>
                <a:latin typeface="Calibri"/>
              </a:defRPr>
            </a:pPr>
            <a:r>
              <a:t>N/A</a:t>
            </a:r>
          </a:p>
        </p:txBody>
      </p:sp>
      <p:sp>
        <p:nvSpPr>
          <p:cNvPr id="13" name="TextBox 12"/>
          <p:cNvSpPr txBox="1"/>
          <p:nvPr/>
        </p:nvSpPr>
        <p:spPr>
          <a:xfrm>
            <a:off x="8686800" y="4297680"/>
            <a:ext cx="2286000" cy="365760"/>
          </a:xfrm>
          <a:prstGeom prst="rect">
            <a:avLst/>
          </a:prstGeom>
          <a:noFill/>
        </p:spPr>
        <p:txBody>
          <a:bodyPr wrap="square">
            <a:spAutoFit/>
          </a:bodyPr>
          <a:lstStyle/>
          <a:p>
            <a:pPr algn="ctr">
              <a:defRPr sz="1200" b="0">
                <a:solidFill>
                  <a:srgbClr val="94A3B8"/>
                </a:solidFill>
                <a:latin typeface="Calibri"/>
              </a:defRPr>
            </a:pPr>
            <a:r>
              <a:t>UX Health Score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058400" cy="548640"/>
          </a:xfrm>
          <a:prstGeom prst="rect">
            <a:avLst/>
          </a:prstGeom>
          <a:noFill/>
        </p:spPr>
        <p:txBody>
          <a:bodyPr wrap="square">
            <a:spAutoFit/>
          </a:bodyPr>
          <a:lstStyle/>
          <a:p>
            <a:pPr algn="l">
              <a:defRPr sz="2800" b="1">
                <a:solidFill>
                  <a:srgbClr val="1A1A2E"/>
                </a:solidFill>
                <a:latin typeface="Calibri"/>
              </a:defRPr>
            </a:pPr>
            <a:r>
              <a:t>Executive Summary</a:t>
            </a:r>
          </a:p>
        </p:txBody>
      </p:sp>
      <p:sp>
        <p:nvSpPr>
          <p:cNvPr id="3" name="TextBox 2"/>
          <p:cNvSpPr txBox="1"/>
          <p:nvPr/>
        </p:nvSpPr>
        <p:spPr>
          <a:xfrm>
            <a:off x="731520" y="1097280"/>
            <a:ext cx="7315200" cy="2286000"/>
          </a:xfrm>
          <a:prstGeom prst="rect">
            <a:avLst/>
          </a:prstGeom>
          <a:noFill/>
        </p:spPr>
        <p:txBody>
          <a:bodyPr wrap="square">
            <a:spAutoFit/>
          </a:bodyPr>
          <a:lstStyle/>
          <a:p>
            <a:pPr algn="l">
              <a:defRPr sz="1300" b="0">
                <a:solidFill>
                  <a:srgbClr val="374151"/>
                </a:solidFill>
                <a:latin typeface="Calibri"/>
              </a:defRPr>
            </a:pPr>
          </a:p>
        </p:txBody>
      </p:sp>
      <p:sp>
        <p:nvSpPr>
          <p:cNvPr id="4" name="Rounded Rectangle 3"/>
          <p:cNvSpPr/>
          <p:nvPr/>
        </p:nvSpPr>
        <p:spPr>
          <a:xfrm>
            <a:off x="731520" y="4114800"/>
            <a:ext cx="2560320" cy="1645920"/>
          </a:xfrm>
          <a:prstGeom prst="roundRect">
            <a:avLst>
              <a:gd name="adj" fmla="val 2000"/>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4297680"/>
            <a:ext cx="1828800" cy="731520"/>
          </a:xfrm>
          <a:prstGeom prst="rect">
            <a:avLst/>
          </a:prstGeom>
          <a:noFill/>
        </p:spPr>
        <p:txBody>
          <a:bodyPr wrap="square">
            <a:spAutoFit/>
          </a:bodyPr>
          <a:lstStyle/>
          <a:p>
            <a:pPr algn="ctr">
              <a:defRPr sz="4200" b="1">
                <a:solidFill>
                  <a:srgbClr val="DC2626"/>
                </a:solidFill>
                <a:latin typeface="Calibri"/>
              </a:defRPr>
            </a:pPr>
            <a:r>
              <a:t>5</a:t>
            </a:r>
          </a:p>
        </p:txBody>
      </p:sp>
      <p:sp>
        <p:nvSpPr>
          <p:cNvPr id="6" name="TextBox 5"/>
          <p:cNvSpPr txBox="1"/>
          <p:nvPr/>
        </p:nvSpPr>
        <p:spPr>
          <a:xfrm>
            <a:off x="1005840" y="5120640"/>
            <a:ext cx="1828800" cy="365760"/>
          </a:xfrm>
          <a:prstGeom prst="rect">
            <a:avLst/>
          </a:prstGeom>
          <a:noFill/>
        </p:spPr>
        <p:txBody>
          <a:bodyPr wrap="square">
            <a:spAutoFit/>
          </a:bodyPr>
          <a:lstStyle/>
          <a:p>
            <a:pPr algn="ctr">
              <a:defRPr sz="1100" b="1">
                <a:solidFill>
                  <a:srgbClr val="DC2626"/>
                </a:solidFill>
                <a:latin typeface="Calibri"/>
              </a:defRPr>
            </a:pPr>
            <a:r>
              <a:t>CRITICAL</a:t>
            </a:r>
          </a:p>
        </p:txBody>
      </p:sp>
      <p:sp>
        <p:nvSpPr>
          <p:cNvPr id="7" name="Rounded Rectangle 6"/>
          <p:cNvSpPr/>
          <p:nvPr/>
        </p:nvSpPr>
        <p:spPr>
          <a:xfrm>
            <a:off x="3566160" y="4114800"/>
            <a:ext cx="2560320" cy="1645920"/>
          </a:xfrm>
          <a:prstGeom prst="roundRect">
            <a:avLst>
              <a:gd name="adj" fmla="val 2000"/>
            </a:avLst>
          </a:prstGeom>
          <a:solidFill>
            <a:srgbClr val="FFF7ED"/>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0" y="4297680"/>
            <a:ext cx="1828800" cy="731520"/>
          </a:xfrm>
          <a:prstGeom prst="rect">
            <a:avLst/>
          </a:prstGeom>
          <a:noFill/>
        </p:spPr>
        <p:txBody>
          <a:bodyPr wrap="square">
            <a:spAutoFit/>
          </a:bodyPr>
          <a:lstStyle/>
          <a:p>
            <a:pPr algn="ctr">
              <a:defRPr sz="4200" b="1">
                <a:solidFill>
                  <a:srgbClr val="EA580C"/>
                </a:solidFill>
                <a:latin typeface="Calibri"/>
              </a:defRPr>
            </a:pPr>
            <a:r>
              <a:t>5</a:t>
            </a:r>
          </a:p>
        </p:txBody>
      </p:sp>
      <p:sp>
        <p:nvSpPr>
          <p:cNvPr id="9" name="TextBox 8"/>
          <p:cNvSpPr txBox="1"/>
          <p:nvPr/>
        </p:nvSpPr>
        <p:spPr>
          <a:xfrm>
            <a:off x="3840480" y="5120640"/>
            <a:ext cx="1828800" cy="365760"/>
          </a:xfrm>
          <a:prstGeom prst="rect">
            <a:avLst/>
          </a:prstGeom>
          <a:noFill/>
        </p:spPr>
        <p:txBody>
          <a:bodyPr wrap="square">
            <a:spAutoFit/>
          </a:bodyPr>
          <a:lstStyle/>
          <a:p>
            <a:pPr algn="ctr">
              <a:defRPr sz="1100" b="1">
                <a:solidFill>
                  <a:srgbClr val="EA580C"/>
                </a:solidFill>
                <a:latin typeface="Calibri"/>
              </a:defRPr>
            </a:pPr>
            <a:r>
              <a:t>HIGH</a:t>
            </a:r>
          </a:p>
        </p:txBody>
      </p:sp>
      <p:sp>
        <p:nvSpPr>
          <p:cNvPr id="10" name="Rounded Rectangle 9"/>
          <p:cNvSpPr/>
          <p:nvPr/>
        </p:nvSpPr>
        <p:spPr>
          <a:xfrm>
            <a:off x="6400800" y="4114800"/>
            <a:ext cx="2560320" cy="1645920"/>
          </a:xfrm>
          <a:prstGeom prst="roundRect">
            <a:avLst>
              <a:gd name="adj" fmla="val 2000"/>
            </a:avLst>
          </a:prstGeom>
          <a:solidFill>
            <a:srgbClr val="FEFCE8"/>
          </a:solidFill>
          <a:ln w="12700">
            <a:solidFill>
              <a:srgbClr val="CA8A0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4297680"/>
            <a:ext cx="1828800" cy="731520"/>
          </a:xfrm>
          <a:prstGeom prst="rect">
            <a:avLst/>
          </a:prstGeom>
          <a:noFill/>
        </p:spPr>
        <p:txBody>
          <a:bodyPr wrap="square">
            <a:spAutoFit/>
          </a:bodyPr>
          <a:lstStyle/>
          <a:p>
            <a:pPr algn="ctr">
              <a:defRPr sz="4200" b="1">
                <a:solidFill>
                  <a:srgbClr val="CA8A04"/>
                </a:solidFill>
                <a:latin typeface="Calibri"/>
              </a:defRPr>
            </a:pPr>
            <a:r>
              <a:t>10</a:t>
            </a:r>
          </a:p>
        </p:txBody>
      </p:sp>
      <p:sp>
        <p:nvSpPr>
          <p:cNvPr id="12" name="TextBox 11"/>
          <p:cNvSpPr txBox="1"/>
          <p:nvPr/>
        </p:nvSpPr>
        <p:spPr>
          <a:xfrm>
            <a:off x="6675120" y="5120640"/>
            <a:ext cx="1828800" cy="365760"/>
          </a:xfrm>
          <a:prstGeom prst="rect">
            <a:avLst/>
          </a:prstGeom>
          <a:noFill/>
        </p:spPr>
        <p:txBody>
          <a:bodyPr wrap="square">
            <a:spAutoFit/>
          </a:bodyPr>
          <a:lstStyle/>
          <a:p>
            <a:pPr algn="ctr">
              <a:defRPr sz="1100" b="1">
                <a:solidFill>
                  <a:srgbClr val="CA8A04"/>
                </a:solidFill>
                <a:latin typeface="Calibri"/>
              </a:defRPr>
            </a:pPr>
            <a:r>
              <a:t>MEDIUM</a:t>
            </a:r>
          </a:p>
        </p:txBody>
      </p:sp>
      <p:sp>
        <p:nvSpPr>
          <p:cNvPr id="13" name="Rounded Rectangle 12"/>
          <p:cNvSpPr/>
          <p:nvPr/>
        </p:nvSpPr>
        <p:spPr>
          <a:xfrm>
            <a:off x="9235440" y="4114800"/>
            <a:ext cx="2560320" cy="1645920"/>
          </a:xfrm>
          <a:prstGeom prst="roundRect">
            <a:avLst>
              <a:gd name="adj" fmla="val 2000"/>
            </a:avLst>
          </a:prstGeom>
          <a:solidFill>
            <a:srgbClr val="F0FDF4"/>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09760" y="4297680"/>
            <a:ext cx="1828800" cy="731520"/>
          </a:xfrm>
          <a:prstGeom prst="rect">
            <a:avLst/>
          </a:prstGeom>
          <a:noFill/>
        </p:spPr>
        <p:txBody>
          <a:bodyPr wrap="square">
            <a:spAutoFit/>
          </a:bodyPr>
          <a:lstStyle/>
          <a:p>
            <a:pPr algn="ctr">
              <a:defRPr sz="4200" b="1">
                <a:solidFill>
                  <a:srgbClr val="16A34A"/>
                </a:solidFill>
                <a:latin typeface="Calibri"/>
              </a:defRPr>
            </a:pPr>
            <a:r>
              <a:t>2</a:t>
            </a:r>
          </a:p>
        </p:txBody>
      </p:sp>
      <p:sp>
        <p:nvSpPr>
          <p:cNvPr id="15" name="TextBox 14"/>
          <p:cNvSpPr txBox="1"/>
          <p:nvPr/>
        </p:nvSpPr>
        <p:spPr>
          <a:xfrm>
            <a:off x="9509760" y="5120640"/>
            <a:ext cx="1828800" cy="365760"/>
          </a:xfrm>
          <a:prstGeom prst="rect">
            <a:avLst/>
          </a:prstGeom>
          <a:noFill/>
        </p:spPr>
        <p:txBody>
          <a:bodyPr wrap="square">
            <a:spAutoFit/>
          </a:bodyPr>
          <a:lstStyle/>
          <a:p>
            <a:pPr algn="ctr">
              <a:defRPr sz="1100" b="1">
                <a:solidFill>
                  <a:srgbClr val="16A34A"/>
                </a:solidFill>
                <a:latin typeface="Calibri"/>
              </a:defRPr>
            </a:pPr>
            <a:r>
              <a:t>LOW</a:t>
            </a:r>
          </a:p>
        </p:txBody>
      </p:sp>
      <p:sp>
        <p:nvSpPr>
          <p:cNvPr id="16" name="TextBox 15"/>
          <p:cNvSpPr txBox="1"/>
          <p:nvPr/>
        </p:nvSpPr>
        <p:spPr>
          <a:xfrm>
            <a:off x="731520" y="6035040"/>
            <a:ext cx="10058400" cy="365760"/>
          </a:xfrm>
          <a:prstGeom prst="rect">
            <a:avLst/>
          </a:prstGeom>
          <a:noFill/>
        </p:spPr>
        <p:txBody>
          <a:bodyPr wrap="square">
            <a:spAutoFit/>
          </a:bodyPr>
          <a:lstStyle/>
          <a:p>
            <a:pPr algn="l">
              <a:defRPr sz="1400" b="1">
                <a:solidFill>
                  <a:srgbClr val="6B7280"/>
                </a:solidFill>
                <a:latin typeface="Calibri"/>
              </a:defRPr>
            </a:pPr>
            <a:r>
              <a:t>Total Findings: 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400" b="1">
                <a:solidFill>
                  <a:srgbClr val="1A1A2E"/>
                </a:solidFill>
                <a:latin typeface="Calibri"/>
              </a:defRPr>
            </a:pPr>
            <a:r>
              <a:t>Findings (1/5)</a:t>
            </a:r>
          </a:p>
        </p:txBody>
      </p:sp>
      <p:sp>
        <p:nvSpPr>
          <p:cNvPr id="3" name="TextBox 2"/>
          <p:cNvSpPr txBox="1"/>
          <p:nvPr/>
        </p:nvSpPr>
        <p:spPr>
          <a:xfrm>
            <a:off x="731520" y="1097280"/>
            <a:ext cx="457200" cy="365760"/>
          </a:xfrm>
          <a:prstGeom prst="rect">
            <a:avLst/>
          </a:prstGeom>
          <a:noFill/>
        </p:spPr>
        <p:txBody>
          <a:bodyPr wrap="square">
            <a:spAutoFit/>
          </a:bodyPr>
          <a:lstStyle/>
          <a:p>
            <a:pPr algn="l">
              <a:defRPr sz="900" b="1">
                <a:solidFill>
                  <a:srgbClr val="6B7280"/>
                </a:solidFill>
                <a:latin typeface="Calibri"/>
              </a:defRPr>
            </a:pPr>
            <a:r>
              <a:t>#</a:t>
            </a:r>
          </a:p>
        </p:txBody>
      </p:sp>
      <p:sp>
        <p:nvSpPr>
          <p:cNvPr id="4" name="TextBox 3"/>
          <p:cNvSpPr txBox="1"/>
          <p:nvPr/>
        </p:nvSpPr>
        <p:spPr>
          <a:xfrm>
            <a:off x="1188720" y="1097280"/>
            <a:ext cx="2011680" cy="365760"/>
          </a:xfrm>
          <a:prstGeom prst="rect">
            <a:avLst/>
          </a:prstGeom>
          <a:noFill/>
        </p:spPr>
        <p:txBody>
          <a:bodyPr wrap="square">
            <a:spAutoFit/>
          </a:bodyPr>
          <a:lstStyle/>
          <a:p>
            <a:pPr algn="l">
              <a:defRPr sz="900" b="1">
                <a:solidFill>
                  <a:srgbClr val="6B7280"/>
                </a:solidFill>
                <a:latin typeface="Calibri"/>
              </a:defRPr>
            </a:pPr>
            <a:r>
              <a:t>Screen</a:t>
            </a:r>
          </a:p>
        </p:txBody>
      </p:sp>
      <p:sp>
        <p:nvSpPr>
          <p:cNvPr id="5" name="TextBox 4"/>
          <p:cNvSpPr txBox="1"/>
          <p:nvPr/>
        </p:nvSpPr>
        <p:spPr>
          <a:xfrm>
            <a:off x="3200400" y="1097280"/>
            <a:ext cx="914400" cy="365760"/>
          </a:xfrm>
          <a:prstGeom prst="rect">
            <a:avLst/>
          </a:prstGeom>
          <a:noFill/>
        </p:spPr>
        <p:txBody>
          <a:bodyPr wrap="square">
            <a:spAutoFit/>
          </a:bodyPr>
          <a:lstStyle/>
          <a:p>
            <a:pPr algn="l">
              <a:defRPr sz="900" b="1">
                <a:solidFill>
                  <a:srgbClr val="6B7280"/>
                </a:solidFill>
                <a:latin typeface="Calibri"/>
              </a:defRPr>
            </a:pPr>
            <a:r>
              <a:t>Severity</a:t>
            </a:r>
          </a:p>
        </p:txBody>
      </p:sp>
      <p:sp>
        <p:nvSpPr>
          <p:cNvPr id="6" name="TextBox 5"/>
          <p:cNvSpPr txBox="1"/>
          <p:nvPr/>
        </p:nvSpPr>
        <p:spPr>
          <a:xfrm>
            <a:off x="4114800" y="1097280"/>
            <a:ext cx="4114800" cy="365760"/>
          </a:xfrm>
          <a:prstGeom prst="rect">
            <a:avLst/>
          </a:prstGeom>
          <a:noFill/>
        </p:spPr>
        <p:txBody>
          <a:bodyPr wrap="square">
            <a:spAutoFit/>
          </a:bodyPr>
          <a:lstStyle/>
          <a:p>
            <a:pPr algn="l">
              <a:defRPr sz="900" b="1">
                <a:solidFill>
                  <a:srgbClr val="6B7280"/>
                </a:solidFill>
                <a:latin typeface="Calibri"/>
              </a:defRPr>
            </a:pPr>
            <a:r>
              <a:t>Finding</a:t>
            </a:r>
          </a:p>
        </p:txBody>
      </p:sp>
      <p:sp>
        <p:nvSpPr>
          <p:cNvPr id="7" name="TextBox 6"/>
          <p:cNvSpPr txBox="1"/>
          <p:nvPr/>
        </p:nvSpPr>
        <p:spPr>
          <a:xfrm>
            <a:off x="8229600" y="1097280"/>
            <a:ext cx="3474720" cy="365760"/>
          </a:xfrm>
          <a:prstGeom prst="rect">
            <a:avLst/>
          </a:prstGeom>
          <a:noFill/>
        </p:spPr>
        <p:txBody>
          <a:bodyPr wrap="square">
            <a:spAutoFit/>
          </a:bodyPr>
          <a:lstStyle/>
          <a:p>
            <a:pPr algn="l">
              <a:defRPr sz="900" b="1">
                <a:solidFill>
                  <a:srgbClr val="6B7280"/>
                </a:solidFill>
                <a:latin typeface="Calibri"/>
              </a:defRPr>
            </a:pPr>
            <a:r>
              <a:t>Recommendation</a:t>
            </a:r>
          </a:p>
        </p:txBody>
      </p:sp>
      <p:sp>
        <p:nvSpPr>
          <p:cNvPr id="8" name="Rectangle 7"/>
          <p:cNvSpPr/>
          <p:nvPr/>
        </p:nvSpPr>
        <p:spPr>
          <a:xfrm>
            <a:off x="731520" y="1508760"/>
            <a:ext cx="73152" cy="10058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2" y="1508760"/>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00200"/>
            <a:ext cx="365760" cy="274320"/>
          </a:xfrm>
          <a:prstGeom prst="rect">
            <a:avLst/>
          </a:prstGeom>
          <a:noFill/>
        </p:spPr>
        <p:txBody>
          <a:bodyPr wrap="square">
            <a:spAutoFit/>
          </a:bodyPr>
          <a:lstStyle/>
          <a:p>
            <a:pPr algn="l">
              <a:defRPr sz="1200" b="1">
                <a:solidFill>
                  <a:srgbClr val="1A1A2E"/>
                </a:solidFill>
                <a:latin typeface="Calibri"/>
              </a:defRPr>
            </a:pPr>
            <a:r>
              <a:t>#1</a:t>
            </a:r>
          </a:p>
        </p:txBody>
      </p:sp>
      <p:sp>
        <p:nvSpPr>
          <p:cNvPr id="11" name="TextBox 10"/>
          <p:cNvSpPr txBox="1"/>
          <p:nvPr/>
        </p:nvSpPr>
        <p:spPr>
          <a:xfrm>
            <a:off x="1371600" y="1600200"/>
            <a:ext cx="1828800" cy="822960"/>
          </a:xfrm>
          <a:prstGeom prst="rect">
            <a:avLst/>
          </a:prstGeom>
          <a:noFill/>
        </p:spPr>
        <p:txBody>
          <a:bodyPr wrap="square">
            <a:spAutoFit/>
          </a:bodyPr>
          <a:lstStyle/>
          <a:p>
            <a:pPr algn="l">
              <a:defRPr sz="1000" b="0">
                <a:solidFill>
                  <a:srgbClr val="374151"/>
                </a:solidFill>
                <a:latin typeface="Calibri"/>
              </a:defRPr>
            </a:pPr>
            <a:r>
              <a:t>T&amp;C Modal</a:t>
            </a:r>
          </a:p>
        </p:txBody>
      </p:sp>
      <p:sp>
        <p:nvSpPr>
          <p:cNvPr id="12" name="Rounded Rectangle 11"/>
          <p:cNvSpPr/>
          <p:nvPr/>
        </p:nvSpPr>
        <p:spPr>
          <a:xfrm>
            <a:off x="3383280" y="1645920"/>
            <a:ext cx="777240" cy="256032"/>
          </a:xfrm>
          <a:prstGeom prst="roundRect">
            <a:avLst>
              <a:gd name="adj" fmla="val 2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CRITICAL</a:t>
            </a:r>
          </a:p>
        </p:txBody>
      </p:sp>
      <p:sp>
        <p:nvSpPr>
          <p:cNvPr id="13" name="TextBox 12"/>
          <p:cNvSpPr txBox="1"/>
          <p:nvPr/>
        </p:nvSpPr>
        <p:spPr>
          <a:xfrm>
            <a:off x="4297680" y="1581912"/>
            <a:ext cx="3931920" cy="868680"/>
          </a:xfrm>
          <a:prstGeom prst="rect">
            <a:avLst/>
          </a:prstGeom>
          <a:noFill/>
        </p:spPr>
        <p:txBody>
          <a:bodyPr wrap="square">
            <a:spAutoFit/>
          </a:bodyPr>
          <a:lstStyle/>
          <a:p>
            <a:pPr algn="l">
              <a:defRPr sz="1100" b="0">
                <a:solidFill>
                  <a:srgbClr val="1A1A2E"/>
                </a:solidFill>
                <a:latin typeface="Calibri"/>
              </a:defRPr>
            </a:pPr>
            <a:r>
              <a:t>Terms &amp; Conditions modal contains Lorem Ipsum placeholder text. Users are asked to click 'Agree' to accept nonsensical Latin text for a regulated financial product.</a:t>
            </a:r>
          </a:p>
        </p:txBody>
      </p:sp>
      <p:sp>
        <p:nvSpPr>
          <p:cNvPr id="14" name="TextBox 13"/>
          <p:cNvSpPr txBox="1"/>
          <p:nvPr/>
        </p:nvSpPr>
        <p:spPr>
          <a:xfrm>
            <a:off x="8412480" y="1581912"/>
            <a:ext cx="3291840" cy="868680"/>
          </a:xfrm>
          <a:prstGeom prst="rect">
            <a:avLst/>
          </a:prstGeom>
          <a:noFill/>
        </p:spPr>
        <p:txBody>
          <a:bodyPr wrap="square">
            <a:spAutoFit/>
          </a:bodyPr>
          <a:lstStyle/>
          <a:p>
            <a:pPr algn="l">
              <a:defRPr sz="1000" b="0">
                <a:solidFill>
                  <a:srgbClr val="6B7280"/>
                </a:solidFill>
                <a:latin typeface="Calibri"/>
              </a:defRPr>
            </a:pPr>
            <a:r>
              <a:t>Replace Lorem Ipsum with actual DCI Terms and Conditions covering: product risks, settlement mechanics, early termination policy, regulatory disclaimers, and dispute resolution.</a:t>
            </a:r>
          </a:p>
        </p:txBody>
      </p:sp>
      <p:sp>
        <p:nvSpPr>
          <p:cNvPr id="15" name="Rectangle 14"/>
          <p:cNvSpPr/>
          <p:nvPr/>
        </p:nvSpPr>
        <p:spPr>
          <a:xfrm>
            <a:off x="731520" y="2587752"/>
            <a:ext cx="73152" cy="10058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4672" y="2587752"/>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2679192"/>
            <a:ext cx="365760" cy="274320"/>
          </a:xfrm>
          <a:prstGeom prst="rect">
            <a:avLst/>
          </a:prstGeom>
          <a:noFill/>
        </p:spPr>
        <p:txBody>
          <a:bodyPr wrap="square">
            <a:spAutoFit/>
          </a:bodyPr>
          <a:lstStyle/>
          <a:p>
            <a:pPr algn="l">
              <a:defRPr sz="1200" b="1">
                <a:solidFill>
                  <a:srgbClr val="1A1A2E"/>
                </a:solidFill>
                <a:latin typeface="Calibri"/>
              </a:defRPr>
            </a:pPr>
            <a:r>
              <a:t>#2</a:t>
            </a:r>
          </a:p>
        </p:txBody>
      </p:sp>
      <p:sp>
        <p:nvSpPr>
          <p:cNvPr id="18" name="TextBox 17"/>
          <p:cNvSpPr txBox="1"/>
          <p:nvPr/>
        </p:nvSpPr>
        <p:spPr>
          <a:xfrm>
            <a:off x="1371600" y="2679192"/>
            <a:ext cx="1828800" cy="822960"/>
          </a:xfrm>
          <a:prstGeom prst="rect">
            <a:avLst/>
          </a:prstGeom>
          <a:noFill/>
        </p:spPr>
        <p:txBody>
          <a:bodyPr wrap="square">
            <a:spAutoFit/>
          </a:bodyPr>
          <a:lstStyle/>
          <a:p>
            <a:pPr algn="l">
              <a:defRPr sz="1000" b="0">
                <a:solidFill>
                  <a:srgbClr val="374151"/>
                </a:solidFill>
                <a:latin typeface="Calibri"/>
              </a:defRPr>
            </a:pPr>
            <a:r>
              <a:t>Investment Parameters / Review</a:t>
            </a:r>
          </a:p>
        </p:txBody>
      </p:sp>
      <p:sp>
        <p:nvSpPr>
          <p:cNvPr id="19" name="Rounded Rectangle 18"/>
          <p:cNvSpPr/>
          <p:nvPr/>
        </p:nvSpPr>
        <p:spPr>
          <a:xfrm>
            <a:off x="3383280" y="2724912"/>
            <a:ext cx="777240" cy="256032"/>
          </a:xfrm>
          <a:prstGeom prst="roundRect">
            <a:avLst>
              <a:gd name="adj" fmla="val 2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CRITICAL</a:t>
            </a:r>
          </a:p>
        </p:txBody>
      </p:sp>
      <p:sp>
        <p:nvSpPr>
          <p:cNvPr id="20" name="TextBox 19"/>
          <p:cNvSpPr txBox="1"/>
          <p:nvPr/>
        </p:nvSpPr>
        <p:spPr>
          <a:xfrm>
            <a:off x="4297680" y="2660904"/>
            <a:ext cx="3931920" cy="868680"/>
          </a:xfrm>
          <a:prstGeom prst="rect">
            <a:avLst/>
          </a:prstGeom>
          <a:noFill/>
        </p:spPr>
        <p:txBody>
          <a:bodyPr wrap="square">
            <a:spAutoFit/>
          </a:bodyPr>
          <a:lstStyle/>
          <a:p>
            <a:pPr algn="l">
              <a:defRPr sz="1100" b="0">
                <a:solidFill>
                  <a:srgbClr val="1A1A2E"/>
                </a:solidFill>
                <a:latin typeface="Calibri"/>
              </a:defRPr>
            </a:pPr>
            <a:r>
              <a:t>No explicit risk warning or risk acknowledgment anywhere in the investment placement flow (Steps 1-4). The only risk information is buried in an FAQ accordion on the landing page. Users can commit $200,000 USD without ever being shown that they may receive a different currency at maturity.</a:t>
            </a:r>
          </a:p>
        </p:txBody>
      </p:sp>
      <p:sp>
        <p:nvSpPr>
          <p:cNvPr id="21" name="TextBox 20"/>
          <p:cNvSpPr txBox="1"/>
          <p:nvPr/>
        </p:nvSpPr>
        <p:spPr>
          <a:xfrm>
            <a:off x="8412480" y="2660904"/>
            <a:ext cx="3291840" cy="868680"/>
          </a:xfrm>
          <a:prstGeom prst="rect">
            <a:avLst/>
          </a:prstGeom>
          <a:noFill/>
        </p:spPr>
        <p:txBody>
          <a:bodyPr wrap="square">
            <a:spAutoFit/>
          </a:bodyPr>
          <a:lstStyle/>
          <a:p>
            <a:pPr algn="l">
              <a:defRPr sz="1000" b="0">
                <a:solidFill>
                  <a:srgbClr val="6B7280"/>
                </a:solidFill>
                <a:latin typeface="Calibri"/>
              </a:defRPr>
            </a:pPr>
            <a:r>
              <a:t>Add a dedicated risk disclosure panel on the Review screen (before Submit) with: (1) explicit statement 'You may receive the Alternate Currency if the fixing rate is below the strike price at expiry', (2) a mandatory risk acknowledgment checkbox, (3) link to Key Fact Sheet/term sheet.</a:t>
            </a:r>
          </a:p>
        </p:txBody>
      </p:sp>
      <p:sp>
        <p:nvSpPr>
          <p:cNvPr id="22" name="Rectangle 21"/>
          <p:cNvSpPr/>
          <p:nvPr/>
        </p:nvSpPr>
        <p:spPr>
          <a:xfrm>
            <a:off x="731520" y="3666744"/>
            <a:ext cx="73152" cy="10058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666744"/>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758184"/>
            <a:ext cx="365760" cy="274320"/>
          </a:xfrm>
          <a:prstGeom prst="rect">
            <a:avLst/>
          </a:prstGeom>
          <a:noFill/>
        </p:spPr>
        <p:txBody>
          <a:bodyPr wrap="square">
            <a:spAutoFit/>
          </a:bodyPr>
          <a:lstStyle/>
          <a:p>
            <a:pPr algn="l">
              <a:defRPr sz="1200" b="1">
                <a:solidFill>
                  <a:srgbClr val="1A1A2E"/>
                </a:solidFill>
                <a:latin typeface="Calibri"/>
              </a:defRPr>
            </a:pPr>
            <a:r>
              <a:t>#3</a:t>
            </a:r>
          </a:p>
        </p:txBody>
      </p:sp>
      <p:sp>
        <p:nvSpPr>
          <p:cNvPr id="25" name="TextBox 24"/>
          <p:cNvSpPr txBox="1"/>
          <p:nvPr/>
        </p:nvSpPr>
        <p:spPr>
          <a:xfrm>
            <a:off x="1371600" y="3758184"/>
            <a:ext cx="1828800" cy="822960"/>
          </a:xfrm>
          <a:prstGeom prst="rect">
            <a:avLst/>
          </a:prstGeom>
          <a:noFill/>
        </p:spPr>
        <p:txBody>
          <a:bodyPr wrap="square">
            <a:spAutoFit/>
          </a:bodyPr>
          <a:lstStyle/>
          <a:p>
            <a:pPr algn="l">
              <a:defRPr sz="1000" b="0">
                <a:solidFill>
                  <a:srgbClr val="374151"/>
                </a:solidFill>
                <a:latin typeface="Calibri"/>
              </a:defRPr>
            </a:pPr>
            <a:r>
              <a:t>Investment Parameters (fully configured)</a:t>
            </a:r>
          </a:p>
        </p:txBody>
      </p:sp>
      <p:sp>
        <p:nvSpPr>
          <p:cNvPr id="26" name="Rounded Rectangle 25"/>
          <p:cNvSpPr/>
          <p:nvPr/>
        </p:nvSpPr>
        <p:spPr>
          <a:xfrm>
            <a:off x="3383280" y="3803904"/>
            <a:ext cx="777240" cy="256032"/>
          </a:xfrm>
          <a:prstGeom prst="roundRect">
            <a:avLst>
              <a:gd name="adj" fmla="val 2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CRITICAL</a:t>
            </a:r>
          </a:p>
        </p:txBody>
      </p:sp>
      <p:sp>
        <p:nvSpPr>
          <p:cNvPr id="27" name="TextBox 26"/>
          <p:cNvSpPr txBox="1"/>
          <p:nvPr/>
        </p:nvSpPr>
        <p:spPr>
          <a:xfrm>
            <a:off x="4297680" y="3739896"/>
            <a:ext cx="3931920" cy="868680"/>
          </a:xfrm>
          <a:prstGeom prst="rect">
            <a:avLst/>
          </a:prstGeom>
          <a:noFill/>
        </p:spPr>
        <p:txBody>
          <a:bodyPr wrap="square">
            <a:spAutoFit/>
          </a:bodyPr>
          <a:lstStyle/>
          <a:p>
            <a:pPr algn="l">
              <a:defRPr sz="1100" b="0">
                <a:solidFill>
                  <a:srgbClr val="1A1A2E"/>
                </a:solidFill>
                <a:latin typeface="Calibri"/>
              </a:defRPr>
            </a:pPr>
            <a:r>
              <a:t>Scenario B (Alternate Currency settlement) does not show the equivalent value in the base currency. User sees '257,000.00 SGD' but cannot tell if this represents a gain or loss compared to their 200,000 USD investment. The actual USD-equivalent loss is hidden.</a:t>
            </a:r>
          </a:p>
        </p:txBody>
      </p:sp>
      <p:sp>
        <p:nvSpPr>
          <p:cNvPr id="28" name="TextBox 27"/>
          <p:cNvSpPr txBox="1"/>
          <p:nvPr/>
        </p:nvSpPr>
        <p:spPr>
          <a:xfrm>
            <a:off x="8412480" y="3739896"/>
            <a:ext cx="3291840" cy="868680"/>
          </a:xfrm>
          <a:prstGeom prst="rect">
            <a:avLst/>
          </a:prstGeom>
          <a:noFill/>
        </p:spPr>
        <p:txBody>
          <a:bodyPr wrap="square">
            <a:spAutoFit/>
          </a:bodyPr>
          <a:lstStyle/>
          <a:p>
            <a:pPr algn="l">
              <a:defRPr sz="1000" b="0">
                <a:solidFill>
                  <a:srgbClr val="6B7280"/>
                </a:solidFill>
                <a:latin typeface="Calibri"/>
              </a:defRPr>
            </a:pPr>
            <a:r>
              <a:t>Add a line to Scenario B showing the base-currency equivalent: 'Equivalent to ~196,923 USD (based on current spot rate)' with red text if it represents a loss. Also add a clear label: 'This scenario means you receive SGD instead of your original USD.'</a:t>
            </a:r>
          </a:p>
        </p:txBody>
      </p:sp>
      <p:sp>
        <p:nvSpPr>
          <p:cNvPr id="29" name="Rectangle 28"/>
          <p:cNvSpPr/>
          <p:nvPr/>
        </p:nvSpPr>
        <p:spPr>
          <a:xfrm>
            <a:off x="731520" y="4745736"/>
            <a:ext cx="73152" cy="10058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04672" y="4745736"/>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837176"/>
            <a:ext cx="365760" cy="274320"/>
          </a:xfrm>
          <a:prstGeom prst="rect">
            <a:avLst/>
          </a:prstGeom>
          <a:noFill/>
        </p:spPr>
        <p:txBody>
          <a:bodyPr wrap="square">
            <a:spAutoFit/>
          </a:bodyPr>
          <a:lstStyle/>
          <a:p>
            <a:pPr algn="l">
              <a:defRPr sz="1200" b="1">
                <a:solidFill>
                  <a:srgbClr val="1A1A2E"/>
                </a:solidFill>
                <a:latin typeface="Calibri"/>
              </a:defRPr>
            </a:pPr>
            <a:r>
              <a:t>#4</a:t>
            </a:r>
          </a:p>
        </p:txBody>
      </p:sp>
      <p:sp>
        <p:nvSpPr>
          <p:cNvPr id="32" name="TextBox 31"/>
          <p:cNvSpPr txBox="1"/>
          <p:nvPr/>
        </p:nvSpPr>
        <p:spPr>
          <a:xfrm>
            <a:off x="1371600" y="4837176"/>
            <a:ext cx="1828800" cy="822960"/>
          </a:xfrm>
          <a:prstGeom prst="rect">
            <a:avLst/>
          </a:prstGeom>
          <a:noFill/>
        </p:spPr>
        <p:txBody>
          <a:bodyPr wrap="square">
            <a:spAutoFit/>
          </a:bodyPr>
          <a:lstStyle/>
          <a:p>
            <a:pPr algn="l">
              <a:defRPr sz="1000" b="0">
                <a:solidFill>
                  <a:srgbClr val="374151"/>
                </a:solidFill>
                <a:latin typeface="Calibri"/>
              </a:defRPr>
            </a:pPr>
            <a:r>
              <a:t>All screens with forms and text</a:t>
            </a:r>
          </a:p>
        </p:txBody>
      </p:sp>
      <p:sp>
        <p:nvSpPr>
          <p:cNvPr id="33" name="Rounded Rectangle 32"/>
          <p:cNvSpPr/>
          <p:nvPr/>
        </p:nvSpPr>
        <p:spPr>
          <a:xfrm>
            <a:off x="3383280" y="4882896"/>
            <a:ext cx="777240" cy="256032"/>
          </a:xfrm>
          <a:prstGeom prst="roundRect">
            <a:avLst>
              <a:gd name="adj" fmla="val 2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CRITICAL</a:t>
            </a:r>
          </a:p>
        </p:txBody>
      </p:sp>
      <p:sp>
        <p:nvSpPr>
          <p:cNvPr id="34" name="TextBox 33"/>
          <p:cNvSpPr txBox="1"/>
          <p:nvPr/>
        </p:nvSpPr>
        <p:spPr>
          <a:xfrm>
            <a:off x="4297680" y="4818888"/>
            <a:ext cx="3931920" cy="868680"/>
          </a:xfrm>
          <a:prstGeom prst="rect">
            <a:avLst/>
          </a:prstGeom>
          <a:noFill/>
        </p:spPr>
        <p:txBody>
          <a:bodyPr wrap="square">
            <a:spAutoFit/>
          </a:bodyPr>
          <a:lstStyle/>
          <a:p>
            <a:pPr algn="l">
              <a:defRPr sz="1100" b="0">
                <a:solidFill>
                  <a:srgbClr val="1A1A2E"/>
                </a:solidFill>
                <a:latin typeface="Calibri"/>
              </a:defRPr>
            </a:pPr>
            <a:r>
              <a:t>9 distinct WCAG AA contrast failures identified: helper/description text (~2.8:1), 'Expiring Soon' badge (~3.0:1), table column headers (~2.8:1), 'indicative yield'/'from spot' labels (~2.8:1), form placeholders (~2.3:1), footer text (~2.8:1), timestamp text (~2.3:1), 'Alternate Currency' badge (~4.0:1). Required: 4.5:1 for normal text.</a:t>
            </a:r>
          </a:p>
        </p:txBody>
      </p:sp>
      <p:sp>
        <p:nvSpPr>
          <p:cNvPr id="35" name="TextBox 34"/>
          <p:cNvSpPr txBox="1"/>
          <p:nvPr/>
        </p:nvSpPr>
        <p:spPr>
          <a:xfrm>
            <a:off x="8412480" y="4818888"/>
            <a:ext cx="3291840" cy="868680"/>
          </a:xfrm>
          <a:prstGeom prst="rect">
            <a:avLst/>
          </a:prstGeom>
          <a:noFill/>
        </p:spPr>
        <p:txBody>
          <a:bodyPr wrap="square">
            <a:spAutoFit/>
          </a:bodyPr>
          <a:lstStyle/>
          <a:p>
            <a:pPr algn="l">
              <a:defRPr sz="1000" b="0">
                <a:solidFill>
                  <a:srgbClr val="6B7280"/>
                </a:solidFill>
                <a:latin typeface="Calibri"/>
              </a:defRPr>
            </a:pPr>
            <a:r>
              <a:t>Increase all secondary text to minimum #595959 on white backgrounds (4.5:1). Status badges should use darker background colors or larger text. Conduct a full color audit using a contrast checker tool.</a:t>
            </a:r>
          </a:p>
        </p:txBody>
      </p:sp>
      <p:sp>
        <p:nvSpPr>
          <p:cNvPr id="36" name="Rectangle 35"/>
          <p:cNvSpPr/>
          <p:nvPr/>
        </p:nvSpPr>
        <p:spPr>
          <a:xfrm>
            <a:off x="731520" y="5824728"/>
            <a:ext cx="73152" cy="10058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04672" y="5824728"/>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916168"/>
            <a:ext cx="365760" cy="274320"/>
          </a:xfrm>
          <a:prstGeom prst="rect">
            <a:avLst/>
          </a:prstGeom>
          <a:noFill/>
        </p:spPr>
        <p:txBody>
          <a:bodyPr wrap="square">
            <a:spAutoFit/>
          </a:bodyPr>
          <a:lstStyle/>
          <a:p>
            <a:pPr algn="l">
              <a:defRPr sz="1200" b="1">
                <a:solidFill>
                  <a:srgbClr val="1A1A2E"/>
                </a:solidFill>
                <a:latin typeface="Calibri"/>
              </a:defRPr>
            </a:pPr>
            <a:r>
              <a:t>#5</a:t>
            </a:r>
          </a:p>
        </p:txBody>
      </p:sp>
      <p:sp>
        <p:nvSpPr>
          <p:cNvPr id="39" name="TextBox 38"/>
          <p:cNvSpPr txBox="1"/>
          <p:nvPr/>
        </p:nvSpPr>
        <p:spPr>
          <a:xfrm>
            <a:off x="1371600" y="5916168"/>
            <a:ext cx="1828800" cy="822960"/>
          </a:xfrm>
          <a:prstGeom prst="rect">
            <a:avLst/>
          </a:prstGeom>
          <a:noFill/>
        </p:spPr>
        <p:txBody>
          <a:bodyPr wrap="square">
            <a:spAutoFit/>
          </a:bodyPr>
          <a:lstStyle/>
          <a:p>
            <a:pPr algn="l">
              <a:defRPr sz="1000" b="0">
                <a:solidFill>
                  <a:srgbClr val="374151"/>
                </a:solidFill>
                <a:latin typeface="Calibri"/>
              </a:defRPr>
            </a:pPr>
            <a:r>
              <a:t>All screens</a:t>
            </a:r>
          </a:p>
        </p:txBody>
      </p:sp>
      <p:sp>
        <p:nvSpPr>
          <p:cNvPr id="40" name="Rounded Rectangle 39"/>
          <p:cNvSpPr/>
          <p:nvPr/>
        </p:nvSpPr>
        <p:spPr>
          <a:xfrm>
            <a:off x="3383280" y="5961888"/>
            <a:ext cx="777240" cy="256032"/>
          </a:xfrm>
          <a:prstGeom prst="roundRect">
            <a:avLst>
              <a:gd name="adj" fmla="val 2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CRITICAL</a:t>
            </a:r>
          </a:p>
        </p:txBody>
      </p:sp>
      <p:sp>
        <p:nvSpPr>
          <p:cNvPr id="41" name="TextBox 40"/>
          <p:cNvSpPr txBox="1"/>
          <p:nvPr/>
        </p:nvSpPr>
        <p:spPr>
          <a:xfrm>
            <a:off x="4297680" y="5897880"/>
            <a:ext cx="3931920" cy="868680"/>
          </a:xfrm>
          <a:prstGeom prst="rect">
            <a:avLst/>
          </a:prstGeom>
          <a:noFill/>
        </p:spPr>
        <p:txBody>
          <a:bodyPr wrap="square">
            <a:spAutoFit/>
          </a:bodyPr>
          <a:lstStyle/>
          <a:p>
            <a:pPr algn="l">
              <a:defRPr sz="1100" b="0">
                <a:solidFill>
                  <a:srgbClr val="1A1A2E"/>
                </a:solidFill>
                <a:latin typeface="Calibri"/>
              </a:defRPr>
            </a:pPr>
            <a:r>
              <a:t>Zero keyboard focus indicators are designed across all 29 screens. No focus rings on buttons, inputs, dropdowns, radio buttons, links, tabs, or modals. WCAG 2.4.7 (Focus Visible) is completely unmet.</a:t>
            </a:r>
          </a:p>
        </p:txBody>
      </p:sp>
      <p:sp>
        <p:nvSpPr>
          <p:cNvPr id="42" name="TextBox 41"/>
          <p:cNvSpPr txBox="1"/>
          <p:nvPr/>
        </p:nvSpPr>
        <p:spPr>
          <a:xfrm>
            <a:off x="8412480" y="5897880"/>
            <a:ext cx="3291840" cy="868680"/>
          </a:xfrm>
          <a:prstGeom prst="rect">
            <a:avLst/>
          </a:prstGeom>
          <a:noFill/>
        </p:spPr>
        <p:txBody>
          <a:bodyPr wrap="square">
            <a:spAutoFit/>
          </a:bodyPr>
          <a:lstStyle/>
          <a:p>
            <a:pPr algn="l">
              <a:defRPr sz="1000" b="0">
                <a:solidFill>
                  <a:srgbClr val="6B7280"/>
                </a:solidFill>
                <a:latin typeface="Calibri"/>
              </a:defRPr>
            </a:pPr>
            <a:r>
              <a:t>Add a 2px offset focus ring (e.g., blue #2563EB) to all interactive elements. Define focus order for the multi-step flow. Ensure the T&amp;C modal traps focus correctly.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400" b="1">
                <a:solidFill>
                  <a:srgbClr val="1A1A2E"/>
                </a:solidFill>
                <a:latin typeface="Calibri"/>
              </a:defRPr>
            </a:pPr>
            <a:r>
              <a:t>Findings (2/5)</a:t>
            </a:r>
          </a:p>
        </p:txBody>
      </p:sp>
      <p:sp>
        <p:nvSpPr>
          <p:cNvPr id="3" name="TextBox 2"/>
          <p:cNvSpPr txBox="1"/>
          <p:nvPr/>
        </p:nvSpPr>
        <p:spPr>
          <a:xfrm>
            <a:off x="731520" y="1097280"/>
            <a:ext cx="457200" cy="365760"/>
          </a:xfrm>
          <a:prstGeom prst="rect">
            <a:avLst/>
          </a:prstGeom>
          <a:noFill/>
        </p:spPr>
        <p:txBody>
          <a:bodyPr wrap="square">
            <a:spAutoFit/>
          </a:bodyPr>
          <a:lstStyle/>
          <a:p>
            <a:pPr algn="l">
              <a:defRPr sz="900" b="1">
                <a:solidFill>
                  <a:srgbClr val="6B7280"/>
                </a:solidFill>
                <a:latin typeface="Calibri"/>
              </a:defRPr>
            </a:pPr>
            <a:r>
              <a:t>#</a:t>
            </a:r>
          </a:p>
        </p:txBody>
      </p:sp>
      <p:sp>
        <p:nvSpPr>
          <p:cNvPr id="4" name="TextBox 3"/>
          <p:cNvSpPr txBox="1"/>
          <p:nvPr/>
        </p:nvSpPr>
        <p:spPr>
          <a:xfrm>
            <a:off x="1188720" y="1097280"/>
            <a:ext cx="2011680" cy="365760"/>
          </a:xfrm>
          <a:prstGeom prst="rect">
            <a:avLst/>
          </a:prstGeom>
          <a:noFill/>
        </p:spPr>
        <p:txBody>
          <a:bodyPr wrap="square">
            <a:spAutoFit/>
          </a:bodyPr>
          <a:lstStyle/>
          <a:p>
            <a:pPr algn="l">
              <a:defRPr sz="900" b="1">
                <a:solidFill>
                  <a:srgbClr val="6B7280"/>
                </a:solidFill>
                <a:latin typeface="Calibri"/>
              </a:defRPr>
            </a:pPr>
            <a:r>
              <a:t>Screen</a:t>
            </a:r>
          </a:p>
        </p:txBody>
      </p:sp>
      <p:sp>
        <p:nvSpPr>
          <p:cNvPr id="5" name="TextBox 4"/>
          <p:cNvSpPr txBox="1"/>
          <p:nvPr/>
        </p:nvSpPr>
        <p:spPr>
          <a:xfrm>
            <a:off x="3200400" y="1097280"/>
            <a:ext cx="914400" cy="365760"/>
          </a:xfrm>
          <a:prstGeom prst="rect">
            <a:avLst/>
          </a:prstGeom>
          <a:noFill/>
        </p:spPr>
        <p:txBody>
          <a:bodyPr wrap="square">
            <a:spAutoFit/>
          </a:bodyPr>
          <a:lstStyle/>
          <a:p>
            <a:pPr algn="l">
              <a:defRPr sz="900" b="1">
                <a:solidFill>
                  <a:srgbClr val="6B7280"/>
                </a:solidFill>
                <a:latin typeface="Calibri"/>
              </a:defRPr>
            </a:pPr>
            <a:r>
              <a:t>Severity</a:t>
            </a:r>
          </a:p>
        </p:txBody>
      </p:sp>
      <p:sp>
        <p:nvSpPr>
          <p:cNvPr id="6" name="TextBox 5"/>
          <p:cNvSpPr txBox="1"/>
          <p:nvPr/>
        </p:nvSpPr>
        <p:spPr>
          <a:xfrm>
            <a:off x="4114800" y="1097280"/>
            <a:ext cx="4114800" cy="365760"/>
          </a:xfrm>
          <a:prstGeom prst="rect">
            <a:avLst/>
          </a:prstGeom>
          <a:noFill/>
        </p:spPr>
        <p:txBody>
          <a:bodyPr wrap="square">
            <a:spAutoFit/>
          </a:bodyPr>
          <a:lstStyle/>
          <a:p>
            <a:pPr algn="l">
              <a:defRPr sz="900" b="1">
                <a:solidFill>
                  <a:srgbClr val="6B7280"/>
                </a:solidFill>
                <a:latin typeface="Calibri"/>
              </a:defRPr>
            </a:pPr>
            <a:r>
              <a:t>Finding</a:t>
            </a:r>
          </a:p>
        </p:txBody>
      </p:sp>
      <p:sp>
        <p:nvSpPr>
          <p:cNvPr id="7" name="TextBox 6"/>
          <p:cNvSpPr txBox="1"/>
          <p:nvPr/>
        </p:nvSpPr>
        <p:spPr>
          <a:xfrm>
            <a:off x="8229600" y="1097280"/>
            <a:ext cx="3474720" cy="365760"/>
          </a:xfrm>
          <a:prstGeom prst="rect">
            <a:avLst/>
          </a:prstGeom>
          <a:noFill/>
        </p:spPr>
        <p:txBody>
          <a:bodyPr wrap="square">
            <a:spAutoFit/>
          </a:bodyPr>
          <a:lstStyle/>
          <a:p>
            <a:pPr algn="l">
              <a:defRPr sz="900" b="1">
                <a:solidFill>
                  <a:srgbClr val="6B7280"/>
                </a:solidFill>
                <a:latin typeface="Calibri"/>
              </a:defRPr>
            </a:pPr>
            <a:r>
              <a:t>Recommendation</a:t>
            </a:r>
          </a:p>
        </p:txBody>
      </p:sp>
      <p:sp>
        <p:nvSpPr>
          <p:cNvPr id="8" name="Rectangle 7"/>
          <p:cNvSpPr/>
          <p:nvPr/>
        </p:nvSpPr>
        <p:spPr>
          <a:xfrm>
            <a:off x="731520" y="1508760"/>
            <a:ext cx="73152"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2" y="1508760"/>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00200"/>
            <a:ext cx="365760" cy="274320"/>
          </a:xfrm>
          <a:prstGeom prst="rect">
            <a:avLst/>
          </a:prstGeom>
          <a:noFill/>
        </p:spPr>
        <p:txBody>
          <a:bodyPr wrap="square">
            <a:spAutoFit/>
          </a:bodyPr>
          <a:lstStyle/>
          <a:p>
            <a:pPr algn="l">
              <a:defRPr sz="1200" b="1">
                <a:solidFill>
                  <a:srgbClr val="1A1A2E"/>
                </a:solidFill>
                <a:latin typeface="Calibri"/>
              </a:defRPr>
            </a:pPr>
            <a:r>
              <a:t>#6</a:t>
            </a:r>
          </a:p>
        </p:txBody>
      </p:sp>
      <p:sp>
        <p:nvSpPr>
          <p:cNvPr id="11" name="TextBox 10"/>
          <p:cNvSpPr txBox="1"/>
          <p:nvPr/>
        </p:nvSpPr>
        <p:spPr>
          <a:xfrm>
            <a:off x="1371600" y="1600200"/>
            <a:ext cx="1828800" cy="822960"/>
          </a:xfrm>
          <a:prstGeom prst="rect">
            <a:avLst/>
          </a:prstGeom>
          <a:noFill/>
        </p:spPr>
        <p:txBody>
          <a:bodyPr wrap="square">
            <a:spAutoFit/>
          </a:bodyPr>
          <a:lstStyle/>
          <a:p>
            <a:pPr algn="l">
              <a:defRPr sz="1000" b="0">
                <a:solidFill>
                  <a:srgbClr val="374151"/>
                </a:solidFill>
                <a:latin typeface="Calibri"/>
              </a:defRPr>
            </a:pPr>
            <a:r>
              <a:t>Reinvest Step 1 (Strike NOT Met)</a:t>
            </a:r>
          </a:p>
        </p:txBody>
      </p:sp>
      <p:sp>
        <p:nvSpPr>
          <p:cNvPr id="12" name="Rounded Rectangle 11"/>
          <p:cNvSpPr/>
          <p:nvPr/>
        </p:nvSpPr>
        <p:spPr>
          <a:xfrm>
            <a:off x="3383280" y="1645920"/>
            <a:ext cx="77724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HIGH</a:t>
            </a:r>
          </a:p>
        </p:txBody>
      </p:sp>
      <p:sp>
        <p:nvSpPr>
          <p:cNvPr id="13" name="TextBox 12"/>
          <p:cNvSpPr txBox="1"/>
          <p:nvPr/>
        </p:nvSpPr>
        <p:spPr>
          <a:xfrm>
            <a:off x="4297680" y="1581912"/>
            <a:ext cx="3931920" cy="868680"/>
          </a:xfrm>
          <a:prstGeom prst="rect">
            <a:avLst/>
          </a:prstGeom>
          <a:noFill/>
        </p:spPr>
        <p:txBody>
          <a:bodyPr wrap="square">
            <a:spAutoFit/>
          </a:bodyPr>
          <a:lstStyle/>
          <a:p>
            <a:pPr algn="l">
              <a:defRPr sz="1100" b="0">
                <a:solidFill>
                  <a:srgbClr val="1A1A2E"/>
                </a:solidFill>
                <a:latin typeface="Calibri"/>
              </a:defRPr>
            </a:pPr>
            <a:r>
              <a:t>After 'Strike Price Not Met' settlement (user received SGD instead of USD), the reinvestment flow silently swaps the currency pair from USD/SGD to SGD/EUR with no explanation. The investment amount changes from USD to SGD. User may not understand why the base currency changed.</a:t>
            </a:r>
          </a:p>
        </p:txBody>
      </p:sp>
      <p:sp>
        <p:nvSpPr>
          <p:cNvPr id="14" name="TextBox 13"/>
          <p:cNvSpPr txBox="1"/>
          <p:nvPr/>
        </p:nvSpPr>
        <p:spPr>
          <a:xfrm>
            <a:off x="8412480" y="1581912"/>
            <a:ext cx="3291840" cy="868680"/>
          </a:xfrm>
          <a:prstGeom prst="rect">
            <a:avLst/>
          </a:prstGeom>
          <a:noFill/>
        </p:spPr>
        <p:txBody>
          <a:bodyPr wrap="square">
            <a:spAutoFit/>
          </a:bodyPr>
          <a:lstStyle/>
          <a:p>
            <a:pPr algn="l">
              <a:defRPr sz="1000" b="0">
                <a:solidFill>
                  <a:srgbClr val="6B7280"/>
                </a:solidFill>
                <a:latin typeface="Calibri"/>
              </a:defRPr>
            </a:pPr>
            <a:r>
              <a:t>Add an explanatory banner at the top of the reinvest screen: 'Your previous investment settled in SGD (Alternate Currency). You are now reinvesting your SGD proceeds.' Offer an option to convert back to the original base currency before reinvesting.</a:t>
            </a:r>
          </a:p>
        </p:txBody>
      </p:sp>
      <p:sp>
        <p:nvSpPr>
          <p:cNvPr id="15" name="Rectangle 14"/>
          <p:cNvSpPr/>
          <p:nvPr/>
        </p:nvSpPr>
        <p:spPr>
          <a:xfrm>
            <a:off x="731520" y="2587752"/>
            <a:ext cx="73152"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4672" y="2587752"/>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2679192"/>
            <a:ext cx="365760" cy="274320"/>
          </a:xfrm>
          <a:prstGeom prst="rect">
            <a:avLst/>
          </a:prstGeom>
          <a:noFill/>
        </p:spPr>
        <p:txBody>
          <a:bodyPr wrap="square">
            <a:spAutoFit/>
          </a:bodyPr>
          <a:lstStyle/>
          <a:p>
            <a:pPr algn="l">
              <a:defRPr sz="1200" b="1">
                <a:solidFill>
                  <a:srgbClr val="1A1A2E"/>
                </a:solidFill>
                <a:latin typeface="Calibri"/>
              </a:defRPr>
            </a:pPr>
            <a:r>
              <a:t>#7</a:t>
            </a:r>
          </a:p>
        </p:txBody>
      </p:sp>
      <p:sp>
        <p:nvSpPr>
          <p:cNvPr id="18" name="TextBox 17"/>
          <p:cNvSpPr txBox="1"/>
          <p:nvPr/>
        </p:nvSpPr>
        <p:spPr>
          <a:xfrm>
            <a:off x="1371600" y="2679192"/>
            <a:ext cx="1828800" cy="822960"/>
          </a:xfrm>
          <a:prstGeom prst="rect">
            <a:avLst/>
          </a:prstGeom>
          <a:noFill/>
        </p:spPr>
        <p:txBody>
          <a:bodyPr wrap="square">
            <a:spAutoFit/>
          </a:bodyPr>
          <a:lstStyle/>
          <a:p>
            <a:pPr algn="l">
              <a:defRPr sz="1000" b="0">
                <a:solidFill>
                  <a:srgbClr val="374151"/>
                </a:solidFill>
                <a:latin typeface="Calibri"/>
              </a:defRPr>
            </a:pPr>
            <a:r>
              <a:t>All screens</a:t>
            </a:r>
          </a:p>
        </p:txBody>
      </p:sp>
      <p:sp>
        <p:nvSpPr>
          <p:cNvPr id="19" name="Rounded Rectangle 18"/>
          <p:cNvSpPr/>
          <p:nvPr/>
        </p:nvSpPr>
        <p:spPr>
          <a:xfrm>
            <a:off x="3383280" y="2724912"/>
            <a:ext cx="77724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HIGH</a:t>
            </a:r>
          </a:p>
        </p:txBody>
      </p:sp>
      <p:sp>
        <p:nvSpPr>
          <p:cNvPr id="20" name="TextBox 19"/>
          <p:cNvSpPr txBox="1"/>
          <p:nvPr/>
        </p:nvSpPr>
        <p:spPr>
          <a:xfrm>
            <a:off x="4297680" y="2660904"/>
            <a:ext cx="3931920" cy="868680"/>
          </a:xfrm>
          <a:prstGeom prst="rect">
            <a:avLst/>
          </a:prstGeom>
          <a:noFill/>
        </p:spPr>
        <p:txBody>
          <a:bodyPr wrap="square">
            <a:spAutoFit/>
          </a:bodyPr>
          <a:lstStyle/>
          <a:p>
            <a:pPr algn="l">
              <a:defRPr sz="1100" b="0">
                <a:solidFill>
                  <a:srgbClr val="1A1A2E"/>
                </a:solidFill>
                <a:latin typeface="Calibri"/>
              </a:defRPr>
            </a:pPr>
            <a:r>
              <a:t>Three different navigation bar configurations appear across the DCI flow: (A) 'FX and Investment' during placement, (B) 'Trade finance' on the MCA prerequisite screen with different casing, (C) 'FX and Treasury' on investment detail screens. Users cannot form a consistent mental model of where they are.</a:t>
            </a:r>
          </a:p>
        </p:txBody>
      </p:sp>
      <p:sp>
        <p:nvSpPr>
          <p:cNvPr id="21" name="TextBox 20"/>
          <p:cNvSpPr txBox="1"/>
          <p:nvPr/>
        </p:nvSpPr>
        <p:spPr>
          <a:xfrm>
            <a:off x="8412480" y="2660904"/>
            <a:ext cx="3291840" cy="868680"/>
          </a:xfrm>
          <a:prstGeom prst="rect">
            <a:avLst/>
          </a:prstGeom>
          <a:noFill/>
        </p:spPr>
        <p:txBody>
          <a:bodyPr wrap="square">
            <a:spAutoFit/>
          </a:bodyPr>
          <a:lstStyle/>
          <a:p>
            <a:pPr algn="l">
              <a:defRPr sz="1000" b="0">
                <a:solidFill>
                  <a:srgbClr val="6B7280"/>
                </a:solidFill>
                <a:latin typeface="Calibri"/>
              </a:defRPr>
            </a:pPr>
            <a:r>
              <a:t>Standardise on one navigation label (recommend 'FX and Investment') across ALL DCI-related screens. Ensure consistent casing and active-state styling.</a:t>
            </a:r>
          </a:p>
        </p:txBody>
      </p:sp>
      <p:sp>
        <p:nvSpPr>
          <p:cNvPr id="22" name="Rectangle 21"/>
          <p:cNvSpPr/>
          <p:nvPr/>
        </p:nvSpPr>
        <p:spPr>
          <a:xfrm>
            <a:off x="731520" y="3666744"/>
            <a:ext cx="73152"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666744"/>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758184"/>
            <a:ext cx="365760" cy="274320"/>
          </a:xfrm>
          <a:prstGeom prst="rect">
            <a:avLst/>
          </a:prstGeom>
          <a:noFill/>
        </p:spPr>
        <p:txBody>
          <a:bodyPr wrap="square">
            <a:spAutoFit/>
          </a:bodyPr>
          <a:lstStyle/>
          <a:p>
            <a:pPr algn="l">
              <a:defRPr sz="1200" b="1">
                <a:solidFill>
                  <a:srgbClr val="1A1A2E"/>
                </a:solidFill>
                <a:latin typeface="Calibri"/>
              </a:defRPr>
            </a:pPr>
            <a:r>
              <a:t>#8</a:t>
            </a:r>
          </a:p>
        </p:txBody>
      </p:sp>
      <p:sp>
        <p:nvSpPr>
          <p:cNvPr id="25" name="TextBox 24"/>
          <p:cNvSpPr txBox="1"/>
          <p:nvPr/>
        </p:nvSpPr>
        <p:spPr>
          <a:xfrm>
            <a:off x="1371600" y="3758184"/>
            <a:ext cx="1828800" cy="822960"/>
          </a:xfrm>
          <a:prstGeom prst="rect">
            <a:avLst/>
          </a:prstGeom>
          <a:noFill/>
        </p:spPr>
        <p:txBody>
          <a:bodyPr wrap="square">
            <a:spAutoFit/>
          </a:bodyPr>
          <a:lstStyle/>
          <a:p>
            <a:pPr algn="l">
              <a:defRPr sz="1000" b="0">
                <a:solidFill>
                  <a:srgbClr val="374151"/>
                </a:solidFill>
                <a:latin typeface="Calibri"/>
              </a:defRPr>
            </a:pPr>
            <a:r>
              <a:t>Investment Parameters / Review</a:t>
            </a:r>
          </a:p>
        </p:txBody>
      </p:sp>
      <p:sp>
        <p:nvSpPr>
          <p:cNvPr id="26" name="Rounded Rectangle 25"/>
          <p:cNvSpPr/>
          <p:nvPr/>
        </p:nvSpPr>
        <p:spPr>
          <a:xfrm>
            <a:off x="3383280" y="3803904"/>
            <a:ext cx="77724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HIGH</a:t>
            </a:r>
          </a:p>
        </p:txBody>
      </p:sp>
      <p:sp>
        <p:nvSpPr>
          <p:cNvPr id="27" name="TextBox 26"/>
          <p:cNvSpPr txBox="1"/>
          <p:nvPr/>
        </p:nvSpPr>
        <p:spPr>
          <a:xfrm>
            <a:off x="4297680" y="3739896"/>
            <a:ext cx="3931920" cy="868680"/>
          </a:xfrm>
          <a:prstGeom prst="rect">
            <a:avLst/>
          </a:prstGeom>
          <a:noFill/>
        </p:spPr>
        <p:txBody>
          <a:bodyPr wrap="square">
            <a:spAutoFit/>
          </a:bodyPr>
          <a:lstStyle/>
          <a:p>
            <a:pPr algn="l">
              <a:defRPr sz="1100" b="0">
                <a:solidFill>
                  <a:srgbClr val="1A1A2E"/>
                </a:solidFill>
                <a:latin typeface="Calibri"/>
              </a:defRPr>
            </a:pPr>
            <a:r>
              <a:t>Yield is displayed as '6.50% p.a.' (per annum) on a 1-month investment, but the actual return for the period is only ~0.54%. No clarification is provided. The annualized figure is visually prominent (large, bold) while no actual-period return is shown.</a:t>
            </a:r>
          </a:p>
        </p:txBody>
      </p:sp>
      <p:sp>
        <p:nvSpPr>
          <p:cNvPr id="28" name="TextBox 27"/>
          <p:cNvSpPr txBox="1"/>
          <p:nvPr/>
        </p:nvSpPr>
        <p:spPr>
          <a:xfrm>
            <a:off x="8412480" y="3739896"/>
            <a:ext cx="3291840" cy="868680"/>
          </a:xfrm>
          <a:prstGeom prst="rect">
            <a:avLst/>
          </a:prstGeom>
          <a:noFill/>
        </p:spPr>
        <p:txBody>
          <a:bodyPr wrap="square">
            <a:spAutoFit/>
          </a:bodyPr>
          <a:lstStyle/>
          <a:p>
            <a:pPr algn="l">
              <a:defRPr sz="1000" b="0">
                <a:solidFill>
                  <a:srgbClr val="6B7280"/>
                </a:solidFill>
                <a:latin typeface="Calibri"/>
              </a:defRPr>
            </a:pPr>
            <a:r>
              <a:t>Show both values: '6.50% p.a. (~0.54% for 1 month)'. Add a tooltip or info icon explaining 'Annual yield is prorated for your selected tenor. Your estimated return for this period is $1,083.33 USD.'</a:t>
            </a:r>
          </a:p>
        </p:txBody>
      </p:sp>
      <p:sp>
        <p:nvSpPr>
          <p:cNvPr id="29" name="Rectangle 28"/>
          <p:cNvSpPr/>
          <p:nvPr/>
        </p:nvSpPr>
        <p:spPr>
          <a:xfrm>
            <a:off x="731520" y="4745736"/>
            <a:ext cx="73152"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04672" y="4745736"/>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837176"/>
            <a:ext cx="365760" cy="274320"/>
          </a:xfrm>
          <a:prstGeom prst="rect">
            <a:avLst/>
          </a:prstGeom>
          <a:noFill/>
        </p:spPr>
        <p:txBody>
          <a:bodyPr wrap="square">
            <a:spAutoFit/>
          </a:bodyPr>
          <a:lstStyle/>
          <a:p>
            <a:pPr algn="l">
              <a:defRPr sz="1200" b="1">
                <a:solidFill>
                  <a:srgbClr val="1A1A2E"/>
                </a:solidFill>
                <a:latin typeface="Calibri"/>
              </a:defRPr>
            </a:pPr>
            <a:r>
              <a:t>#9</a:t>
            </a:r>
          </a:p>
        </p:txBody>
      </p:sp>
      <p:sp>
        <p:nvSpPr>
          <p:cNvPr id="32" name="TextBox 31"/>
          <p:cNvSpPr txBox="1"/>
          <p:nvPr/>
        </p:nvSpPr>
        <p:spPr>
          <a:xfrm>
            <a:off x="1371600" y="4837176"/>
            <a:ext cx="1828800" cy="822960"/>
          </a:xfrm>
          <a:prstGeom prst="rect">
            <a:avLst/>
          </a:prstGeom>
          <a:noFill/>
        </p:spPr>
        <p:txBody>
          <a:bodyPr wrap="square">
            <a:spAutoFit/>
          </a:bodyPr>
          <a:lstStyle/>
          <a:p>
            <a:pPr algn="l">
              <a:defRPr sz="1000" b="0">
                <a:solidFill>
                  <a:srgbClr val="374151"/>
                </a:solidFill>
                <a:latin typeface="Calibri"/>
              </a:defRPr>
            </a:pPr>
            <a:r>
              <a:t>Investment Parameters (empty → fully configured)</a:t>
            </a:r>
          </a:p>
        </p:txBody>
      </p:sp>
      <p:sp>
        <p:nvSpPr>
          <p:cNvPr id="33" name="Rounded Rectangle 32"/>
          <p:cNvSpPr/>
          <p:nvPr/>
        </p:nvSpPr>
        <p:spPr>
          <a:xfrm>
            <a:off x="3383280" y="4882896"/>
            <a:ext cx="77724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HIGH</a:t>
            </a:r>
          </a:p>
        </p:txBody>
      </p:sp>
      <p:sp>
        <p:nvSpPr>
          <p:cNvPr id="34" name="TextBox 33"/>
          <p:cNvSpPr txBox="1"/>
          <p:nvPr/>
        </p:nvSpPr>
        <p:spPr>
          <a:xfrm>
            <a:off x="4297680" y="4818888"/>
            <a:ext cx="3931920" cy="868680"/>
          </a:xfrm>
          <a:prstGeom prst="rect">
            <a:avLst/>
          </a:prstGeom>
          <a:noFill/>
        </p:spPr>
        <p:txBody>
          <a:bodyPr wrap="square">
            <a:spAutoFit/>
          </a:bodyPr>
          <a:lstStyle/>
          <a:p>
            <a:pPr algn="l">
              <a:defRPr sz="1100" b="0">
                <a:solidFill>
                  <a:srgbClr val="1A1A2E"/>
                </a:solidFill>
                <a:latin typeface="Calibri"/>
              </a:defRPr>
            </a:pPr>
            <a:r>
              <a:t>No step indicator or progress bar in the multi-step DCI placement flow (Parameters → Accounts → Review → Confirmation). User has no idea how many steps remain or where they are in the process.</a:t>
            </a:r>
          </a:p>
        </p:txBody>
      </p:sp>
      <p:sp>
        <p:nvSpPr>
          <p:cNvPr id="35" name="TextBox 34"/>
          <p:cNvSpPr txBox="1"/>
          <p:nvPr/>
        </p:nvSpPr>
        <p:spPr>
          <a:xfrm>
            <a:off x="8412480" y="4818888"/>
            <a:ext cx="3291840" cy="868680"/>
          </a:xfrm>
          <a:prstGeom prst="rect">
            <a:avLst/>
          </a:prstGeom>
          <a:noFill/>
        </p:spPr>
        <p:txBody>
          <a:bodyPr wrap="square">
            <a:spAutoFit/>
          </a:bodyPr>
          <a:lstStyle/>
          <a:p>
            <a:pPr algn="l">
              <a:defRPr sz="1000" b="0">
                <a:solidFill>
                  <a:srgbClr val="6B7280"/>
                </a:solidFill>
                <a:latin typeface="Calibri"/>
              </a:defRPr>
            </a:pPr>
            <a:r>
              <a:t>Add a horizontal stepper/progress indicator at the top of each step: 'Step 1 of 4: Investment Parameters → Step 2: Account Selection → Step 3: Review → Step 4: Confirmation'.</a:t>
            </a:r>
          </a:p>
        </p:txBody>
      </p:sp>
      <p:sp>
        <p:nvSpPr>
          <p:cNvPr id="36" name="Rectangle 35"/>
          <p:cNvSpPr/>
          <p:nvPr/>
        </p:nvSpPr>
        <p:spPr>
          <a:xfrm>
            <a:off x="731520" y="5824728"/>
            <a:ext cx="73152"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04672" y="5824728"/>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916168"/>
            <a:ext cx="365760" cy="274320"/>
          </a:xfrm>
          <a:prstGeom prst="rect">
            <a:avLst/>
          </a:prstGeom>
          <a:noFill/>
        </p:spPr>
        <p:txBody>
          <a:bodyPr wrap="square">
            <a:spAutoFit/>
          </a:bodyPr>
          <a:lstStyle/>
          <a:p>
            <a:pPr algn="l">
              <a:defRPr sz="1200" b="1">
                <a:solidFill>
                  <a:srgbClr val="1A1A2E"/>
                </a:solidFill>
                <a:latin typeface="Calibri"/>
              </a:defRPr>
            </a:pPr>
            <a:r>
              <a:t>#10</a:t>
            </a:r>
          </a:p>
        </p:txBody>
      </p:sp>
      <p:sp>
        <p:nvSpPr>
          <p:cNvPr id="39" name="TextBox 38"/>
          <p:cNvSpPr txBox="1"/>
          <p:nvPr/>
        </p:nvSpPr>
        <p:spPr>
          <a:xfrm>
            <a:off x="1371600" y="5916168"/>
            <a:ext cx="1828800" cy="822960"/>
          </a:xfrm>
          <a:prstGeom prst="rect">
            <a:avLst/>
          </a:prstGeom>
          <a:noFill/>
        </p:spPr>
        <p:txBody>
          <a:bodyPr wrap="square">
            <a:spAutoFit/>
          </a:bodyPr>
          <a:lstStyle/>
          <a:p>
            <a:pPr algn="l">
              <a:defRPr sz="1000" b="0">
                <a:solidFill>
                  <a:srgbClr val="374151"/>
                </a:solidFill>
                <a:latin typeface="Calibri"/>
              </a:defRPr>
            </a:pPr>
            <a:r>
              <a:t>Investment Parameters (fully configured)</a:t>
            </a:r>
          </a:p>
        </p:txBody>
      </p:sp>
      <p:sp>
        <p:nvSpPr>
          <p:cNvPr id="40" name="Rounded Rectangle 39"/>
          <p:cNvSpPr/>
          <p:nvPr/>
        </p:nvSpPr>
        <p:spPr>
          <a:xfrm>
            <a:off x="3383280" y="5961888"/>
            <a:ext cx="77724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HIGH</a:t>
            </a:r>
          </a:p>
        </p:txBody>
      </p:sp>
      <p:sp>
        <p:nvSpPr>
          <p:cNvPr id="41" name="TextBox 40"/>
          <p:cNvSpPr txBox="1"/>
          <p:nvPr/>
        </p:nvSpPr>
        <p:spPr>
          <a:xfrm>
            <a:off x="4297680" y="5897880"/>
            <a:ext cx="3931920" cy="868680"/>
          </a:xfrm>
          <a:prstGeom prst="rect">
            <a:avLst/>
          </a:prstGeom>
          <a:noFill/>
        </p:spPr>
        <p:txBody>
          <a:bodyPr wrap="square">
            <a:spAutoFit/>
          </a:bodyPr>
          <a:lstStyle/>
          <a:p>
            <a:pPr algn="l">
              <a:defRPr sz="1100" b="0">
                <a:solidFill>
                  <a:srgbClr val="1A1A2E"/>
                </a:solidFill>
                <a:latin typeface="Calibri"/>
              </a:defRPr>
            </a:pPr>
            <a:r>
              <a:t>Strike price selection offers 5 options (e.g., 1.2830 to 1.2870) with '% from spot' and 'indicative yield' but no explanation of what strike price means or how to choose. A novice sees radio buttons with decimal numbers and percentages with zero guidance.</a:t>
            </a:r>
          </a:p>
        </p:txBody>
      </p:sp>
      <p:sp>
        <p:nvSpPr>
          <p:cNvPr id="42" name="TextBox 41"/>
          <p:cNvSpPr txBox="1"/>
          <p:nvPr/>
        </p:nvSpPr>
        <p:spPr>
          <a:xfrm>
            <a:off x="8412480" y="5897880"/>
            <a:ext cx="3291840" cy="868680"/>
          </a:xfrm>
          <a:prstGeom prst="rect">
            <a:avLst/>
          </a:prstGeom>
          <a:noFill/>
        </p:spPr>
        <p:txBody>
          <a:bodyPr wrap="square">
            <a:spAutoFit/>
          </a:bodyPr>
          <a:lstStyle/>
          <a:p>
            <a:pPr algn="l">
              <a:defRPr sz="1000" b="0">
                <a:solidFill>
                  <a:srgbClr val="6B7280"/>
                </a:solidFill>
                <a:latin typeface="Calibri"/>
              </a:defRPr>
            </a:pPr>
            <a:r>
              <a:t>Add: (1) An info icon with tooltip explaining 'Strike price is the exchange rate that determines which currency you receive. Higher strike = higher yield but higher chance of receiving the alternate currency.' (2) A visual indicator showing spot rate position relative to strike options. (3) Label the trade-off: 'Higher yield ↔ Higher conversion risk'.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400" b="1">
                <a:solidFill>
                  <a:srgbClr val="1A1A2E"/>
                </a:solidFill>
                <a:latin typeface="Calibri"/>
              </a:defRPr>
            </a:pPr>
            <a:r>
              <a:t>Findings (3/5)</a:t>
            </a:r>
          </a:p>
        </p:txBody>
      </p:sp>
      <p:sp>
        <p:nvSpPr>
          <p:cNvPr id="3" name="TextBox 2"/>
          <p:cNvSpPr txBox="1"/>
          <p:nvPr/>
        </p:nvSpPr>
        <p:spPr>
          <a:xfrm>
            <a:off x="731520" y="1097280"/>
            <a:ext cx="457200" cy="365760"/>
          </a:xfrm>
          <a:prstGeom prst="rect">
            <a:avLst/>
          </a:prstGeom>
          <a:noFill/>
        </p:spPr>
        <p:txBody>
          <a:bodyPr wrap="square">
            <a:spAutoFit/>
          </a:bodyPr>
          <a:lstStyle/>
          <a:p>
            <a:pPr algn="l">
              <a:defRPr sz="900" b="1">
                <a:solidFill>
                  <a:srgbClr val="6B7280"/>
                </a:solidFill>
                <a:latin typeface="Calibri"/>
              </a:defRPr>
            </a:pPr>
            <a:r>
              <a:t>#</a:t>
            </a:r>
          </a:p>
        </p:txBody>
      </p:sp>
      <p:sp>
        <p:nvSpPr>
          <p:cNvPr id="4" name="TextBox 3"/>
          <p:cNvSpPr txBox="1"/>
          <p:nvPr/>
        </p:nvSpPr>
        <p:spPr>
          <a:xfrm>
            <a:off x="1188720" y="1097280"/>
            <a:ext cx="2011680" cy="365760"/>
          </a:xfrm>
          <a:prstGeom prst="rect">
            <a:avLst/>
          </a:prstGeom>
          <a:noFill/>
        </p:spPr>
        <p:txBody>
          <a:bodyPr wrap="square">
            <a:spAutoFit/>
          </a:bodyPr>
          <a:lstStyle/>
          <a:p>
            <a:pPr algn="l">
              <a:defRPr sz="900" b="1">
                <a:solidFill>
                  <a:srgbClr val="6B7280"/>
                </a:solidFill>
                <a:latin typeface="Calibri"/>
              </a:defRPr>
            </a:pPr>
            <a:r>
              <a:t>Screen</a:t>
            </a:r>
          </a:p>
        </p:txBody>
      </p:sp>
      <p:sp>
        <p:nvSpPr>
          <p:cNvPr id="5" name="TextBox 4"/>
          <p:cNvSpPr txBox="1"/>
          <p:nvPr/>
        </p:nvSpPr>
        <p:spPr>
          <a:xfrm>
            <a:off x="3200400" y="1097280"/>
            <a:ext cx="914400" cy="365760"/>
          </a:xfrm>
          <a:prstGeom prst="rect">
            <a:avLst/>
          </a:prstGeom>
          <a:noFill/>
        </p:spPr>
        <p:txBody>
          <a:bodyPr wrap="square">
            <a:spAutoFit/>
          </a:bodyPr>
          <a:lstStyle/>
          <a:p>
            <a:pPr algn="l">
              <a:defRPr sz="900" b="1">
                <a:solidFill>
                  <a:srgbClr val="6B7280"/>
                </a:solidFill>
                <a:latin typeface="Calibri"/>
              </a:defRPr>
            </a:pPr>
            <a:r>
              <a:t>Severity</a:t>
            </a:r>
          </a:p>
        </p:txBody>
      </p:sp>
      <p:sp>
        <p:nvSpPr>
          <p:cNvPr id="6" name="TextBox 5"/>
          <p:cNvSpPr txBox="1"/>
          <p:nvPr/>
        </p:nvSpPr>
        <p:spPr>
          <a:xfrm>
            <a:off x="4114800" y="1097280"/>
            <a:ext cx="4114800" cy="365760"/>
          </a:xfrm>
          <a:prstGeom prst="rect">
            <a:avLst/>
          </a:prstGeom>
          <a:noFill/>
        </p:spPr>
        <p:txBody>
          <a:bodyPr wrap="square">
            <a:spAutoFit/>
          </a:bodyPr>
          <a:lstStyle/>
          <a:p>
            <a:pPr algn="l">
              <a:defRPr sz="900" b="1">
                <a:solidFill>
                  <a:srgbClr val="6B7280"/>
                </a:solidFill>
                <a:latin typeface="Calibri"/>
              </a:defRPr>
            </a:pPr>
            <a:r>
              <a:t>Finding</a:t>
            </a:r>
          </a:p>
        </p:txBody>
      </p:sp>
      <p:sp>
        <p:nvSpPr>
          <p:cNvPr id="7" name="TextBox 6"/>
          <p:cNvSpPr txBox="1"/>
          <p:nvPr/>
        </p:nvSpPr>
        <p:spPr>
          <a:xfrm>
            <a:off x="8229600" y="1097280"/>
            <a:ext cx="3474720" cy="365760"/>
          </a:xfrm>
          <a:prstGeom prst="rect">
            <a:avLst/>
          </a:prstGeom>
          <a:noFill/>
        </p:spPr>
        <p:txBody>
          <a:bodyPr wrap="square">
            <a:spAutoFit/>
          </a:bodyPr>
          <a:lstStyle/>
          <a:p>
            <a:pPr algn="l">
              <a:defRPr sz="900" b="1">
                <a:solidFill>
                  <a:srgbClr val="6B7280"/>
                </a:solidFill>
                <a:latin typeface="Calibri"/>
              </a:defRPr>
            </a:pPr>
            <a:r>
              <a:t>Recommendation</a:t>
            </a:r>
          </a:p>
        </p:txBody>
      </p:sp>
      <p:sp>
        <p:nvSpPr>
          <p:cNvPr id="8" name="Rectangle 7"/>
          <p:cNvSpPr/>
          <p:nvPr/>
        </p:nvSpPr>
        <p:spPr>
          <a:xfrm>
            <a:off x="731520" y="1508760"/>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2" y="1508760"/>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00200"/>
            <a:ext cx="365760" cy="274320"/>
          </a:xfrm>
          <a:prstGeom prst="rect">
            <a:avLst/>
          </a:prstGeom>
          <a:noFill/>
        </p:spPr>
        <p:txBody>
          <a:bodyPr wrap="square">
            <a:spAutoFit/>
          </a:bodyPr>
          <a:lstStyle/>
          <a:p>
            <a:pPr algn="l">
              <a:defRPr sz="1200" b="1">
                <a:solidFill>
                  <a:srgbClr val="1A1A2E"/>
                </a:solidFill>
                <a:latin typeface="Calibri"/>
              </a:defRPr>
            </a:pPr>
            <a:r>
              <a:t>#11</a:t>
            </a:r>
          </a:p>
        </p:txBody>
      </p:sp>
      <p:sp>
        <p:nvSpPr>
          <p:cNvPr id="11" name="TextBox 10"/>
          <p:cNvSpPr txBox="1"/>
          <p:nvPr/>
        </p:nvSpPr>
        <p:spPr>
          <a:xfrm>
            <a:off x="1371600" y="1600200"/>
            <a:ext cx="1828800" cy="822960"/>
          </a:xfrm>
          <a:prstGeom prst="rect">
            <a:avLst/>
          </a:prstGeom>
          <a:noFill/>
        </p:spPr>
        <p:txBody>
          <a:bodyPr wrap="square">
            <a:spAutoFit/>
          </a:bodyPr>
          <a:lstStyle/>
          <a:p>
            <a:pPr algn="l">
              <a:defRPr sz="1000" b="0">
                <a:solidFill>
                  <a:srgbClr val="374151"/>
                </a:solidFill>
                <a:latin typeface="Calibri"/>
              </a:defRPr>
            </a:pPr>
            <a:r>
              <a:t>Investment Parameters (empty)</a:t>
            </a:r>
          </a:p>
        </p:txBody>
      </p:sp>
      <p:sp>
        <p:nvSpPr>
          <p:cNvPr id="12" name="Rounded Rectangle 11"/>
          <p:cNvSpPr/>
          <p:nvPr/>
        </p:nvSpPr>
        <p:spPr>
          <a:xfrm>
            <a:off x="3383280" y="1645920"/>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13" name="TextBox 12"/>
          <p:cNvSpPr txBox="1"/>
          <p:nvPr/>
        </p:nvSpPr>
        <p:spPr>
          <a:xfrm>
            <a:off x="4297680" y="1581912"/>
            <a:ext cx="3931920" cy="868680"/>
          </a:xfrm>
          <a:prstGeom prst="rect">
            <a:avLst/>
          </a:prstGeom>
          <a:noFill/>
        </p:spPr>
        <p:txBody>
          <a:bodyPr wrap="square">
            <a:spAutoFit/>
          </a:bodyPr>
          <a:lstStyle/>
          <a:p>
            <a:pPr algn="l">
              <a:defRPr sz="1100" b="0">
                <a:solidFill>
                  <a:srgbClr val="1A1A2E"/>
                </a:solidFill>
                <a:latin typeface="Calibri"/>
              </a:defRPr>
            </a:pPr>
            <a:r>
              <a:t>Currency defaults to 'NIL' with no flag icon instead of a sensible default based on the user's account currencies. The 'Base Currency' and 'Alternate Currency' dropdowns show generic labels with no explanation of which is deposit vs. settlement currency.</a:t>
            </a:r>
          </a:p>
        </p:txBody>
      </p:sp>
      <p:sp>
        <p:nvSpPr>
          <p:cNvPr id="14" name="TextBox 13"/>
          <p:cNvSpPr txBox="1"/>
          <p:nvPr/>
        </p:nvSpPr>
        <p:spPr>
          <a:xfrm>
            <a:off x="8412480" y="1581912"/>
            <a:ext cx="3291840" cy="868680"/>
          </a:xfrm>
          <a:prstGeom prst="rect">
            <a:avLst/>
          </a:prstGeom>
          <a:noFill/>
        </p:spPr>
        <p:txBody>
          <a:bodyPr wrap="square">
            <a:spAutoFit/>
          </a:bodyPr>
          <a:lstStyle/>
          <a:p>
            <a:pPr algn="l">
              <a:defRPr sz="1000" b="0">
                <a:solidFill>
                  <a:srgbClr val="6B7280"/>
                </a:solidFill>
                <a:latin typeface="Calibri"/>
              </a:defRPr>
            </a:pPr>
            <a:r>
              <a:t>Default to the user's primary account currency (e.g., USD). Add helper text under the currency pair: 'Base Currency = the currency you deposit. Alternate Currency = the currency you may receive at maturity.'</a:t>
            </a:r>
          </a:p>
        </p:txBody>
      </p:sp>
      <p:sp>
        <p:nvSpPr>
          <p:cNvPr id="15" name="Rectangle 14"/>
          <p:cNvSpPr/>
          <p:nvPr/>
        </p:nvSpPr>
        <p:spPr>
          <a:xfrm>
            <a:off x="731520" y="2587752"/>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4672" y="2587752"/>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2679192"/>
            <a:ext cx="365760" cy="274320"/>
          </a:xfrm>
          <a:prstGeom prst="rect">
            <a:avLst/>
          </a:prstGeom>
          <a:noFill/>
        </p:spPr>
        <p:txBody>
          <a:bodyPr wrap="square">
            <a:spAutoFit/>
          </a:bodyPr>
          <a:lstStyle/>
          <a:p>
            <a:pPr algn="l">
              <a:defRPr sz="1200" b="1">
                <a:solidFill>
                  <a:srgbClr val="1A1A2E"/>
                </a:solidFill>
                <a:latin typeface="Calibri"/>
              </a:defRPr>
            </a:pPr>
            <a:r>
              <a:t>#12</a:t>
            </a:r>
          </a:p>
        </p:txBody>
      </p:sp>
      <p:sp>
        <p:nvSpPr>
          <p:cNvPr id="18" name="TextBox 17"/>
          <p:cNvSpPr txBox="1"/>
          <p:nvPr/>
        </p:nvSpPr>
        <p:spPr>
          <a:xfrm>
            <a:off x="1371600" y="2679192"/>
            <a:ext cx="1828800" cy="822960"/>
          </a:xfrm>
          <a:prstGeom prst="rect">
            <a:avLst/>
          </a:prstGeom>
          <a:noFill/>
        </p:spPr>
        <p:txBody>
          <a:bodyPr wrap="square">
            <a:spAutoFit/>
          </a:bodyPr>
          <a:lstStyle/>
          <a:p>
            <a:pPr algn="l">
              <a:defRPr sz="1000" b="0">
                <a:solidFill>
                  <a:srgbClr val="374151"/>
                </a:solidFill>
                <a:latin typeface="Calibri"/>
              </a:defRPr>
            </a:pPr>
            <a:r>
              <a:t>Investment Parameters</a:t>
            </a:r>
          </a:p>
        </p:txBody>
      </p:sp>
      <p:sp>
        <p:nvSpPr>
          <p:cNvPr id="19" name="Rounded Rectangle 18"/>
          <p:cNvSpPr/>
          <p:nvPr/>
        </p:nvSpPr>
        <p:spPr>
          <a:xfrm>
            <a:off x="3383280" y="2724912"/>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20" name="TextBox 19"/>
          <p:cNvSpPr txBox="1"/>
          <p:nvPr/>
        </p:nvSpPr>
        <p:spPr>
          <a:xfrm>
            <a:off x="4297680" y="2660904"/>
            <a:ext cx="3931920" cy="868680"/>
          </a:xfrm>
          <a:prstGeom prst="rect">
            <a:avLst/>
          </a:prstGeom>
          <a:noFill/>
        </p:spPr>
        <p:txBody>
          <a:bodyPr wrap="square">
            <a:spAutoFit/>
          </a:bodyPr>
          <a:lstStyle/>
          <a:p>
            <a:pPr algn="l">
              <a:defRPr sz="1100" b="0">
                <a:solidFill>
                  <a:srgbClr val="1A1A2E"/>
                </a:solidFill>
                <a:latin typeface="Calibri"/>
              </a:defRPr>
            </a:pPr>
            <a:r>
              <a:t>The minimum amount helper text shows '$0,000.00 USD' which appears to be a formatting/template bug. Should display the actual minimum (e.g., '$50,000.00 USD').</a:t>
            </a:r>
          </a:p>
        </p:txBody>
      </p:sp>
      <p:sp>
        <p:nvSpPr>
          <p:cNvPr id="21" name="TextBox 20"/>
          <p:cNvSpPr txBox="1"/>
          <p:nvPr/>
        </p:nvSpPr>
        <p:spPr>
          <a:xfrm>
            <a:off x="8412480" y="2660904"/>
            <a:ext cx="3291840" cy="868680"/>
          </a:xfrm>
          <a:prstGeom prst="rect">
            <a:avLst/>
          </a:prstGeom>
          <a:noFill/>
        </p:spPr>
        <p:txBody>
          <a:bodyPr wrap="square">
            <a:spAutoFit/>
          </a:bodyPr>
          <a:lstStyle/>
          <a:p>
            <a:pPr algn="l">
              <a:defRPr sz="1000" b="0">
                <a:solidFill>
                  <a:srgbClr val="6B7280"/>
                </a:solidFill>
                <a:latin typeface="Calibri"/>
              </a:defRPr>
            </a:pPr>
            <a:r>
              <a:t>Fix the template to display the actual minimum amount for the selected currency. Format consistently with thousand separators.</a:t>
            </a:r>
          </a:p>
        </p:txBody>
      </p:sp>
      <p:sp>
        <p:nvSpPr>
          <p:cNvPr id="22" name="Rectangle 21"/>
          <p:cNvSpPr/>
          <p:nvPr/>
        </p:nvSpPr>
        <p:spPr>
          <a:xfrm>
            <a:off x="731520" y="3666744"/>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666744"/>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758184"/>
            <a:ext cx="365760" cy="274320"/>
          </a:xfrm>
          <a:prstGeom prst="rect">
            <a:avLst/>
          </a:prstGeom>
          <a:noFill/>
        </p:spPr>
        <p:txBody>
          <a:bodyPr wrap="square">
            <a:spAutoFit/>
          </a:bodyPr>
          <a:lstStyle/>
          <a:p>
            <a:pPr algn="l">
              <a:defRPr sz="1200" b="1">
                <a:solidFill>
                  <a:srgbClr val="1A1A2E"/>
                </a:solidFill>
                <a:latin typeface="Calibri"/>
              </a:defRPr>
            </a:pPr>
            <a:r>
              <a:t>#13</a:t>
            </a:r>
          </a:p>
        </p:txBody>
      </p:sp>
      <p:sp>
        <p:nvSpPr>
          <p:cNvPr id="25" name="TextBox 24"/>
          <p:cNvSpPr txBox="1"/>
          <p:nvPr/>
        </p:nvSpPr>
        <p:spPr>
          <a:xfrm>
            <a:off x="1371600" y="3758184"/>
            <a:ext cx="1828800" cy="822960"/>
          </a:xfrm>
          <a:prstGeom prst="rect">
            <a:avLst/>
          </a:prstGeom>
          <a:noFill/>
        </p:spPr>
        <p:txBody>
          <a:bodyPr wrap="square">
            <a:spAutoFit/>
          </a:bodyPr>
          <a:lstStyle/>
          <a:p>
            <a:pPr algn="l">
              <a:defRPr sz="1000" b="0">
                <a:solidFill>
                  <a:srgbClr val="374151"/>
                </a:solidFill>
                <a:latin typeface="Calibri"/>
              </a:defRPr>
            </a:pPr>
            <a:r>
              <a:t>Landing page (active investments)</a:t>
            </a:r>
          </a:p>
        </p:txBody>
      </p:sp>
      <p:sp>
        <p:nvSpPr>
          <p:cNvPr id="26" name="Rounded Rectangle 25"/>
          <p:cNvSpPr/>
          <p:nvPr/>
        </p:nvSpPr>
        <p:spPr>
          <a:xfrm>
            <a:off x="3383280" y="3803904"/>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27" name="TextBox 26"/>
          <p:cNvSpPr txBox="1"/>
          <p:nvPr/>
        </p:nvSpPr>
        <p:spPr>
          <a:xfrm>
            <a:off x="4297680" y="3739896"/>
            <a:ext cx="3931920" cy="868680"/>
          </a:xfrm>
          <a:prstGeom prst="rect">
            <a:avLst/>
          </a:prstGeom>
          <a:noFill/>
        </p:spPr>
        <p:txBody>
          <a:bodyPr wrap="square">
            <a:spAutoFit/>
          </a:bodyPr>
          <a:lstStyle/>
          <a:p>
            <a:pPr algn="l">
              <a:defRPr sz="1100" b="0">
                <a:solidFill>
                  <a:srgbClr val="1A1A2E"/>
                </a:solidFill>
                <a:latin typeface="Calibri"/>
              </a:defRPr>
            </a:pPr>
            <a:r>
              <a:t>Green is overloaded across 6 different semantic meanings: active investment status, positive yield values, success checkmark, base currency scenario badge, strike price met indicator, and yield percentages. Users cannot quickly scan for meaning when the same colour means different things.</a:t>
            </a:r>
          </a:p>
        </p:txBody>
      </p:sp>
      <p:sp>
        <p:nvSpPr>
          <p:cNvPr id="28" name="TextBox 27"/>
          <p:cNvSpPr txBox="1"/>
          <p:nvPr/>
        </p:nvSpPr>
        <p:spPr>
          <a:xfrm>
            <a:off x="8412480" y="3739896"/>
            <a:ext cx="3291840" cy="868680"/>
          </a:xfrm>
          <a:prstGeom prst="rect">
            <a:avLst/>
          </a:prstGeom>
          <a:noFill/>
        </p:spPr>
        <p:txBody>
          <a:bodyPr wrap="square">
            <a:spAutoFit/>
          </a:bodyPr>
          <a:lstStyle/>
          <a:p>
            <a:pPr algn="l">
              <a:defRPr sz="1000" b="0">
                <a:solidFill>
                  <a:srgbClr val="6B7280"/>
                </a:solidFill>
                <a:latin typeface="Calibri"/>
              </a:defRPr>
            </a:pPr>
            <a:r>
              <a:t>Differentiate semantic uses: keep green for success/positive only. Use blue for informational status (Active), use a distinct colour (e.g., teal) for base currency scenarios, and use a neutral colour for yield percentages.</a:t>
            </a:r>
          </a:p>
        </p:txBody>
      </p:sp>
      <p:sp>
        <p:nvSpPr>
          <p:cNvPr id="29" name="Rectangle 28"/>
          <p:cNvSpPr/>
          <p:nvPr/>
        </p:nvSpPr>
        <p:spPr>
          <a:xfrm>
            <a:off x="731520" y="4745736"/>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04672" y="4745736"/>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837176"/>
            <a:ext cx="365760" cy="274320"/>
          </a:xfrm>
          <a:prstGeom prst="rect">
            <a:avLst/>
          </a:prstGeom>
          <a:noFill/>
        </p:spPr>
        <p:txBody>
          <a:bodyPr wrap="square">
            <a:spAutoFit/>
          </a:bodyPr>
          <a:lstStyle/>
          <a:p>
            <a:pPr algn="l">
              <a:defRPr sz="1200" b="1">
                <a:solidFill>
                  <a:srgbClr val="1A1A2E"/>
                </a:solidFill>
                <a:latin typeface="Calibri"/>
              </a:defRPr>
            </a:pPr>
            <a:r>
              <a:t>#14</a:t>
            </a:r>
          </a:p>
        </p:txBody>
      </p:sp>
      <p:sp>
        <p:nvSpPr>
          <p:cNvPr id="32" name="TextBox 31"/>
          <p:cNvSpPr txBox="1"/>
          <p:nvPr/>
        </p:nvSpPr>
        <p:spPr>
          <a:xfrm>
            <a:off x="1371600" y="4837176"/>
            <a:ext cx="1828800" cy="822960"/>
          </a:xfrm>
          <a:prstGeom prst="rect">
            <a:avLst/>
          </a:prstGeom>
          <a:noFill/>
        </p:spPr>
        <p:txBody>
          <a:bodyPr wrap="square">
            <a:spAutoFit/>
          </a:bodyPr>
          <a:lstStyle/>
          <a:p>
            <a:pPr algn="l">
              <a:defRPr sz="1000" b="0">
                <a:solidFill>
                  <a:srgbClr val="374151"/>
                </a:solidFill>
                <a:latin typeface="Calibri"/>
              </a:defRPr>
            </a:pPr>
            <a:r>
              <a:t>All form screens</a:t>
            </a:r>
          </a:p>
        </p:txBody>
      </p:sp>
      <p:sp>
        <p:nvSpPr>
          <p:cNvPr id="33" name="Rounded Rectangle 32"/>
          <p:cNvSpPr/>
          <p:nvPr/>
        </p:nvSpPr>
        <p:spPr>
          <a:xfrm>
            <a:off x="3383280" y="4882896"/>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34" name="TextBox 33"/>
          <p:cNvSpPr txBox="1"/>
          <p:nvPr/>
        </p:nvSpPr>
        <p:spPr>
          <a:xfrm>
            <a:off x="4297680" y="4818888"/>
            <a:ext cx="3931920" cy="868680"/>
          </a:xfrm>
          <a:prstGeom prst="rect">
            <a:avLst/>
          </a:prstGeom>
          <a:noFill/>
        </p:spPr>
        <p:txBody>
          <a:bodyPr wrap="square">
            <a:spAutoFit/>
          </a:bodyPr>
          <a:lstStyle/>
          <a:p>
            <a:pPr algn="l">
              <a:defRPr sz="1100" b="0">
                <a:solidFill>
                  <a:srgbClr val="1A1A2E"/>
                </a:solidFill>
                <a:latin typeface="Calibri"/>
              </a:defRPr>
            </a:pPr>
            <a:r>
              <a:t>Form input borders (~#E0E0E0 on white) have an estimated contrast ratio of ~2.5:1, failing WCAG 1.4.11 (Non-text Contrast) which requires 3:1. Input fields are visually indistinct from the background.</a:t>
            </a:r>
          </a:p>
        </p:txBody>
      </p:sp>
      <p:sp>
        <p:nvSpPr>
          <p:cNvPr id="35" name="TextBox 34"/>
          <p:cNvSpPr txBox="1"/>
          <p:nvPr/>
        </p:nvSpPr>
        <p:spPr>
          <a:xfrm>
            <a:off x="8412480" y="4818888"/>
            <a:ext cx="3291840" cy="868680"/>
          </a:xfrm>
          <a:prstGeom prst="rect">
            <a:avLst/>
          </a:prstGeom>
          <a:noFill/>
        </p:spPr>
        <p:txBody>
          <a:bodyPr wrap="square">
            <a:spAutoFit/>
          </a:bodyPr>
          <a:lstStyle/>
          <a:p>
            <a:pPr algn="l">
              <a:defRPr sz="1000" b="0">
                <a:solidFill>
                  <a:srgbClr val="6B7280"/>
                </a:solidFill>
                <a:latin typeface="Calibri"/>
              </a:defRPr>
            </a:pPr>
            <a:r>
              <a:t>Darken input borders to at least #949494 (3:1 on white). Consider adding a subtle background fill (#F9F9F9) to inactive inputs.</a:t>
            </a:r>
          </a:p>
        </p:txBody>
      </p:sp>
      <p:sp>
        <p:nvSpPr>
          <p:cNvPr id="36" name="Rectangle 35"/>
          <p:cNvSpPr/>
          <p:nvPr/>
        </p:nvSpPr>
        <p:spPr>
          <a:xfrm>
            <a:off x="731520" y="5824728"/>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04672" y="5824728"/>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916168"/>
            <a:ext cx="365760" cy="274320"/>
          </a:xfrm>
          <a:prstGeom prst="rect">
            <a:avLst/>
          </a:prstGeom>
          <a:noFill/>
        </p:spPr>
        <p:txBody>
          <a:bodyPr wrap="square">
            <a:spAutoFit/>
          </a:bodyPr>
          <a:lstStyle/>
          <a:p>
            <a:pPr algn="l">
              <a:defRPr sz="1200" b="1">
                <a:solidFill>
                  <a:srgbClr val="1A1A2E"/>
                </a:solidFill>
                <a:latin typeface="Calibri"/>
              </a:defRPr>
            </a:pPr>
            <a:r>
              <a:t>#15</a:t>
            </a:r>
          </a:p>
        </p:txBody>
      </p:sp>
      <p:sp>
        <p:nvSpPr>
          <p:cNvPr id="39" name="TextBox 38"/>
          <p:cNvSpPr txBox="1"/>
          <p:nvPr/>
        </p:nvSpPr>
        <p:spPr>
          <a:xfrm>
            <a:off x="1371600" y="5916168"/>
            <a:ext cx="1828800" cy="822960"/>
          </a:xfrm>
          <a:prstGeom prst="rect">
            <a:avLst/>
          </a:prstGeom>
          <a:noFill/>
        </p:spPr>
        <p:txBody>
          <a:bodyPr wrap="square">
            <a:spAutoFit/>
          </a:bodyPr>
          <a:lstStyle/>
          <a:p>
            <a:pPr algn="l">
              <a:defRPr sz="1000" b="0">
                <a:solidFill>
                  <a:srgbClr val="374151"/>
                </a:solidFill>
                <a:latin typeface="Calibri"/>
              </a:defRPr>
            </a:pPr>
            <a:r>
              <a:t>All screens</a:t>
            </a:r>
          </a:p>
        </p:txBody>
      </p:sp>
      <p:sp>
        <p:nvSpPr>
          <p:cNvPr id="40" name="Rounded Rectangle 39"/>
          <p:cNvSpPr/>
          <p:nvPr/>
        </p:nvSpPr>
        <p:spPr>
          <a:xfrm>
            <a:off x="3383280" y="5961888"/>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41" name="TextBox 40"/>
          <p:cNvSpPr txBox="1"/>
          <p:nvPr/>
        </p:nvSpPr>
        <p:spPr>
          <a:xfrm>
            <a:off x="4297680" y="5897880"/>
            <a:ext cx="3931920" cy="868680"/>
          </a:xfrm>
          <a:prstGeom prst="rect">
            <a:avLst/>
          </a:prstGeom>
          <a:noFill/>
        </p:spPr>
        <p:txBody>
          <a:bodyPr wrap="square">
            <a:spAutoFit/>
          </a:bodyPr>
          <a:lstStyle/>
          <a:p>
            <a:pPr algn="l">
              <a:defRPr sz="1100" b="0">
                <a:solidFill>
                  <a:srgbClr val="1A1A2E"/>
                </a:solidFill>
                <a:latin typeface="Calibri"/>
              </a:defRPr>
            </a:pPr>
            <a:r>
              <a:t>Zero error states and zero loading states are designed across the entire 29-screen flow. No designs for: insufficient balance, rate expiry during placement, network timeout, session expiry, or invalid input.</a:t>
            </a:r>
          </a:p>
        </p:txBody>
      </p:sp>
      <p:sp>
        <p:nvSpPr>
          <p:cNvPr id="42" name="TextBox 41"/>
          <p:cNvSpPr txBox="1"/>
          <p:nvPr/>
        </p:nvSpPr>
        <p:spPr>
          <a:xfrm>
            <a:off x="8412480" y="5897880"/>
            <a:ext cx="3291840" cy="868680"/>
          </a:xfrm>
          <a:prstGeom prst="rect">
            <a:avLst/>
          </a:prstGeom>
          <a:noFill/>
        </p:spPr>
        <p:txBody>
          <a:bodyPr wrap="square">
            <a:spAutoFit/>
          </a:bodyPr>
          <a:lstStyle/>
          <a:p>
            <a:pPr algn="l">
              <a:defRPr sz="1000" b="0">
                <a:solidFill>
                  <a:srgbClr val="6B7280"/>
                </a:solidFill>
                <a:latin typeface="Calibri"/>
              </a:defRPr>
            </a:pPr>
            <a:r>
              <a:t>Design error states for: (1) insufficient balance, (2) rate/quote expiry (with refresh option), (3) session timeout, (4) network error, (5) form validation errors (inline). Add loading/skeleton states for rate fetching and order submission.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400" b="1">
                <a:solidFill>
                  <a:srgbClr val="1A1A2E"/>
                </a:solidFill>
                <a:latin typeface="Calibri"/>
              </a:defRPr>
            </a:pPr>
            <a:r>
              <a:t>Findings (4/5)</a:t>
            </a:r>
          </a:p>
        </p:txBody>
      </p:sp>
      <p:sp>
        <p:nvSpPr>
          <p:cNvPr id="3" name="TextBox 2"/>
          <p:cNvSpPr txBox="1"/>
          <p:nvPr/>
        </p:nvSpPr>
        <p:spPr>
          <a:xfrm>
            <a:off x="731520" y="1097280"/>
            <a:ext cx="457200" cy="365760"/>
          </a:xfrm>
          <a:prstGeom prst="rect">
            <a:avLst/>
          </a:prstGeom>
          <a:noFill/>
        </p:spPr>
        <p:txBody>
          <a:bodyPr wrap="square">
            <a:spAutoFit/>
          </a:bodyPr>
          <a:lstStyle/>
          <a:p>
            <a:pPr algn="l">
              <a:defRPr sz="900" b="1">
                <a:solidFill>
                  <a:srgbClr val="6B7280"/>
                </a:solidFill>
                <a:latin typeface="Calibri"/>
              </a:defRPr>
            </a:pPr>
            <a:r>
              <a:t>#</a:t>
            </a:r>
          </a:p>
        </p:txBody>
      </p:sp>
      <p:sp>
        <p:nvSpPr>
          <p:cNvPr id="4" name="TextBox 3"/>
          <p:cNvSpPr txBox="1"/>
          <p:nvPr/>
        </p:nvSpPr>
        <p:spPr>
          <a:xfrm>
            <a:off x="1188720" y="1097280"/>
            <a:ext cx="2011680" cy="365760"/>
          </a:xfrm>
          <a:prstGeom prst="rect">
            <a:avLst/>
          </a:prstGeom>
          <a:noFill/>
        </p:spPr>
        <p:txBody>
          <a:bodyPr wrap="square">
            <a:spAutoFit/>
          </a:bodyPr>
          <a:lstStyle/>
          <a:p>
            <a:pPr algn="l">
              <a:defRPr sz="900" b="1">
                <a:solidFill>
                  <a:srgbClr val="6B7280"/>
                </a:solidFill>
                <a:latin typeface="Calibri"/>
              </a:defRPr>
            </a:pPr>
            <a:r>
              <a:t>Screen</a:t>
            </a:r>
          </a:p>
        </p:txBody>
      </p:sp>
      <p:sp>
        <p:nvSpPr>
          <p:cNvPr id="5" name="TextBox 4"/>
          <p:cNvSpPr txBox="1"/>
          <p:nvPr/>
        </p:nvSpPr>
        <p:spPr>
          <a:xfrm>
            <a:off x="3200400" y="1097280"/>
            <a:ext cx="914400" cy="365760"/>
          </a:xfrm>
          <a:prstGeom prst="rect">
            <a:avLst/>
          </a:prstGeom>
          <a:noFill/>
        </p:spPr>
        <p:txBody>
          <a:bodyPr wrap="square">
            <a:spAutoFit/>
          </a:bodyPr>
          <a:lstStyle/>
          <a:p>
            <a:pPr algn="l">
              <a:defRPr sz="900" b="1">
                <a:solidFill>
                  <a:srgbClr val="6B7280"/>
                </a:solidFill>
                <a:latin typeface="Calibri"/>
              </a:defRPr>
            </a:pPr>
            <a:r>
              <a:t>Severity</a:t>
            </a:r>
          </a:p>
        </p:txBody>
      </p:sp>
      <p:sp>
        <p:nvSpPr>
          <p:cNvPr id="6" name="TextBox 5"/>
          <p:cNvSpPr txBox="1"/>
          <p:nvPr/>
        </p:nvSpPr>
        <p:spPr>
          <a:xfrm>
            <a:off x="4114800" y="1097280"/>
            <a:ext cx="4114800" cy="365760"/>
          </a:xfrm>
          <a:prstGeom prst="rect">
            <a:avLst/>
          </a:prstGeom>
          <a:noFill/>
        </p:spPr>
        <p:txBody>
          <a:bodyPr wrap="square">
            <a:spAutoFit/>
          </a:bodyPr>
          <a:lstStyle/>
          <a:p>
            <a:pPr algn="l">
              <a:defRPr sz="900" b="1">
                <a:solidFill>
                  <a:srgbClr val="6B7280"/>
                </a:solidFill>
                <a:latin typeface="Calibri"/>
              </a:defRPr>
            </a:pPr>
            <a:r>
              <a:t>Finding</a:t>
            </a:r>
          </a:p>
        </p:txBody>
      </p:sp>
      <p:sp>
        <p:nvSpPr>
          <p:cNvPr id="7" name="TextBox 6"/>
          <p:cNvSpPr txBox="1"/>
          <p:nvPr/>
        </p:nvSpPr>
        <p:spPr>
          <a:xfrm>
            <a:off x="8229600" y="1097280"/>
            <a:ext cx="3474720" cy="365760"/>
          </a:xfrm>
          <a:prstGeom prst="rect">
            <a:avLst/>
          </a:prstGeom>
          <a:noFill/>
        </p:spPr>
        <p:txBody>
          <a:bodyPr wrap="square">
            <a:spAutoFit/>
          </a:bodyPr>
          <a:lstStyle/>
          <a:p>
            <a:pPr algn="l">
              <a:defRPr sz="900" b="1">
                <a:solidFill>
                  <a:srgbClr val="6B7280"/>
                </a:solidFill>
                <a:latin typeface="Calibri"/>
              </a:defRPr>
            </a:pPr>
            <a:r>
              <a:t>Recommendation</a:t>
            </a:r>
          </a:p>
        </p:txBody>
      </p:sp>
      <p:sp>
        <p:nvSpPr>
          <p:cNvPr id="8" name="Rectangle 7"/>
          <p:cNvSpPr/>
          <p:nvPr/>
        </p:nvSpPr>
        <p:spPr>
          <a:xfrm>
            <a:off x="731520" y="1508760"/>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2" y="1508760"/>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00200"/>
            <a:ext cx="365760" cy="274320"/>
          </a:xfrm>
          <a:prstGeom prst="rect">
            <a:avLst/>
          </a:prstGeom>
          <a:noFill/>
        </p:spPr>
        <p:txBody>
          <a:bodyPr wrap="square">
            <a:spAutoFit/>
          </a:bodyPr>
          <a:lstStyle/>
          <a:p>
            <a:pPr algn="l">
              <a:defRPr sz="1200" b="1">
                <a:solidFill>
                  <a:srgbClr val="1A1A2E"/>
                </a:solidFill>
                <a:latin typeface="Calibri"/>
              </a:defRPr>
            </a:pPr>
            <a:r>
              <a:t>#16</a:t>
            </a:r>
          </a:p>
        </p:txBody>
      </p:sp>
      <p:sp>
        <p:nvSpPr>
          <p:cNvPr id="11" name="TextBox 10"/>
          <p:cNvSpPr txBox="1"/>
          <p:nvPr/>
        </p:nvSpPr>
        <p:spPr>
          <a:xfrm>
            <a:off x="1371600" y="1600200"/>
            <a:ext cx="1828800" cy="822960"/>
          </a:xfrm>
          <a:prstGeom prst="rect">
            <a:avLst/>
          </a:prstGeom>
          <a:noFill/>
        </p:spPr>
        <p:txBody>
          <a:bodyPr wrap="square">
            <a:spAutoFit/>
          </a:bodyPr>
          <a:lstStyle/>
          <a:p>
            <a:pPr algn="l">
              <a:defRPr sz="1000" b="0">
                <a:solidFill>
                  <a:srgbClr val="374151"/>
                </a:solidFill>
                <a:latin typeface="Calibri"/>
              </a:defRPr>
            </a:pPr>
            <a:r>
              <a:t>Review</a:t>
            </a:r>
          </a:p>
        </p:txBody>
      </p:sp>
      <p:sp>
        <p:nvSpPr>
          <p:cNvPr id="12" name="Rounded Rectangle 11"/>
          <p:cNvSpPr/>
          <p:nvPr/>
        </p:nvSpPr>
        <p:spPr>
          <a:xfrm>
            <a:off x="3383280" y="1645920"/>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13" name="TextBox 12"/>
          <p:cNvSpPr txBox="1"/>
          <p:nvPr/>
        </p:nvSpPr>
        <p:spPr>
          <a:xfrm>
            <a:off x="4297680" y="1581912"/>
            <a:ext cx="3931920" cy="868680"/>
          </a:xfrm>
          <a:prstGeom prst="rect">
            <a:avLst/>
          </a:prstGeom>
          <a:noFill/>
        </p:spPr>
        <p:txBody>
          <a:bodyPr wrap="square">
            <a:spAutoFit/>
          </a:bodyPr>
          <a:lstStyle/>
          <a:p>
            <a:pPr algn="l">
              <a:defRPr sz="1100" b="0">
                <a:solidFill>
                  <a:srgbClr val="1A1A2E"/>
                </a:solidFill>
                <a:latin typeface="Calibri"/>
              </a:defRPr>
            </a:pPr>
            <a:r>
              <a:t>The 'REVIEW' label is positioned in the far-left margin, visually disconnected from the main content. Combined with no step indicator, the user's current position in the flow is unclear. The label does not follow the same visual pattern as other page titles.</a:t>
            </a:r>
          </a:p>
        </p:txBody>
      </p:sp>
      <p:sp>
        <p:nvSpPr>
          <p:cNvPr id="14" name="TextBox 13"/>
          <p:cNvSpPr txBox="1"/>
          <p:nvPr/>
        </p:nvSpPr>
        <p:spPr>
          <a:xfrm>
            <a:off x="8412480" y="1581912"/>
            <a:ext cx="3291840" cy="868680"/>
          </a:xfrm>
          <a:prstGeom prst="rect">
            <a:avLst/>
          </a:prstGeom>
          <a:noFill/>
        </p:spPr>
        <p:txBody>
          <a:bodyPr wrap="square">
            <a:spAutoFit/>
          </a:bodyPr>
          <a:lstStyle/>
          <a:p>
            <a:pPr algn="l">
              <a:defRPr sz="1000" b="0">
                <a:solidFill>
                  <a:srgbClr val="6B7280"/>
                </a:solidFill>
                <a:latin typeface="Calibri"/>
              </a:defRPr>
            </a:pPr>
            <a:r>
              <a:t>Replace with a proper step indicator showing 'Step 3 of 4: Review Your Investment'. Position as a page heading within the main content area.</a:t>
            </a:r>
          </a:p>
        </p:txBody>
      </p:sp>
      <p:sp>
        <p:nvSpPr>
          <p:cNvPr id="15" name="Rectangle 14"/>
          <p:cNvSpPr/>
          <p:nvPr/>
        </p:nvSpPr>
        <p:spPr>
          <a:xfrm>
            <a:off x="731520" y="2587752"/>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4672" y="2587752"/>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2679192"/>
            <a:ext cx="365760" cy="274320"/>
          </a:xfrm>
          <a:prstGeom prst="rect">
            <a:avLst/>
          </a:prstGeom>
          <a:noFill/>
        </p:spPr>
        <p:txBody>
          <a:bodyPr wrap="square">
            <a:spAutoFit/>
          </a:bodyPr>
          <a:lstStyle/>
          <a:p>
            <a:pPr algn="l">
              <a:defRPr sz="1200" b="1">
                <a:solidFill>
                  <a:srgbClr val="1A1A2E"/>
                </a:solidFill>
                <a:latin typeface="Calibri"/>
              </a:defRPr>
            </a:pPr>
            <a:r>
              <a:t>#17</a:t>
            </a:r>
          </a:p>
        </p:txBody>
      </p:sp>
      <p:sp>
        <p:nvSpPr>
          <p:cNvPr id="18" name="TextBox 17"/>
          <p:cNvSpPr txBox="1"/>
          <p:nvPr/>
        </p:nvSpPr>
        <p:spPr>
          <a:xfrm>
            <a:off x="1371600" y="2679192"/>
            <a:ext cx="1828800" cy="822960"/>
          </a:xfrm>
          <a:prstGeom prst="rect">
            <a:avLst/>
          </a:prstGeom>
          <a:noFill/>
        </p:spPr>
        <p:txBody>
          <a:bodyPr wrap="square">
            <a:spAutoFit/>
          </a:bodyPr>
          <a:lstStyle/>
          <a:p>
            <a:pPr algn="l">
              <a:defRPr sz="1000" b="0">
                <a:solidFill>
                  <a:srgbClr val="374151"/>
                </a:solidFill>
                <a:latin typeface="Calibri"/>
              </a:defRPr>
            </a:pPr>
            <a:r>
              <a:t>Landing page (active investments)</a:t>
            </a:r>
          </a:p>
        </p:txBody>
      </p:sp>
      <p:sp>
        <p:nvSpPr>
          <p:cNvPr id="19" name="Rounded Rectangle 18"/>
          <p:cNvSpPr/>
          <p:nvPr/>
        </p:nvSpPr>
        <p:spPr>
          <a:xfrm>
            <a:off x="3383280" y="2724912"/>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20" name="TextBox 19"/>
          <p:cNvSpPr txBox="1"/>
          <p:nvPr/>
        </p:nvSpPr>
        <p:spPr>
          <a:xfrm>
            <a:off x="4297680" y="2660904"/>
            <a:ext cx="3931920" cy="868680"/>
          </a:xfrm>
          <a:prstGeom prst="rect">
            <a:avLst/>
          </a:prstGeom>
          <a:noFill/>
        </p:spPr>
        <p:txBody>
          <a:bodyPr wrap="square">
            <a:spAutoFit/>
          </a:bodyPr>
          <a:lstStyle/>
          <a:p>
            <a:pPr algn="l">
              <a:defRPr sz="1100" b="0">
                <a:solidFill>
                  <a:srgbClr val="1A1A2E"/>
                </a:solidFill>
                <a:latin typeface="Calibri"/>
              </a:defRPr>
            </a:pPr>
            <a:r>
              <a:t>Status badges are inconsistent: 'Active' uses text-only styling, 'Expiring Soon' uses amber text, 'Awaiting Settlement' uses a pill badge with background colour. No unified design language for investment statuses.</a:t>
            </a:r>
          </a:p>
        </p:txBody>
      </p:sp>
      <p:sp>
        <p:nvSpPr>
          <p:cNvPr id="21" name="TextBox 20"/>
          <p:cNvSpPr txBox="1"/>
          <p:nvPr/>
        </p:nvSpPr>
        <p:spPr>
          <a:xfrm>
            <a:off x="8412480" y="2660904"/>
            <a:ext cx="3291840" cy="868680"/>
          </a:xfrm>
          <a:prstGeom prst="rect">
            <a:avLst/>
          </a:prstGeom>
          <a:noFill/>
        </p:spPr>
        <p:txBody>
          <a:bodyPr wrap="square">
            <a:spAutoFit/>
          </a:bodyPr>
          <a:lstStyle/>
          <a:p>
            <a:pPr algn="l">
              <a:defRPr sz="1000" b="0">
                <a:solidFill>
                  <a:srgbClr val="6B7280"/>
                </a:solidFill>
                <a:latin typeface="Calibri"/>
              </a:defRPr>
            </a:pPr>
            <a:r>
              <a:t>Standardise all statuses as pill badges with consistent sizing: Active (green), Expiring Soon (amber), Awaiting Settlement (blue), Settled (gray). Use the same component for all.</a:t>
            </a:r>
          </a:p>
        </p:txBody>
      </p:sp>
      <p:sp>
        <p:nvSpPr>
          <p:cNvPr id="22" name="Rectangle 21"/>
          <p:cNvSpPr/>
          <p:nvPr/>
        </p:nvSpPr>
        <p:spPr>
          <a:xfrm>
            <a:off x="731520" y="3666744"/>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666744"/>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758184"/>
            <a:ext cx="365760" cy="274320"/>
          </a:xfrm>
          <a:prstGeom prst="rect">
            <a:avLst/>
          </a:prstGeom>
          <a:noFill/>
        </p:spPr>
        <p:txBody>
          <a:bodyPr wrap="square">
            <a:spAutoFit/>
          </a:bodyPr>
          <a:lstStyle/>
          <a:p>
            <a:pPr algn="l">
              <a:defRPr sz="1200" b="1">
                <a:solidFill>
                  <a:srgbClr val="1A1A2E"/>
                </a:solidFill>
                <a:latin typeface="Calibri"/>
              </a:defRPr>
            </a:pPr>
            <a:r>
              <a:t>#18</a:t>
            </a:r>
          </a:p>
        </p:txBody>
      </p:sp>
      <p:sp>
        <p:nvSpPr>
          <p:cNvPr id="25" name="TextBox 24"/>
          <p:cNvSpPr txBox="1"/>
          <p:nvPr/>
        </p:nvSpPr>
        <p:spPr>
          <a:xfrm>
            <a:off x="1371600" y="3758184"/>
            <a:ext cx="1828800" cy="822960"/>
          </a:xfrm>
          <a:prstGeom prst="rect">
            <a:avLst/>
          </a:prstGeom>
          <a:noFill/>
        </p:spPr>
        <p:txBody>
          <a:bodyPr wrap="square">
            <a:spAutoFit/>
          </a:bodyPr>
          <a:lstStyle/>
          <a:p>
            <a:pPr algn="l">
              <a:defRPr sz="1000" b="0">
                <a:solidFill>
                  <a:srgbClr val="374151"/>
                </a:solidFill>
                <a:latin typeface="Calibri"/>
              </a:defRPr>
            </a:pPr>
            <a:r>
              <a:t>Landing page</a:t>
            </a:r>
          </a:p>
        </p:txBody>
      </p:sp>
      <p:sp>
        <p:nvSpPr>
          <p:cNvPr id="26" name="Rounded Rectangle 25"/>
          <p:cNvSpPr/>
          <p:nvPr/>
        </p:nvSpPr>
        <p:spPr>
          <a:xfrm>
            <a:off x="3383280" y="3803904"/>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27" name="TextBox 26"/>
          <p:cNvSpPr txBox="1"/>
          <p:nvPr/>
        </p:nvSpPr>
        <p:spPr>
          <a:xfrm>
            <a:off x="4297680" y="3739896"/>
            <a:ext cx="3931920" cy="868680"/>
          </a:xfrm>
          <a:prstGeom prst="rect">
            <a:avLst/>
          </a:prstGeom>
          <a:noFill/>
        </p:spPr>
        <p:txBody>
          <a:bodyPr wrap="square">
            <a:spAutoFit/>
          </a:bodyPr>
          <a:lstStyle/>
          <a:p>
            <a:pPr algn="l">
              <a:defRPr sz="1100" b="0">
                <a:solidFill>
                  <a:srgbClr val="1A1A2E"/>
                </a:solidFill>
                <a:latin typeface="Calibri"/>
              </a:defRPr>
            </a:pPr>
            <a:r>
              <a:t>The 4 key DCI dates (Transaction, Value, Expiry, Maturity) use different labels across screens. The FAQ uses 'Trade Date' while the product flow uses 'Transaction Date'. The Investment Timeline explains each date but the explanation only appears in the parameters step, not on the investment details screen.</a:t>
            </a:r>
          </a:p>
        </p:txBody>
      </p:sp>
      <p:sp>
        <p:nvSpPr>
          <p:cNvPr id="28" name="TextBox 27"/>
          <p:cNvSpPr txBox="1"/>
          <p:nvPr/>
        </p:nvSpPr>
        <p:spPr>
          <a:xfrm>
            <a:off x="8412480" y="3739896"/>
            <a:ext cx="3291840" cy="868680"/>
          </a:xfrm>
          <a:prstGeom prst="rect">
            <a:avLst/>
          </a:prstGeom>
          <a:noFill/>
        </p:spPr>
        <p:txBody>
          <a:bodyPr wrap="square">
            <a:spAutoFit/>
          </a:bodyPr>
          <a:lstStyle/>
          <a:p>
            <a:pPr algn="l">
              <a:defRPr sz="1000" b="0">
                <a:solidFill>
                  <a:srgbClr val="6B7280"/>
                </a:solidFill>
                <a:latin typeface="Calibri"/>
              </a:defRPr>
            </a:pPr>
            <a:r>
              <a:t>Standardise date labels across all screens and FAQs. Include the Investment Timeline explanation on the Investment Details screen as well, not just during placement.</a:t>
            </a:r>
          </a:p>
        </p:txBody>
      </p:sp>
      <p:sp>
        <p:nvSpPr>
          <p:cNvPr id="29" name="Rectangle 28"/>
          <p:cNvSpPr/>
          <p:nvPr/>
        </p:nvSpPr>
        <p:spPr>
          <a:xfrm>
            <a:off x="731520" y="4745736"/>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04672" y="4745736"/>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837176"/>
            <a:ext cx="365760" cy="274320"/>
          </a:xfrm>
          <a:prstGeom prst="rect">
            <a:avLst/>
          </a:prstGeom>
          <a:noFill/>
        </p:spPr>
        <p:txBody>
          <a:bodyPr wrap="square">
            <a:spAutoFit/>
          </a:bodyPr>
          <a:lstStyle/>
          <a:p>
            <a:pPr algn="l">
              <a:defRPr sz="1200" b="1">
                <a:solidFill>
                  <a:srgbClr val="1A1A2E"/>
                </a:solidFill>
                <a:latin typeface="Calibri"/>
              </a:defRPr>
            </a:pPr>
            <a:r>
              <a:t>#19</a:t>
            </a:r>
          </a:p>
        </p:txBody>
      </p:sp>
      <p:sp>
        <p:nvSpPr>
          <p:cNvPr id="32" name="TextBox 31"/>
          <p:cNvSpPr txBox="1"/>
          <p:nvPr/>
        </p:nvSpPr>
        <p:spPr>
          <a:xfrm>
            <a:off x="1371600" y="4837176"/>
            <a:ext cx="1828800" cy="822960"/>
          </a:xfrm>
          <a:prstGeom prst="rect">
            <a:avLst/>
          </a:prstGeom>
          <a:noFill/>
        </p:spPr>
        <p:txBody>
          <a:bodyPr wrap="square">
            <a:spAutoFit/>
          </a:bodyPr>
          <a:lstStyle/>
          <a:p>
            <a:pPr algn="l">
              <a:defRPr sz="1000" b="0">
                <a:solidFill>
                  <a:srgbClr val="374151"/>
                </a:solidFill>
                <a:latin typeface="Calibri"/>
              </a:defRPr>
            </a:pPr>
            <a:r>
              <a:t>Confirmation (collapsed)</a:t>
            </a:r>
          </a:p>
        </p:txBody>
      </p:sp>
      <p:sp>
        <p:nvSpPr>
          <p:cNvPr id="33" name="Rounded Rectangle 32"/>
          <p:cNvSpPr/>
          <p:nvPr/>
        </p:nvSpPr>
        <p:spPr>
          <a:xfrm>
            <a:off x="3383280" y="4882896"/>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34" name="TextBox 33"/>
          <p:cNvSpPr txBox="1"/>
          <p:nvPr/>
        </p:nvSpPr>
        <p:spPr>
          <a:xfrm>
            <a:off x="4297680" y="4818888"/>
            <a:ext cx="3931920" cy="868680"/>
          </a:xfrm>
          <a:prstGeom prst="rect">
            <a:avLst/>
          </a:prstGeom>
          <a:noFill/>
        </p:spPr>
        <p:txBody>
          <a:bodyPr wrap="square">
            <a:spAutoFit/>
          </a:bodyPr>
          <a:lstStyle/>
          <a:p>
            <a:pPr algn="l">
              <a:defRPr sz="1100" b="0">
                <a:solidFill>
                  <a:srgbClr val="1A1A2E"/>
                </a:solidFill>
                <a:latin typeface="Calibri"/>
              </a:defRPr>
            </a:pPr>
            <a:r>
              <a:t>The confirmation screen shows only 'Place Another Investment' as the next action. There is no link to 'View My Portfolio', 'View Investment Details', or 'Return to Dashboard'. The user is stranded after placing a $200,000 investment.</a:t>
            </a:r>
          </a:p>
        </p:txBody>
      </p:sp>
      <p:sp>
        <p:nvSpPr>
          <p:cNvPr id="35" name="TextBox 34"/>
          <p:cNvSpPr txBox="1"/>
          <p:nvPr/>
        </p:nvSpPr>
        <p:spPr>
          <a:xfrm>
            <a:off x="8412480" y="4818888"/>
            <a:ext cx="3291840" cy="868680"/>
          </a:xfrm>
          <a:prstGeom prst="rect">
            <a:avLst/>
          </a:prstGeom>
          <a:noFill/>
        </p:spPr>
        <p:txBody>
          <a:bodyPr wrap="square">
            <a:spAutoFit/>
          </a:bodyPr>
          <a:lstStyle/>
          <a:p>
            <a:pPr algn="l">
              <a:defRPr sz="1000" b="0">
                <a:solidFill>
                  <a:srgbClr val="6B7280"/>
                </a:solidFill>
                <a:latin typeface="Calibri"/>
              </a:defRPr>
            </a:pPr>
            <a:r>
              <a:t>Add secondary actions: 'View Investment Details' (link to the new investment) and 'Go to Portfolio' (link back to the landing page). Keep 'Place Another Investment' as the secondary CTA.</a:t>
            </a:r>
          </a:p>
        </p:txBody>
      </p:sp>
      <p:sp>
        <p:nvSpPr>
          <p:cNvPr id="36" name="Rectangle 35"/>
          <p:cNvSpPr/>
          <p:nvPr/>
        </p:nvSpPr>
        <p:spPr>
          <a:xfrm>
            <a:off x="731520" y="5824728"/>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04672" y="5824728"/>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916168"/>
            <a:ext cx="365760" cy="274320"/>
          </a:xfrm>
          <a:prstGeom prst="rect">
            <a:avLst/>
          </a:prstGeom>
          <a:noFill/>
        </p:spPr>
        <p:txBody>
          <a:bodyPr wrap="square">
            <a:spAutoFit/>
          </a:bodyPr>
          <a:lstStyle/>
          <a:p>
            <a:pPr algn="l">
              <a:defRPr sz="1200" b="1">
                <a:solidFill>
                  <a:srgbClr val="1A1A2E"/>
                </a:solidFill>
                <a:latin typeface="Calibri"/>
              </a:defRPr>
            </a:pPr>
            <a:r>
              <a:t>#20</a:t>
            </a:r>
          </a:p>
        </p:txBody>
      </p:sp>
      <p:sp>
        <p:nvSpPr>
          <p:cNvPr id="39" name="TextBox 38"/>
          <p:cNvSpPr txBox="1"/>
          <p:nvPr/>
        </p:nvSpPr>
        <p:spPr>
          <a:xfrm>
            <a:off x="1371600" y="5916168"/>
            <a:ext cx="1828800" cy="822960"/>
          </a:xfrm>
          <a:prstGeom prst="rect">
            <a:avLst/>
          </a:prstGeom>
          <a:noFill/>
        </p:spPr>
        <p:txBody>
          <a:bodyPr wrap="square">
            <a:spAutoFit/>
          </a:bodyPr>
          <a:lstStyle/>
          <a:p>
            <a:pPr algn="l">
              <a:defRPr sz="1000" b="0">
                <a:solidFill>
                  <a:srgbClr val="374151"/>
                </a:solidFill>
                <a:latin typeface="Calibri"/>
              </a:defRPr>
            </a:pPr>
            <a:r>
              <a:t>Investment Parameters</a:t>
            </a:r>
          </a:p>
        </p:txBody>
      </p:sp>
      <p:sp>
        <p:nvSpPr>
          <p:cNvPr id="40" name="Rounded Rectangle 39"/>
          <p:cNvSpPr/>
          <p:nvPr/>
        </p:nvSpPr>
        <p:spPr>
          <a:xfrm>
            <a:off x="3383280" y="5961888"/>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41" name="TextBox 40"/>
          <p:cNvSpPr txBox="1"/>
          <p:nvPr/>
        </p:nvSpPr>
        <p:spPr>
          <a:xfrm>
            <a:off x="4297680" y="5897880"/>
            <a:ext cx="3931920" cy="868680"/>
          </a:xfrm>
          <a:prstGeom prst="rect">
            <a:avLst/>
          </a:prstGeom>
          <a:noFill/>
        </p:spPr>
        <p:txBody>
          <a:bodyPr wrap="square">
            <a:spAutoFit/>
          </a:bodyPr>
          <a:lstStyle/>
          <a:p>
            <a:pPr algn="l">
              <a:defRPr sz="1100" b="0">
                <a:solidFill>
                  <a:srgbClr val="1A1A2E"/>
                </a:solidFill>
                <a:latin typeface="Calibri"/>
              </a:defRPr>
            </a:pPr>
            <a:r>
              <a:t>No inline validation is visible in any form screen. Users can only discover errors at submission time. The 'Next' button appears always enabled regardless of form completion state.</a:t>
            </a:r>
          </a:p>
        </p:txBody>
      </p:sp>
      <p:sp>
        <p:nvSpPr>
          <p:cNvPr id="42" name="TextBox 41"/>
          <p:cNvSpPr txBox="1"/>
          <p:nvPr/>
        </p:nvSpPr>
        <p:spPr>
          <a:xfrm>
            <a:off x="8412480" y="5897880"/>
            <a:ext cx="3291840" cy="868680"/>
          </a:xfrm>
          <a:prstGeom prst="rect">
            <a:avLst/>
          </a:prstGeom>
          <a:noFill/>
        </p:spPr>
        <p:txBody>
          <a:bodyPr wrap="square">
            <a:spAutoFit/>
          </a:bodyPr>
          <a:lstStyle/>
          <a:p>
            <a:pPr algn="l">
              <a:defRPr sz="1000" b="0">
                <a:solidFill>
                  <a:srgbClr val="6B7280"/>
                </a:solidFill>
                <a:latin typeface="Calibri"/>
              </a:defRPr>
            </a:pPr>
            <a:r>
              <a:t>Add inline validation for: minimum amount, valid currency pair combinations, tenor availability. Disable the Next button until required fields are completed. Show validation messages in real-time.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400" b="1">
                <a:solidFill>
                  <a:srgbClr val="1A1A2E"/>
                </a:solidFill>
                <a:latin typeface="Calibri"/>
              </a:defRPr>
            </a:pPr>
            <a:r>
              <a:t>Findings (5/5)</a:t>
            </a:r>
          </a:p>
        </p:txBody>
      </p:sp>
      <p:sp>
        <p:nvSpPr>
          <p:cNvPr id="3" name="TextBox 2"/>
          <p:cNvSpPr txBox="1"/>
          <p:nvPr/>
        </p:nvSpPr>
        <p:spPr>
          <a:xfrm>
            <a:off x="731520" y="1097280"/>
            <a:ext cx="457200" cy="365760"/>
          </a:xfrm>
          <a:prstGeom prst="rect">
            <a:avLst/>
          </a:prstGeom>
          <a:noFill/>
        </p:spPr>
        <p:txBody>
          <a:bodyPr wrap="square">
            <a:spAutoFit/>
          </a:bodyPr>
          <a:lstStyle/>
          <a:p>
            <a:pPr algn="l">
              <a:defRPr sz="900" b="1">
                <a:solidFill>
                  <a:srgbClr val="6B7280"/>
                </a:solidFill>
                <a:latin typeface="Calibri"/>
              </a:defRPr>
            </a:pPr>
            <a:r>
              <a:t>#</a:t>
            </a:r>
          </a:p>
        </p:txBody>
      </p:sp>
      <p:sp>
        <p:nvSpPr>
          <p:cNvPr id="4" name="TextBox 3"/>
          <p:cNvSpPr txBox="1"/>
          <p:nvPr/>
        </p:nvSpPr>
        <p:spPr>
          <a:xfrm>
            <a:off x="1188720" y="1097280"/>
            <a:ext cx="2011680" cy="365760"/>
          </a:xfrm>
          <a:prstGeom prst="rect">
            <a:avLst/>
          </a:prstGeom>
          <a:noFill/>
        </p:spPr>
        <p:txBody>
          <a:bodyPr wrap="square">
            <a:spAutoFit/>
          </a:bodyPr>
          <a:lstStyle/>
          <a:p>
            <a:pPr algn="l">
              <a:defRPr sz="900" b="1">
                <a:solidFill>
                  <a:srgbClr val="6B7280"/>
                </a:solidFill>
                <a:latin typeface="Calibri"/>
              </a:defRPr>
            </a:pPr>
            <a:r>
              <a:t>Screen</a:t>
            </a:r>
          </a:p>
        </p:txBody>
      </p:sp>
      <p:sp>
        <p:nvSpPr>
          <p:cNvPr id="5" name="TextBox 4"/>
          <p:cNvSpPr txBox="1"/>
          <p:nvPr/>
        </p:nvSpPr>
        <p:spPr>
          <a:xfrm>
            <a:off x="3200400" y="1097280"/>
            <a:ext cx="914400" cy="365760"/>
          </a:xfrm>
          <a:prstGeom prst="rect">
            <a:avLst/>
          </a:prstGeom>
          <a:noFill/>
        </p:spPr>
        <p:txBody>
          <a:bodyPr wrap="square">
            <a:spAutoFit/>
          </a:bodyPr>
          <a:lstStyle/>
          <a:p>
            <a:pPr algn="l">
              <a:defRPr sz="900" b="1">
                <a:solidFill>
                  <a:srgbClr val="6B7280"/>
                </a:solidFill>
                <a:latin typeface="Calibri"/>
              </a:defRPr>
            </a:pPr>
            <a:r>
              <a:t>Severity</a:t>
            </a:r>
          </a:p>
        </p:txBody>
      </p:sp>
      <p:sp>
        <p:nvSpPr>
          <p:cNvPr id="6" name="TextBox 5"/>
          <p:cNvSpPr txBox="1"/>
          <p:nvPr/>
        </p:nvSpPr>
        <p:spPr>
          <a:xfrm>
            <a:off x="4114800" y="1097280"/>
            <a:ext cx="4114800" cy="365760"/>
          </a:xfrm>
          <a:prstGeom prst="rect">
            <a:avLst/>
          </a:prstGeom>
          <a:noFill/>
        </p:spPr>
        <p:txBody>
          <a:bodyPr wrap="square">
            <a:spAutoFit/>
          </a:bodyPr>
          <a:lstStyle/>
          <a:p>
            <a:pPr algn="l">
              <a:defRPr sz="900" b="1">
                <a:solidFill>
                  <a:srgbClr val="6B7280"/>
                </a:solidFill>
                <a:latin typeface="Calibri"/>
              </a:defRPr>
            </a:pPr>
            <a:r>
              <a:t>Finding</a:t>
            </a:r>
          </a:p>
        </p:txBody>
      </p:sp>
      <p:sp>
        <p:nvSpPr>
          <p:cNvPr id="7" name="TextBox 6"/>
          <p:cNvSpPr txBox="1"/>
          <p:nvPr/>
        </p:nvSpPr>
        <p:spPr>
          <a:xfrm>
            <a:off x="8229600" y="1097280"/>
            <a:ext cx="3474720" cy="365760"/>
          </a:xfrm>
          <a:prstGeom prst="rect">
            <a:avLst/>
          </a:prstGeom>
          <a:noFill/>
        </p:spPr>
        <p:txBody>
          <a:bodyPr wrap="square">
            <a:spAutoFit/>
          </a:bodyPr>
          <a:lstStyle/>
          <a:p>
            <a:pPr algn="l">
              <a:defRPr sz="900" b="1">
                <a:solidFill>
                  <a:srgbClr val="6B7280"/>
                </a:solidFill>
                <a:latin typeface="Calibri"/>
              </a:defRPr>
            </a:pPr>
            <a:r>
              <a:t>Recommendation</a:t>
            </a:r>
          </a:p>
        </p:txBody>
      </p:sp>
      <p:sp>
        <p:nvSpPr>
          <p:cNvPr id="8" name="Rectangle 7"/>
          <p:cNvSpPr/>
          <p:nvPr/>
        </p:nvSpPr>
        <p:spPr>
          <a:xfrm>
            <a:off x="731520" y="1508760"/>
            <a:ext cx="73152" cy="10058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2" y="1508760"/>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00200"/>
            <a:ext cx="365760" cy="274320"/>
          </a:xfrm>
          <a:prstGeom prst="rect">
            <a:avLst/>
          </a:prstGeom>
          <a:noFill/>
        </p:spPr>
        <p:txBody>
          <a:bodyPr wrap="square">
            <a:spAutoFit/>
          </a:bodyPr>
          <a:lstStyle/>
          <a:p>
            <a:pPr algn="l">
              <a:defRPr sz="1200" b="1">
                <a:solidFill>
                  <a:srgbClr val="1A1A2E"/>
                </a:solidFill>
                <a:latin typeface="Calibri"/>
              </a:defRPr>
            </a:pPr>
            <a:r>
              <a:t>#21</a:t>
            </a:r>
          </a:p>
        </p:txBody>
      </p:sp>
      <p:sp>
        <p:nvSpPr>
          <p:cNvPr id="11" name="TextBox 10"/>
          <p:cNvSpPr txBox="1"/>
          <p:nvPr/>
        </p:nvSpPr>
        <p:spPr>
          <a:xfrm>
            <a:off x="1371600" y="1600200"/>
            <a:ext cx="1828800" cy="822960"/>
          </a:xfrm>
          <a:prstGeom prst="rect">
            <a:avLst/>
          </a:prstGeom>
          <a:noFill/>
        </p:spPr>
        <p:txBody>
          <a:bodyPr wrap="square">
            <a:spAutoFit/>
          </a:bodyPr>
          <a:lstStyle/>
          <a:p>
            <a:pPr algn="l">
              <a:defRPr sz="1000" b="0">
                <a:solidFill>
                  <a:srgbClr val="374151"/>
                </a:solidFill>
                <a:latin typeface="Calibri"/>
              </a:defRPr>
            </a:pPr>
            <a:r>
              <a:t>Investment Details (Expiring Soon)</a:t>
            </a:r>
          </a:p>
        </p:txBody>
      </p:sp>
      <p:sp>
        <p:nvSpPr>
          <p:cNvPr id="12" name="Rounded Rectangle 11"/>
          <p:cNvSpPr/>
          <p:nvPr/>
        </p:nvSpPr>
        <p:spPr>
          <a:xfrm>
            <a:off x="3383280" y="1645920"/>
            <a:ext cx="77724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LOW</a:t>
            </a:r>
          </a:p>
        </p:txBody>
      </p:sp>
      <p:sp>
        <p:nvSpPr>
          <p:cNvPr id="13" name="TextBox 12"/>
          <p:cNvSpPr txBox="1"/>
          <p:nvPr/>
        </p:nvSpPr>
        <p:spPr>
          <a:xfrm>
            <a:off x="4297680" y="1581912"/>
            <a:ext cx="3931920" cy="868680"/>
          </a:xfrm>
          <a:prstGeom prst="rect">
            <a:avLst/>
          </a:prstGeom>
          <a:noFill/>
        </p:spPr>
        <p:txBody>
          <a:bodyPr wrap="square">
            <a:spAutoFit/>
          </a:bodyPr>
          <a:lstStyle/>
          <a:p>
            <a:pPr algn="l">
              <a:defRPr sz="1100" b="0">
                <a:solidFill>
                  <a:srgbClr val="1A1A2E"/>
                </a:solidFill>
                <a:latin typeface="Calibri"/>
              </a:defRPr>
            </a:pPr>
            <a:r>
              <a:t>The 'Expiring Soon' status shows 'Fixing Rate: Determined on 10 Nov 2025 (2PM, SGT)' but provides no countdown, no notification preference, and no action the user can take. The screen is purely informational with only a 'Back' button.</a:t>
            </a:r>
          </a:p>
        </p:txBody>
      </p:sp>
      <p:sp>
        <p:nvSpPr>
          <p:cNvPr id="14" name="TextBox 13"/>
          <p:cNvSpPr txBox="1"/>
          <p:nvPr/>
        </p:nvSpPr>
        <p:spPr>
          <a:xfrm>
            <a:off x="8412480" y="1581912"/>
            <a:ext cx="3291840" cy="868680"/>
          </a:xfrm>
          <a:prstGeom prst="rect">
            <a:avLst/>
          </a:prstGeom>
          <a:noFill/>
        </p:spPr>
        <p:txBody>
          <a:bodyPr wrap="square">
            <a:spAutoFit/>
          </a:bodyPr>
          <a:lstStyle/>
          <a:p>
            <a:pPr algn="l">
              <a:defRPr sz="1000" b="0">
                <a:solidFill>
                  <a:srgbClr val="6B7280"/>
                </a:solidFill>
                <a:latin typeface="Calibri"/>
              </a:defRPr>
            </a:pPr>
            <a:r>
              <a:t>Add: (1) a countdown to fixing date, (2) 'Set a reminder' option, (3) explanation of what happens after fixing. Consider showing the live spot rate vs strike price so users can estimate their likely outcome.</a:t>
            </a:r>
          </a:p>
        </p:txBody>
      </p:sp>
      <p:sp>
        <p:nvSpPr>
          <p:cNvPr id="15" name="Rectangle 14"/>
          <p:cNvSpPr/>
          <p:nvPr/>
        </p:nvSpPr>
        <p:spPr>
          <a:xfrm>
            <a:off x="731520" y="2587752"/>
            <a:ext cx="73152" cy="10058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4672" y="2587752"/>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2679192"/>
            <a:ext cx="365760" cy="274320"/>
          </a:xfrm>
          <a:prstGeom prst="rect">
            <a:avLst/>
          </a:prstGeom>
          <a:noFill/>
        </p:spPr>
        <p:txBody>
          <a:bodyPr wrap="square">
            <a:spAutoFit/>
          </a:bodyPr>
          <a:lstStyle/>
          <a:p>
            <a:pPr algn="l">
              <a:defRPr sz="1200" b="1">
                <a:solidFill>
                  <a:srgbClr val="1A1A2E"/>
                </a:solidFill>
                <a:latin typeface="Calibri"/>
              </a:defRPr>
            </a:pPr>
            <a:r>
              <a:t>#22</a:t>
            </a:r>
          </a:p>
        </p:txBody>
      </p:sp>
      <p:sp>
        <p:nvSpPr>
          <p:cNvPr id="18" name="TextBox 17"/>
          <p:cNvSpPr txBox="1"/>
          <p:nvPr/>
        </p:nvSpPr>
        <p:spPr>
          <a:xfrm>
            <a:off x="1371600" y="2679192"/>
            <a:ext cx="1828800" cy="822960"/>
          </a:xfrm>
          <a:prstGeom prst="rect">
            <a:avLst/>
          </a:prstGeom>
          <a:noFill/>
        </p:spPr>
        <p:txBody>
          <a:bodyPr wrap="square">
            <a:spAutoFit/>
          </a:bodyPr>
          <a:lstStyle/>
          <a:p>
            <a:pPr algn="l">
              <a:defRPr sz="1000" b="0">
                <a:solidFill>
                  <a:srgbClr val="374151"/>
                </a:solidFill>
                <a:latin typeface="Calibri"/>
              </a:defRPr>
            </a:pPr>
            <a:r>
              <a:t>Landing page</a:t>
            </a:r>
          </a:p>
        </p:txBody>
      </p:sp>
      <p:sp>
        <p:nvSpPr>
          <p:cNvPr id="19" name="Rounded Rectangle 18"/>
          <p:cNvSpPr/>
          <p:nvPr/>
        </p:nvSpPr>
        <p:spPr>
          <a:xfrm>
            <a:off x="3383280" y="2724912"/>
            <a:ext cx="77724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LOW</a:t>
            </a:r>
          </a:p>
        </p:txBody>
      </p:sp>
      <p:sp>
        <p:nvSpPr>
          <p:cNvPr id="20" name="TextBox 19"/>
          <p:cNvSpPr txBox="1"/>
          <p:nvPr/>
        </p:nvSpPr>
        <p:spPr>
          <a:xfrm>
            <a:off x="4297680" y="2660904"/>
            <a:ext cx="3931920" cy="868680"/>
          </a:xfrm>
          <a:prstGeom prst="rect">
            <a:avLst/>
          </a:prstGeom>
          <a:noFill/>
        </p:spPr>
        <p:txBody>
          <a:bodyPr wrap="square">
            <a:spAutoFit/>
          </a:bodyPr>
          <a:lstStyle/>
          <a:p>
            <a:pPr algn="l">
              <a:defRPr sz="1100" b="0">
                <a:solidFill>
                  <a:srgbClr val="1A1A2E"/>
                </a:solidFill>
                <a:latin typeface="Calibri"/>
              </a:defRPr>
            </a:pPr>
            <a:r>
              <a:t>The value proposition cards ('Maximise your investment returns' and 'Great for currency conversion needs') use small text and generic icons that do not visually differentiate from each other. Both look identical in weight and importance.</a:t>
            </a:r>
          </a:p>
        </p:txBody>
      </p:sp>
      <p:sp>
        <p:nvSpPr>
          <p:cNvPr id="21" name="TextBox 20"/>
          <p:cNvSpPr txBox="1"/>
          <p:nvPr/>
        </p:nvSpPr>
        <p:spPr>
          <a:xfrm>
            <a:off x="8412480" y="2660904"/>
            <a:ext cx="3291840" cy="868680"/>
          </a:xfrm>
          <a:prstGeom prst="rect">
            <a:avLst/>
          </a:prstGeom>
          <a:noFill/>
        </p:spPr>
        <p:txBody>
          <a:bodyPr wrap="square">
            <a:spAutoFit/>
          </a:bodyPr>
          <a:lstStyle/>
          <a:p>
            <a:pPr algn="l">
              <a:defRPr sz="1000" b="0">
                <a:solidFill>
                  <a:srgbClr val="6B7280"/>
                </a:solidFill>
                <a:latin typeface="Calibri"/>
              </a:defRPr>
            </a:pPr>
            <a:r>
              <a:t>Use distinct, illustrative icons for each value prop. Increase heading font size. Consider adding a short 'How it works' visual (3-step diagram) that shows the DCI lifecycle: Invest → Wait for Expiry → Receive Settlement.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400" b="1">
                <a:solidFill>
                  <a:srgbClr val="1A1A2E"/>
                </a:solidFill>
                <a:latin typeface="Calibri"/>
              </a:defRPr>
            </a:pPr>
            <a:r>
              <a:t>Day 1 Add Delete Users 3</a:t>
            </a:r>
          </a:p>
        </p:txBody>
      </p:sp>
      <p:pic>
        <p:nvPicPr>
          <p:cNvPr id="3" name="Picture 2" descr="day-1-add-delete-users-3-annotated.png"/>
          <p:cNvPicPr>
            <a:picLocks noChangeAspect="1"/>
          </p:cNvPicPr>
          <p:nvPr/>
        </p:nvPicPr>
        <p:blipFill>
          <a:blip r:embed="rId2"/>
          <a:stretch>
            <a:fillRect/>
          </a:stretch>
        </p:blipFill>
        <p:spPr>
          <a:xfrm>
            <a:off x="274320" y="914400"/>
            <a:ext cx="3964531" cy="5669280"/>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2</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DC2626"/>
                </a:solidFill>
                <a:latin typeface="Calibri"/>
              </a:defRPr>
            </a:pPr>
            <a:r>
              <a:t>[CRITICAL] No explicit risk warning or risk acknowledgment anywhere in the investment placement flow (Steps 1-4). The only risk information is buried in an FAQ accordion on the landing page. Users can commit $200,000 USD without ever being shown that they may receive a different currency at maturity.</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Add a dedicated risk disclosure panel on the Review screen (before Submit) with: (1) explicit statement 'You may receive the Alternate Currency if the fixing rate is below the strike price at expiry', (2) a mandatory risk acknowledgment checkbox, (3) link to Key Fact Sheet/term sheet.</a:t>
            </a:r>
          </a:p>
        </p:txBody>
      </p:sp>
      <p:sp>
        <p:nvSpPr>
          <p:cNvPr id="8" name="Oval 7"/>
          <p:cNvSpPr/>
          <p:nvPr/>
        </p:nvSpPr>
        <p:spPr>
          <a:xfrm>
            <a:off x="7498079" y="2057400"/>
            <a:ext cx="201168" cy="201168"/>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3</a:t>
            </a:r>
          </a:p>
        </p:txBody>
      </p:sp>
      <p:sp>
        <p:nvSpPr>
          <p:cNvPr id="9" name="TextBox 8"/>
          <p:cNvSpPr txBox="1"/>
          <p:nvPr/>
        </p:nvSpPr>
        <p:spPr>
          <a:xfrm>
            <a:off x="7772399" y="2011680"/>
            <a:ext cx="4114800" cy="201168"/>
          </a:xfrm>
          <a:prstGeom prst="rect">
            <a:avLst/>
          </a:prstGeom>
          <a:noFill/>
        </p:spPr>
        <p:txBody>
          <a:bodyPr wrap="square">
            <a:spAutoFit/>
          </a:bodyPr>
          <a:lstStyle/>
          <a:p>
            <a:pPr algn="l">
              <a:defRPr sz="900" b="0">
                <a:solidFill>
                  <a:srgbClr val="DC2626"/>
                </a:solidFill>
                <a:latin typeface="Calibri"/>
              </a:defRPr>
            </a:pPr>
            <a:r>
              <a:t>[CRITICAL] Scenario B (Alternate Currency settlement) does not show the equivalent value in the base currency. User sees '257,000.00 SGD' but cannot tell if this represents a gain or loss compared to their 200,000 USD investment. The actual USD-equivalent loss is hidden.</a:t>
            </a:r>
          </a:p>
        </p:txBody>
      </p:sp>
      <p:sp>
        <p:nvSpPr>
          <p:cNvPr id="10" name="TextBox 9"/>
          <p:cNvSpPr txBox="1"/>
          <p:nvPr/>
        </p:nvSpPr>
        <p:spPr>
          <a:xfrm>
            <a:off x="7772399" y="2212848"/>
            <a:ext cx="4114800" cy="365760"/>
          </a:xfrm>
          <a:prstGeom prst="rect">
            <a:avLst/>
          </a:prstGeom>
          <a:noFill/>
        </p:spPr>
        <p:txBody>
          <a:bodyPr wrap="square">
            <a:spAutoFit/>
          </a:bodyPr>
          <a:lstStyle/>
          <a:p>
            <a:pPr algn="l">
              <a:defRPr sz="800" b="0">
                <a:solidFill>
                  <a:srgbClr val="6B7280"/>
                </a:solidFill>
                <a:latin typeface="Calibri"/>
              </a:defRPr>
            </a:pPr>
            <a:r>
              <a:t>→ Add a line to Scenario B showing the base-currency equivalent: 'Equivalent to ~196,923 USD (based on current spot rate)' with red text if it represents a loss. Also add a clear label: 'This scenario means you receive SGD instead of your original USD.'</a:t>
            </a:r>
          </a:p>
        </p:txBody>
      </p:sp>
      <p:sp>
        <p:nvSpPr>
          <p:cNvPr id="11" name="Oval 10"/>
          <p:cNvSpPr/>
          <p:nvPr/>
        </p:nvSpPr>
        <p:spPr>
          <a:xfrm>
            <a:off x="7498079" y="269748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8</a:t>
            </a:r>
          </a:p>
        </p:txBody>
      </p:sp>
      <p:sp>
        <p:nvSpPr>
          <p:cNvPr id="12" name="TextBox 11"/>
          <p:cNvSpPr txBox="1"/>
          <p:nvPr/>
        </p:nvSpPr>
        <p:spPr>
          <a:xfrm>
            <a:off x="7772399" y="2651760"/>
            <a:ext cx="4114800" cy="201168"/>
          </a:xfrm>
          <a:prstGeom prst="rect">
            <a:avLst/>
          </a:prstGeom>
          <a:noFill/>
        </p:spPr>
        <p:txBody>
          <a:bodyPr wrap="square">
            <a:spAutoFit/>
          </a:bodyPr>
          <a:lstStyle/>
          <a:p>
            <a:pPr algn="l">
              <a:defRPr sz="900" b="0">
                <a:solidFill>
                  <a:srgbClr val="EA580C"/>
                </a:solidFill>
                <a:latin typeface="Calibri"/>
              </a:defRPr>
            </a:pPr>
            <a:r>
              <a:t>[HIGH] Yield is displayed as '6.50% p.a.' (per annum) on a 1-month investment, but the actual return for the period is only ~0.54%. No clarification is provided. The annualized figure is visually prominent (large, bold) while no actual-period return is shown.</a:t>
            </a:r>
          </a:p>
        </p:txBody>
      </p:sp>
      <p:sp>
        <p:nvSpPr>
          <p:cNvPr id="13" name="TextBox 12"/>
          <p:cNvSpPr txBox="1"/>
          <p:nvPr/>
        </p:nvSpPr>
        <p:spPr>
          <a:xfrm>
            <a:off x="7772399" y="2852928"/>
            <a:ext cx="4114800" cy="365760"/>
          </a:xfrm>
          <a:prstGeom prst="rect">
            <a:avLst/>
          </a:prstGeom>
          <a:noFill/>
        </p:spPr>
        <p:txBody>
          <a:bodyPr wrap="square">
            <a:spAutoFit/>
          </a:bodyPr>
          <a:lstStyle/>
          <a:p>
            <a:pPr algn="l">
              <a:defRPr sz="800" b="0">
                <a:solidFill>
                  <a:srgbClr val="6B7280"/>
                </a:solidFill>
                <a:latin typeface="Calibri"/>
              </a:defRPr>
            </a:pPr>
            <a:r>
              <a:t>→ Show both values: '6.50% p.a. (~0.54% for 1 month)'. Add a tooltip or info icon explaining 'Annual yield is prorated for your selected tenor. Your estimated return for this period is $1,083.33 USD.'</a:t>
            </a:r>
          </a:p>
        </p:txBody>
      </p:sp>
      <p:sp>
        <p:nvSpPr>
          <p:cNvPr id="14" name="Oval 13"/>
          <p:cNvSpPr/>
          <p:nvPr/>
        </p:nvSpPr>
        <p:spPr>
          <a:xfrm>
            <a:off x="7498079" y="333756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10</a:t>
            </a:r>
          </a:p>
        </p:txBody>
      </p:sp>
      <p:sp>
        <p:nvSpPr>
          <p:cNvPr id="15" name="TextBox 14"/>
          <p:cNvSpPr txBox="1"/>
          <p:nvPr/>
        </p:nvSpPr>
        <p:spPr>
          <a:xfrm>
            <a:off x="7772399" y="3291840"/>
            <a:ext cx="4114800" cy="201168"/>
          </a:xfrm>
          <a:prstGeom prst="rect">
            <a:avLst/>
          </a:prstGeom>
          <a:noFill/>
        </p:spPr>
        <p:txBody>
          <a:bodyPr wrap="square">
            <a:spAutoFit/>
          </a:bodyPr>
          <a:lstStyle/>
          <a:p>
            <a:pPr algn="l">
              <a:defRPr sz="900" b="0">
                <a:solidFill>
                  <a:srgbClr val="EA580C"/>
                </a:solidFill>
                <a:latin typeface="Calibri"/>
              </a:defRPr>
            </a:pPr>
            <a:r>
              <a:t>[HIGH] Strike price selection offers 5 options (e.g., 1.2830 to 1.2870) with '% from spot' and 'indicative yield' but no explanation of what strike price means or how to choose. A novice sees radio buttons with decimal numbers and percentages with zero guidance.</a:t>
            </a:r>
          </a:p>
        </p:txBody>
      </p:sp>
      <p:sp>
        <p:nvSpPr>
          <p:cNvPr id="16" name="TextBox 15"/>
          <p:cNvSpPr txBox="1"/>
          <p:nvPr/>
        </p:nvSpPr>
        <p:spPr>
          <a:xfrm>
            <a:off x="7772399" y="3493008"/>
            <a:ext cx="4114800" cy="365760"/>
          </a:xfrm>
          <a:prstGeom prst="rect">
            <a:avLst/>
          </a:prstGeom>
          <a:noFill/>
        </p:spPr>
        <p:txBody>
          <a:bodyPr wrap="square">
            <a:spAutoFit/>
          </a:bodyPr>
          <a:lstStyle/>
          <a:p>
            <a:pPr algn="l">
              <a:defRPr sz="800" b="0">
                <a:solidFill>
                  <a:srgbClr val="6B7280"/>
                </a:solidFill>
                <a:latin typeface="Calibri"/>
              </a:defRPr>
            </a:pPr>
            <a:r>
              <a:t>→ Add: (1) An info icon with tooltip explaining 'Strike price is the exchange rate that determines which currency you receive. Higher strike = higher yield but higher chance of receiving the alternate currency.' (2) A visual indicator showing spot rate position relative to strike options. (3) Label the trade-off: 'Higher yield ↔ Higher conversion risk'.</a:t>
            </a:r>
          </a:p>
        </p:txBody>
      </p:sp>
      <p:sp>
        <p:nvSpPr>
          <p:cNvPr id="17" name="Oval 16"/>
          <p:cNvSpPr/>
          <p:nvPr/>
        </p:nvSpPr>
        <p:spPr>
          <a:xfrm>
            <a:off x="7498079" y="397764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9</a:t>
            </a:r>
          </a:p>
        </p:txBody>
      </p:sp>
      <p:sp>
        <p:nvSpPr>
          <p:cNvPr id="18" name="TextBox 17"/>
          <p:cNvSpPr txBox="1"/>
          <p:nvPr/>
        </p:nvSpPr>
        <p:spPr>
          <a:xfrm>
            <a:off x="7772399" y="3931920"/>
            <a:ext cx="4114800" cy="201168"/>
          </a:xfrm>
          <a:prstGeom prst="rect">
            <a:avLst/>
          </a:prstGeom>
          <a:noFill/>
        </p:spPr>
        <p:txBody>
          <a:bodyPr wrap="square">
            <a:spAutoFit/>
          </a:bodyPr>
          <a:lstStyle/>
          <a:p>
            <a:pPr algn="l">
              <a:defRPr sz="900" b="0">
                <a:solidFill>
                  <a:srgbClr val="EA580C"/>
                </a:solidFill>
                <a:latin typeface="Calibri"/>
              </a:defRPr>
            </a:pPr>
            <a:r>
              <a:t>[HIGH] No step indicator or progress bar in the multi-step DCI placement flow (Parameters → Accounts → Review → Confirmation). User has no idea how many steps remain or where they are in the process.</a:t>
            </a:r>
          </a:p>
        </p:txBody>
      </p:sp>
      <p:sp>
        <p:nvSpPr>
          <p:cNvPr id="19" name="TextBox 18"/>
          <p:cNvSpPr txBox="1"/>
          <p:nvPr/>
        </p:nvSpPr>
        <p:spPr>
          <a:xfrm>
            <a:off x="7772399" y="4133088"/>
            <a:ext cx="4114800" cy="365760"/>
          </a:xfrm>
          <a:prstGeom prst="rect">
            <a:avLst/>
          </a:prstGeom>
          <a:noFill/>
        </p:spPr>
        <p:txBody>
          <a:bodyPr wrap="square">
            <a:spAutoFit/>
          </a:bodyPr>
          <a:lstStyle/>
          <a:p>
            <a:pPr algn="l">
              <a:defRPr sz="800" b="0">
                <a:solidFill>
                  <a:srgbClr val="6B7280"/>
                </a:solidFill>
                <a:latin typeface="Calibri"/>
              </a:defRPr>
            </a:pPr>
            <a:r>
              <a:t>→ Add a horizontal stepper/progress indicator at the top of each step: 'Step 1 of 4: Investment Parameters → Step 2: Account Selection → Step 3: Review → Step 4: Confirmation'.</a:t>
            </a:r>
          </a:p>
        </p:txBody>
      </p:sp>
      <p:sp>
        <p:nvSpPr>
          <p:cNvPr id="20" name="Oval 19"/>
          <p:cNvSpPr/>
          <p:nvPr/>
        </p:nvSpPr>
        <p:spPr>
          <a:xfrm>
            <a:off x="7498079" y="461772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11</a:t>
            </a:r>
          </a:p>
        </p:txBody>
      </p:sp>
      <p:sp>
        <p:nvSpPr>
          <p:cNvPr id="21" name="TextBox 20"/>
          <p:cNvSpPr txBox="1"/>
          <p:nvPr/>
        </p:nvSpPr>
        <p:spPr>
          <a:xfrm>
            <a:off x="7772399" y="4572000"/>
            <a:ext cx="4114800" cy="201168"/>
          </a:xfrm>
          <a:prstGeom prst="rect">
            <a:avLst/>
          </a:prstGeom>
          <a:noFill/>
        </p:spPr>
        <p:txBody>
          <a:bodyPr wrap="square">
            <a:spAutoFit/>
          </a:bodyPr>
          <a:lstStyle/>
          <a:p>
            <a:pPr algn="l">
              <a:defRPr sz="900" b="0">
                <a:solidFill>
                  <a:srgbClr val="CA8A04"/>
                </a:solidFill>
                <a:latin typeface="Calibri"/>
              </a:defRPr>
            </a:pPr>
            <a:r>
              <a:t>[MEDIUM] Currency defaults to 'NIL' with no flag icon instead of a sensible default based on the user's account currencies. The 'Base Currency' and 'Alternate Currency' dropdowns show generic labels with no explanation of which is deposit vs. settlement currency.</a:t>
            </a:r>
          </a:p>
        </p:txBody>
      </p:sp>
      <p:sp>
        <p:nvSpPr>
          <p:cNvPr id="22" name="TextBox 21"/>
          <p:cNvSpPr txBox="1"/>
          <p:nvPr/>
        </p:nvSpPr>
        <p:spPr>
          <a:xfrm>
            <a:off x="7772399" y="4773168"/>
            <a:ext cx="4114800" cy="365760"/>
          </a:xfrm>
          <a:prstGeom prst="rect">
            <a:avLst/>
          </a:prstGeom>
          <a:noFill/>
        </p:spPr>
        <p:txBody>
          <a:bodyPr wrap="square">
            <a:spAutoFit/>
          </a:bodyPr>
          <a:lstStyle/>
          <a:p>
            <a:pPr algn="l">
              <a:defRPr sz="800" b="0">
                <a:solidFill>
                  <a:srgbClr val="6B7280"/>
                </a:solidFill>
                <a:latin typeface="Calibri"/>
              </a:defRPr>
            </a:pPr>
            <a:r>
              <a:t>→ Default to the user's primary account currency (e.g., USD). Add helper text under the currency pair: 'Base Currency = the currency you deposit. Alternate Currency = the currency you may receive at maturity.'</a:t>
            </a:r>
          </a:p>
        </p:txBody>
      </p:sp>
      <p:sp>
        <p:nvSpPr>
          <p:cNvPr id="23" name="Oval 22"/>
          <p:cNvSpPr/>
          <p:nvPr/>
        </p:nvSpPr>
        <p:spPr>
          <a:xfrm>
            <a:off x="7498079" y="525780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18</a:t>
            </a:r>
          </a:p>
        </p:txBody>
      </p:sp>
      <p:sp>
        <p:nvSpPr>
          <p:cNvPr id="24" name="TextBox 23"/>
          <p:cNvSpPr txBox="1"/>
          <p:nvPr/>
        </p:nvSpPr>
        <p:spPr>
          <a:xfrm>
            <a:off x="7772399" y="5212080"/>
            <a:ext cx="4114800" cy="201168"/>
          </a:xfrm>
          <a:prstGeom prst="rect">
            <a:avLst/>
          </a:prstGeom>
          <a:noFill/>
        </p:spPr>
        <p:txBody>
          <a:bodyPr wrap="square">
            <a:spAutoFit/>
          </a:bodyPr>
          <a:lstStyle/>
          <a:p>
            <a:pPr algn="l">
              <a:defRPr sz="900" b="0">
                <a:solidFill>
                  <a:srgbClr val="CA8A04"/>
                </a:solidFill>
                <a:latin typeface="Calibri"/>
              </a:defRPr>
            </a:pPr>
            <a:r>
              <a:t>[MEDIUM] The 4 key DCI dates (Transaction, Value, Expiry, Maturity) use different labels across screens. The FAQ uses 'Trade Date' while the product flow uses 'Transaction Date'. The Investment Timeline explains each date but the explanation only appears in the parameters step, not on the investment details screen.</a:t>
            </a:r>
          </a:p>
        </p:txBody>
      </p:sp>
      <p:sp>
        <p:nvSpPr>
          <p:cNvPr id="25" name="TextBox 24"/>
          <p:cNvSpPr txBox="1"/>
          <p:nvPr/>
        </p:nvSpPr>
        <p:spPr>
          <a:xfrm>
            <a:off x="7772399" y="5413248"/>
            <a:ext cx="4114800" cy="365760"/>
          </a:xfrm>
          <a:prstGeom prst="rect">
            <a:avLst/>
          </a:prstGeom>
          <a:noFill/>
        </p:spPr>
        <p:txBody>
          <a:bodyPr wrap="square">
            <a:spAutoFit/>
          </a:bodyPr>
          <a:lstStyle/>
          <a:p>
            <a:pPr algn="l">
              <a:defRPr sz="800" b="0">
                <a:solidFill>
                  <a:srgbClr val="6B7280"/>
                </a:solidFill>
                <a:latin typeface="Calibri"/>
              </a:defRPr>
            </a:pPr>
            <a:r>
              <a:t>→ Standardise date labels across all screens and FAQs. Include the Investment Timeline explanation on the Investment Details screen as well, not just during placement.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400" b="1">
                <a:solidFill>
                  <a:srgbClr val="1A1A2E"/>
                </a:solidFill>
                <a:latin typeface="Calibri"/>
              </a:defRPr>
            </a:pPr>
            <a:r>
              <a:t>Overseas Confirmation Maker Collapsed</a:t>
            </a:r>
          </a:p>
        </p:txBody>
      </p:sp>
      <p:pic>
        <p:nvPicPr>
          <p:cNvPr id="3" name="Picture 2" descr="overseas-confirmation-maker-collapsed-annotated.png"/>
          <p:cNvPicPr>
            <a:picLocks noChangeAspect="1"/>
          </p:cNvPicPr>
          <p:nvPr/>
        </p:nvPicPr>
        <p:blipFill>
          <a:blip r:embed="rId2"/>
          <a:stretch>
            <a:fillRect/>
          </a:stretch>
        </p:blipFill>
        <p:spPr>
          <a:xfrm>
            <a:off x="274320" y="914400"/>
            <a:ext cx="6858000" cy="5040630"/>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19</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CA8A04"/>
                </a:solidFill>
                <a:latin typeface="Calibri"/>
              </a:defRPr>
            </a:pPr>
            <a:r>
              <a:t>[MEDIUM] The confirmation screen shows only 'Place Another Investment' as the next action. There is no link to 'View My Portfolio', 'View Investment Details', or 'Return to Dashboard'. The user is stranded after placing a $200,000 investment.</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Add secondary actions: 'View Investment Details' (link to the new investment) and 'Go to Portfolio' (link back to the landing page). Keep 'Place Another Investment' as the secondary CTA.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400" b="1">
                <a:solidFill>
                  <a:srgbClr val="1A1A2E"/>
                </a:solidFill>
                <a:latin typeface="Calibri"/>
              </a:defRPr>
            </a:pPr>
            <a:r>
              <a:t>Reinvest Step 1 Strike Price Not Met</a:t>
            </a:r>
          </a:p>
        </p:txBody>
      </p:sp>
      <p:pic>
        <p:nvPicPr>
          <p:cNvPr id="3" name="Picture 2" descr="reinvest-step-1-strike-price-not-met-annotated.png"/>
          <p:cNvPicPr>
            <a:picLocks noChangeAspect="1"/>
          </p:cNvPicPr>
          <p:nvPr/>
        </p:nvPicPr>
        <p:blipFill>
          <a:blip r:embed="rId2"/>
          <a:stretch>
            <a:fillRect/>
          </a:stretch>
        </p:blipFill>
        <p:spPr>
          <a:xfrm>
            <a:off x="274320" y="914400"/>
            <a:ext cx="3964531" cy="5669280"/>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6</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EA580C"/>
                </a:solidFill>
                <a:latin typeface="Calibri"/>
              </a:defRPr>
            </a:pPr>
            <a:r>
              <a:t>[HIGH] After 'Strike Price Not Met' settlement (user received SGD instead of USD), the reinvestment flow silently swaps the currency pair from USD/SGD to SGD/EUR with no explanation. The investment amount changes from USD to SGD. User may not understand why the base currency changed.</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Add an explanatory banner at the top of the reinvest screen: 'Your previous investment settled in SGD (Alternate Currency). You are now reinvesting your SGD proceeds.' Offer an option to convert back to the original base currency before reinvesting.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400" b="1">
                <a:solidFill>
                  <a:srgbClr val="1A1A2E"/>
                </a:solidFill>
                <a:latin typeface="Calibri"/>
              </a:defRPr>
            </a:pPr>
            <a:r>
              <a:t>Renew Landing Uploaded File 3</a:t>
            </a:r>
          </a:p>
        </p:txBody>
      </p:sp>
      <p:pic>
        <p:nvPicPr>
          <p:cNvPr id="3" name="Picture 2" descr="renew-landing-uploaded-file-3-annotated.png"/>
          <p:cNvPicPr>
            <a:picLocks noChangeAspect="1"/>
          </p:cNvPicPr>
          <p:nvPr/>
        </p:nvPicPr>
        <p:blipFill>
          <a:blip r:embed="rId2"/>
          <a:stretch>
            <a:fillRect/>
          </a:stretch>
        </p:blipFill>
        <p:spPr>
          <a:xfrm>
            <a:off x="274320" y="914400"/>
            <a:ext cx="4087808" cy="5669280"/>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7</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EA580C"/>
                </a:solidFill>
                <a:latin typeface="Calibri"/>
              </a:defRPr>
            </a:pPr>
            <a:r>
              <a:t>[HIGH] Three different navigation bar configurations appear across the DCI flow: (A) 'FX and Investment' during placement, (B) 'Trade finance' on the MCA prerequisite screen with different casing, (C) 'FX and Treasury' on investment detail screens. Users cannot form a consistent mental model of where they are.</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Standardise on one navigation label (recommend 'FX and Investment') across ALL DCI-related screens. Ensure consistent casing and active-state styling.</a:t>
            </a:r>
          </a:p>
        </p:txBody>
      </p:sp>
      <p:sp>
        <p:nvSpPr>
          <p:cNvPr id="8" name="Oval 7"/>
          <p:cNvSpPr/>
          <p:nvPr/>
        </p:nvSpPr>
        <p:spPr>
          <a:xfrm>
            <a:off x="7498079" y="205740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13</a:t>
            </a:r>
          </a:p>
        </p:txBody>
      </p:sp>
      <p:sp>
        <p:nvSpPr>
          <p:cNvPr id="9" name="TextBox 8"/>
          <p:cNvSpPr txBox="1"/>
          <p:nvPr/>
        </p:nvSpPr>
        <p:spPr>
          <a:xfrm>
            <a:off x="7772399" y="2011680"/>
            <a:ext cx="4114800" cy="201168"/>
          </a:xfrm>
          <a:prstGeom prst="rect">
            <a:avLst/>
          </a:prstGeom>
          <a:noFill/>
        </p:spPr>
        <p:txBody>
          <a:bodyPr wrap="square">
            <a:spAutoFit/>
          </a:bodyPr>
          <a:lstStyle/>
          <a:p>
            <a:pPr algn="l">
              <a:defRPr sz="900" b="0">
                <a:solidFill>
                  <a:srgbClr val="CA8A04"/>
                </a:solidFill>
                <a:latin typeface="Calibri"/>
              </a:defRPr>
            </a:pPr>
            <a:r>
              <a:t>[MEDIUM] Green is overloaded across 6 different semantic meanings: active investment status, positive yield values, success checkmark, base currency scenario badge, strike price met indicator, and yield percentages. Users cannot quickly scan for meaning when the same colour means different things.</a:t>
            </a:r>
          </a:p>
        </p:txBody>
      </p:sp>
      <p:sp>
        <p:nvSpPr>
          <p:cNvPr id="10" name="TextBox 9"/>
          <p:cNvSpPr txBox="1"/>
          <p:nvPr/>
        </p:nvSpPr>
        <p:spPr>
          <a:xfrm>
            <a:off x="7772399" y="2212848"/>
            <a:ext cx="4114800" cy="365760"/>
          </a:xfrm>
          <a:prstGeom prst="rect">
            <a:avLst/>
          </a:prstGeom>
          <a:noFill/>
        </p:spPr>
        <p:txBody>
          <a:bodyPr wrap="square">
            <a:spAutoFit/>
          </a:bodyPr>
          <a:lstStyle/>
          <a:p>
            <a:pPr algn="l">
              <a:defRPr sz="800" b="0">
                <a:solidFill>
                  <a:srgbClr val="6B7280"/>
                </a:solidFill>
                <a:latin typeface="Calibri"/>
              </a:defRPr>
            </a:pPr>
            <a:r>
              <a:t>→ Differentiate semantic uses: keep green for success/positive only. Use blue for informational status (Active), use a distinct colour (e.g., teal) for base currency scenarios, and use a neutral colour for yield percentages.</a:t>
            </a:r>
          </a:p>
        </p:txBody>
      </p:sp>
      <p:sp>
        <p:nvSpPr>
          <p:cNvPr id="11" name="Oval 10"/>
          <p:cNvSpPr/>
          <p:nvPr/>
        </p:nvSpPr>
        <p:spPr>
          <a:xfrm>
            <a:off x="7498079" y="269748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17</a:t>
            </a:r>
          </a:p>
        </p:txBody>
      </p:sp>
      <p:sp>
        <p:nvSpPr>
          <p:cNvPr id="12" name="TextBox 11"/>
          <p:cNvSpPr txBox="1"/>
          <p:nvPr/>
        </p:nvSpPr>
        <p:spPr>
          <a:xfrm>
            <a:off x="7772399" y="2651760"/>
            <a:ext cx="4114800" cy="201168"/>
          </a:xfrm>
          <a:prstGeom prst="rect">
            <a:avLst/>
          </a:prstGeom>
          <a:noFill/>
        </p:spPr>
        <p:txBody>
          <a:bodyPr wrap="square">
            <a:spAutoFit/>
          </a:bodyPr>
          <a:lstStyle/>
          <a:p>
            <a:pPr algn="l">
              <a:defRPr sz="900" b="0">
                <a:solidFill>
                  <a:srgbClr val="CA8A04"/>
                </a:solidFill>
                <a:latin typeface="Calibri"/>
              </a:defRPr>
            </a:pPr>
            <a:r>
              <a:t>[MEDIUM] Status badges are inconsistent: 'Active' uses text-only styling, 'Expiring Soon' uses amber text, 'Awaiting Settlement' uses a pill badge with background colour. No unified design language for investment statuses.</a:t>
            </a:r>
          </a:p>
        </p:txBody>
      </p:sp>
      <p:sp>
        <p:nvSpPr>
          <p:cNvPr id="13" name="TextBox 12"/>
          <p:cNvSpPr txBox="1"/>
          <p:nvPr/>
        </p:nvSpPr>
        <p:spPr>
          <a:xfrm>
            <a:off x="7772399" y="2852928"/>
            <a:ext cx="4114800" cy="365760"/>
          </a:xfrm>
          <a:prstGeom prst="rect">
            <a:avLst/>
          </a:prstGeom>
          <a:noFill/>
        </p:spPr>
        <p:txBody>
          <a:bodyPr wrap="square">
            <a:spAutoFit/>
          </a:bodyPr>
          <a:lstStyle/>
          <a:p>
            <a:pPr algn="l">
              <a:defRPr sz="800" b="0">
                <a:solidFill>
                  <a:srgbClr val="6B7280"/>
                </a:solidFill>
                <a:latin typeface="Calibri"/>
              </a:defRPr>
            </a:pPr>
            <a:r>
              <a:t>→ Standardise all statuses as pill badges with consistent sizing: Active (green), Expiring Soon (amber), Awaiting Settlement (blue), Settled (gray). Use the same component for all.</a:t>
            </a:r>
          </a:p>
        </p:txBody>
      </p:sp>
      <p:sp>
        <p:nvSpPr>
          <p:cNvPr id="14" name="Oval 13"/>
          <p:cNvSpPr/>
          <p:nvPr/>
        </p:nvSpPr>
        <p:spPr>
          <a:xfrm>
            <a:off x="7498079" y="3337560"/>
            <a:ext cx="201168" cy="201168"/>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22</a:t>
            </a:r>
          </a:p>
        </p:txBody>
      </p:sp>
      <p:sp>
        <p:nvSpPr>
          <p:cNvPr id="15" name="TextBox 14"/>
          <p:cNvSpPr txBox="1"/>
          <p:nvPr/>
        </p:nvSpPr>
        <p:spPr>
          <a:xfrm>
            <a:off x="7772399" y="3291840"/>
            <a:ext cx="4114800" cy="201168"/>
          </a:xfrm>
          <a:prstGeom prst="rect">
            <a:avLst/>
          </a:prstGeom>
          <a:noFill/>
        </p:spPr>
        <p:txBody>
          <a:bodyPr wrap="square">
            <a:spAutoFit/>
          </a:bodyPr>
          <a:lstStyle/>
          <a:p>
            <a:pPr algn="l">
              <a:defRPr sz="900" b="0">
                <a:solidFill>
                  <a:srgbClr val="16A34A"/>
                </a:solidFill>
                <a:latin typeface="Calibri"/>
              </a:defRPr>
            </a:pPr>
            <a:r>
              <a:t>[LOW] The value proposition cards ('Maximise your investment returns' and 'Great for currency conversion needs') use small text and generic icons that do not visually differentiate from each other. Both look identical in weight and importance.</a:t>
            </a:r>
          </a:p>
        </p:txBody>
      </p:sp>
      <p:sp>
        <p:nvSpPr>
          <p:cNvPr id="16" name="TextBox 15"/>
          <p:cNvSpPr txBox="1"/>
          <p:nvPr/>
        </p:nvSpPr>
        <p:spPr>
          <a:xfrm>
            <a:off x="7772399" y="3493008"/>
            <a:ext cx="4114800" cy="365760"/>
          </a:xfrm>
          <a:prstGeom prst="rect">
            <a:avLst/>
          </a:prstGeom>
          <a:noFill/>
        </p:spPr>
        <p:txBody>
          <a:bodyPr wrap="square">
            <a:spAutoFit/>
          </a:bodyPr>
          <a:lstStyle/>
          <a:p>
            <a:pPr algn="l">
              <a:defRPr sz="800" b="0">
                <a:solidFill>
                  <a:srgbClr val="6B7280"/>
                </a:solidFill>
                <a:latin typeface="Calibri"/>
              </a:defRPr>
            </a:pPr>
            <a:r>
              <a:t>→ Use distinct, illustrative icons for each value prop. Increase heading font size. Consider adding a short 'How it works' visual (3-step diagram) that shows the DCI lifecycle: Invest → Wait for Expiry → Receive Settlement.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400" b="1">
                <a:solidFill>
                  <a:srgbClr val="1A1A2E"/>
                </a:solidFill>
                <a:latin typeface="Calibri"/>
              </a:defRPr>
            </a:pPr>
            <a:r>
              <a:t>Review</a:t>
            </a:r>
          </a:p>
        </p:txBody>
      </p:sp>
      <p:pic>
        <p:nvPicPr>
          <p:cNvPr id="3" name="Picture 2" descr="review-annotated.png"/>
          <p:cNvPicPr>
            <a:picLocks noChangeAspect="1"/>
          </p:cNvPicPr>
          <p:nvPr/>
        </p:nvPicPr>
        <p:blipFill>
          <a:blip r:embed="rId2"/>
          <a:stretch>
            <a:fillRect/>
          </a:stretch>
        </p:blipFill>
        <p:spPr>
          <a:xfrm>
            <a:off x="274320" y="914400"/>
            <a:ext cx="3864869" cy="5669280"/>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2</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DC2626"/>
                </a:solidFill>
                <a:latin typeface="Calibri"/>
              </a:defRPr>
            </a:pPr>
            <a:r>
              <a:t>[CRITICAL] No explicit risk warning or risk acknowledgment anywhere in the investment placement flow (Steps 1-4). The only risk information is buried in an FAQ accordion on the landing page. Users can commit $200,000 USD without ever being shown that they may receive a different currency at maturity.</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Add a dedicated risk disclosure panel on the Review screen (before Submit) with: (1) explicit statement 'You may receive the Alternate Currency if the fixing rate is below the strike price at expiry', (2) a mandatory risk acknowledgment checkbox, (3) link to Key Fact Sheet/term sheet.</a:t>
            </a:r>
          </a:p>
        </p:txBody>
      </p:sp>
      <p:sp>
        <p:nvSpPr>
          <p:cNvPr id="8" name="Oval 7"/>
          <p:cNvSpPr/>
          <p:nvPr/>
        </p:nvSpPr>
        <p:spPr>
          <a:xfrm>
            <a:off x="7498079" y="2057400"/>
            <a:ext cx="201168" cy="201168"/>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4</a:t>
            </a:r>
          </a:p>
        </p:txBody>
      </p:sp>
      <p:sp>
        <p:nvSpPr>
          <p:cNvPr id="9" name="TextBox 8"/>
          <p:cNvSpPr txBox="1"/>
          <p:nvPr/>
        </p:nvSpPr>
        <p:spPr>
          <a:xfrm>
            <a:off x="7772399" y="2011680"/>
            <a:ext cx="4114800" cy="201168"/>
          </a:xfrm>
          <a:prstGeom prst="rect">
            <a:avLst/>
          </a:prstGeom>
          <a:noFill/>
        </p:spPr>
        <p:txBody>
          <a:bodyPr wrap="square">
            <a:spAutoFit/>
          </a:bodyPr>
          <a:lstStyle/>
          <a:p>
            <a:pPr algn="l">
              <a:defRPr sz="900" b="0">
                <a:solidFill>
                  <a:srgbClr val="DC2626"/>
                </a:solidFill>
                <a:latin typeface="Calibri"/>
              </a:defRPr>
            </a:pPr>
            <a:r>
              <a:t>[CRITICAL] 9 distinct WCAG AA contrast failures identified: helper/description text (~2.8:1), 'Expiring Soon' badge (~3.0:1), table column headers (~2.8:1), 'indicative yield'/'from spot' labels (~2.8:1), form placeholders (~2.3:1), footer text (~2.8:1), timestamp text (~2.3:1), 'Alternate Currency' badge (~4.0:1). Required: 4.5:1 for normal text.</a:t>
            </a:r>
          </a:p>
        </p:txBody>
      </p:sp>
      <p:sp>
        <p:nvSpPr>
          <p:cNvPr id="10" name="TextBox 9"/>
          <p:cNvSpPr txBox="1"/>
          <p:nvPr/>
        </p:nvSpPr>
        <p:spPr>
          <a:xfrm>
            <a:off x="7772399" y="2212848"/>
            <a:ext cx="4114800" cy="365760"/>
          </a:xfrm>
          <a:prstGeom prst="rect">
            <a:avLst/>
          </a:prstGeom>
          <a:noFill/>
        </p:spPr>
        <p:txBody>
          <a:bodyPr wrap="square">
            <a:spAutoFit/>
          </a:bodyPr>
          <a:lstStyle/>
          <a:p>
            <a:pPr algn="l">
              <a:defRPr sz="800" b="0">
                <a:solidFill>
                  <a:srgbClr val="6B7280"/>
                </a:solidFill>
                <a:latin typeface="Calibri"/>
              </a:defRPr>
            </a:pPr>
            <a:r>
              <a:t>→ Increase all secondary text to minimum #595959 on white backgrounds (4.5:1). Status badges should use darker background colors or larger text. Conduct a full color audit using a contrast checker tool.</a:t>
            </a:r>
          </a:p>
        </p:txBody>
      </p:sp>
      <p:sp>
        <p:nvSpPr>
          <p:cNvPr id="11" name="Oval 10"/>
          <p:cNvSpPr/>
          <p:nvPr/>
        </p:nvSpPr>
        <p:spPr>
          <a:xfrm>
            <a:off x="7498079" y="269748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16</a:t>
            </a:r>
          </a:p>
        </p:txBody>
      </p:sp>
      <p:sp>
        <p:nvSpPr>
          <p:cNvPr id="12" name="TextBox 11"/>
          <p:cNvSpPr txBox="1"/>
          <p:nvPr/>
        </p:nvSpPr>
        <p:spPr>
          <a:xfrm>
            <a:off x="7772399" y="2651760"/>
            <a:ext cx="4114800" cy="201168"/>
          </a:xfrm>
          <a:prstGeom prst="rect">
            <a:avLst/>
          </a:prstGeom>
          <a:noFill/>
        </p:spPr>
        <p:txBody>
          <a:bodyPr wrap="square">
            <a:spAutoFit/>
          </a:bodyPr>
          <a:lstStyle/>
          <a:p>
            <a:pPr algn="l">
              <a:defRPr sz="900" b="0">
                <a:solidFill>
                  <a:srgbClr val="CA8A04"/>
                </a:solidFill>
                <a:latin typeface="Calibri"/>
              </a:defRPr>
            </a:pPr>
            <a:r>
              <a:t>[MEDIUM] The 'REVIEW' label is positioned in the far-left margin, visually disconnected from the main content. Combined with no step indicator, the user's current position in the flow is unclear. The label does not follow the same visual pattern as other page titles.</a:t>
            </a:r>
          </a:p>
        </p:txBody>
      </p:sp>
      <p:sp>
        <p:nvSpPr>
          <p:cNvPr id="13" name="TextBox 12"/>
          <p:cNvSpPr txBox="1"/>
          <p:nvPr/>
        </p:nvSpPr>
        <p:spPr>
          <a:xfrm>
            <a:off x="7772399" y="2852928"/>
            <a:ext cx="4114800" cy="365760"/>
          </a:xfrm>
          <a:prstGeom prst="rect">
            <a:avLst/>
          </a:prstGeom>
          <a:noFill/>
        </p:spPr>
        <p:txBody>
          <a:bodyPr wrap="square">
            <a:spAutoFit/>
          </a:bodyPr>
          <a:lstStyle/>
          <a:p>
            <a:pPr algn="l">
              <a:defRPr sz="800" b="0">
                <a:solidFill>
                  <a:srgbClr val="6B7280"/>
                </a:solidFill>
                <a:latin typeface="Calibri"/>
              </a:defRPr>
            </a:pPr>
            <a:r>
              <a:t>→ Replace with a proper step indicator showing 'Step 3 of 4: Review Your Investment'. Position as a page heading within the main content area.</a:t>
            </a:r>
          </a:p>
        </p:txBody>
      </p:sp>
      <p:sp>
        <p:nvSpPr>
          <p:cNvPr id="14" name="Oval 13"/>
          <p:cNvSpPr/>
          <p:nvPr/>
        </p:nvSpPr>
        <p:spPr>
          <a:xfrm>
            <a:off x="7498079" y="333756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20</a:t>
            </a:r>
          </a:p>
        </p:txBody>
      </p:sp>
      <p:sp>
        <p:nvSpPr>
          <p:cNvPr id="15" name="TextBox 14"/>
          <p:cNvSpPr txBox="1"/>
          <p:nvPr/>
        </p:nvSpPr>
        <p:spPr>
          <a:xfrm>
            <a:off x="7772399" y="3291840"/>
            <a:ext cx="4114800" cy="201168"/>
          </a:xfrm>
          <a:prstGeom prst="rect">
            <a:avLst/>
          </a:prstGeom>
          <a:noFill/>
        </p:spPr>
        <p:txBody>
          <a:bodyPr wrap="square">
            <a:spAutoFit/>
          </a:bodyPr>
          <a:lstStyle/>
          <a:p>
            <a:pPr algn="l">
              <a:defRPr sz="900" b="0">
                <a:solidFill>
                  <a:srgbClr val="CA8A04"/>
                </a:solidFill>
                <a:latin typeface="Calibri"/>
              </a:defRPr>
            </a:pPr>
            <a:r>
              <a:t>[MEDIUM] No inline validation is visible in any form screen. Users can only discover errors at submission time. The 'Next' button appears always enabled regardless of form completion state.</a:t>
            </a:r>
          </a:p>
        </p:txBody>
      </p:sp>
      <p:sp>
        <p:nvSpPr>
          <p:cNvPr id="16" name="TextBox 15"/>
          <p:cNvSpPr txBox="1"/>
          <p:nvPr/>
        </p:nvSpPr>
        <p:spPr>
          <a:xfrm>
            <a:off x="7772399" y="3493008"/>
            <a:ext cx="4114800" cy="365760"/>
          </a:xfrm>
          <a:prstGeom prst="rect">
            <a:avLst/>
          </a:prstGeom>
          <a:noFill/>
        </p:spPr>
        <p:txBody>
          <a:bodyPr wrap="square">
            <a:spAutoFit/>
          </a:bodyPr>
          <a:lstStyle/>
          <a:p>
            <a:pPr algn="l">
              <a:defRPr sz="800" b="0">
                <a:solidFill>
                  <a:srgbClr val="6B7280"/>
                </a:solidFill>
                <a:latin typeface="Calibri"/>
              </a:defRPr>
            </a:pPr>
            <a:r>
              <a:t>→ Add inline validation for: minimum amount, valid currency pair combinations, tenor availability. Disable the Next button until required fields are completed. Show validation messages in real-time.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400" b="1">
                <a:solidFill>
                  <a:srgbClr val="1A1A2E"/>
                </a:solidFill>
                <a:latin typeface="Calibri"/>
              </a:defRPr>
            </a:pPr>
            <a:r>
              <a:t>T C</a:t>
            </a:r>
          </a:p>
        </p:txBody>
      </p:sp>
      <p:pic>
        <p:nvPicPr>
          <p:cNvPr id="3" name="Picture 2" descr="t-c-annotated.png"/>
          <p:cNvPicPr>
            <a:picLocks noChangeAspect="1"/>
          </p:cNvPicPr>
          <p:nvPr/>
        </p:nvPicPr>
        <p:blipFill>
          <a:blip r:embed="rId2"/>
          <a:stretch>
            <a:fillRect/>
          </a:stretch>
        </p:blipFill>
        <p:spPr>
          <a:xfrm>
            <a:off x="274320" y="914400"/>
            <a:ext cx="6858000" cy="4560570"/>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DC2626"/>
                </a:solidFill>
                <a:latin typeface="Calibri"/>
              </a:defRPr>
            </a:pPr>
            <a:r>
              <a:t>[CRITICAL] Terms &amp; Conditions modal contains Lorem Ipsum placeholder text. Users are asked to click 'Agree' to accept nonsensical Latin text for a regulated financial product.</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Replace Lorem Ipsum with actual DCI Terms and Conditions covering: product risks, settlement mechanics, early termination policy, regulatory disclaimers, and dispute resolution.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2286000"/>
            <a:ext cx="10515600" cy="914400"/>
          </a:xfrm>
          <a:prstGeom prst="rect">
            <a:avLst/>
          </a:prstGeom>
          <a:noFill/>
        </p:spPr>
        <p:txBody>
          <a:bodyPr wrap="square">
            <a:spAutoFit/>
          </a:bodyPr>
          <a:lstStyle/>
          <a:p>
            <a:pPr algn="ctr">
              <a:defRPr sz="4400" b="1">
                <a:solidFill>
                  <a:srgbClr val="FFFFFF"/>
                </a:solidFill>
                <a:latin typeface="Calibri"/>
              </a:defRPr>
            </a:pPr>
            <a:r>
              <a:t>Thank You</a:t>
            </a:r>
          </a:p>
        </p:txBody>
      </p:sp>
      <p:sp>
        <p:nvSpPr>
          <p:cNvPr id="3" name="TextBox 2"/>
          <p:cNvSpPr txBox="1"/>
          <p:nvPr/>
        </p:nvSpPr>
        <p:spPr>
          <a:xfrm>
            <a:off x="731520" y="3291840"/>
            <a:ext cx="10515600" cy="457200"/>
          </a:xfrm>
          <a:prstGeom prst="rect">
            <a:avLst/>
          </a:prstGeom>
          <a:noFill/>
        </p:spPr>
        <p:txBody>
          <a:bodyPr wrap="square">
            <a:spAutoFit/>
          </a:bodyPr>
          <a:lstStyle/>
          <a:p>
            <a:pPr algn="ctr">
              <a:defRPr sz="1400" b="0">
                <a:solidFill>
                  <a:srgbClr val="94A3B8"/>
                </a:solidFill>
                <a:latin typeface="Calibri"/>
              </a:defRPr>
            </a:pPr>
            <a:r>
              <a:t>Generated by UX Audit Skill  ·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